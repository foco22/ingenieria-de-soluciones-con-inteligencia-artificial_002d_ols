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303" r:id="rId4"/>
    <p:sldId id="295" r:id="rId5"/>
    <p:sldId id="279" r:id="rId6"/>
    <p:sldId id="296" r:id="rId7"/>
    <p:sldId id="297" r:id="rId8"/>
    <p:sldId id="298" r:id="rId9"/>
    <p:sldId id="299" r:id="rId10"/>
    <p:sldId id="300" r:id="rId11"/>
    <p:sldId id="301" r:id="rId12"/>
    <p:sldId id="302" r:id="rId13"/>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3173" autoAdjust="0"/>
  </p:normalViewPr>
  <p:slideViewPr>
    <p:cSldViewPr snapToGrid="0">
      <p:cViewPr varScale="1">
        <p:scale>
          <a:sx n="65" d="100"/>
          <a:sy n="65" d="100"/>
        </p:scale>
        <p:origin x="7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26-04-2026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9A131-DAAB-B76B-982D-FD3DAE7EC6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B39A09-D6FB-245D-1F77-A27D17ABBE25}"/>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54BE8C17-73C6-9732-DA2D-22B8EEDC7AD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E0FE5CCD-80DD-92BE-6729-5813F48372BD}"/>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4183020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EAFD-4343-FCD6-B55B-1DC6ADFA8B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663F13-E4FB-1728-4F5B-B4AD3446BBD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582B80E-EEE9-DD0C-FE86-EF7448CEF17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9470142-9316-8FDA-C204-1A98069595F4}"/>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412967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549D-297F-1152-8F6B-E15D69368E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66A0E0-5EE5-CCE7-B317-0EB4A49FA91E}"/>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A67EA29-F964-8A75-AAEC-42925682603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996539F-6324-268C-D82A-960A90193E55}"/>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4021472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DFE6E-E2AC-BD92-5ECD-4369979DCF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446188-B3E2-5503-189C-A19DDA8914F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385615F4-BD72-BBDC-1DCE-D289569B35DB}"/>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71A41616-2961-24C7-5BD5-1DDE37E52D8D}"/>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2681555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E0582-20E2-D2F5-A1EB-8B297D24CA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99656-6C05-3608-B91B-ADB153AC7740}"/>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47F2A41-198F-6033-47C2-5BEEC7004E6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C7F36CA-4EF3-7226-4BBD-B3E17638C141}"/>
              </a:ext>
            </a:extLst>
          </p:cNvPr>
          <p:cNvSpPr>
            <a:spLocks noGrp="1"/>
          </p:cNvSpPr>
          <p:nvPr>
            <p:ph type="sldNum" sz="quarter" idx="5"/>
          </p:nvPr>
        </p:nvSpPr>
        <p:spPr/>
        <p:txBody>
          <a:bodyPr/>
          <a:lstStyle/>
          <a:p>
            <a:fld id="{2107F482-7FF7-4DD4-AE91-ACA70D5B43D5}" type="slidenum">
              <a:rPr lang="es-CL" smtClean="0"/>
              <a:t>8</a:t>
            </a:fld>
            <a:endParaRPr lang="es-CL"/>
          </a:p>
        </p:txBody>
      </p:sp>
    </p:spTree>
    <p:extLst>
      <p:ext uri="{BB962C8B-B14F-4D97-AF65-F5344CB8AC3E}">
        <p14:creationId xmlns:p14="http://schemas.microsoft.com/office/powerpoint/2010/main" val="65844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D88E4-3BC5-FB72-D3B1-1BBD5AE65A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2EE7EC-BA4E-A7AF-B087-F1FB077EB28A}"/>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B36A7A69-ABA4-961C-1A98-FB72DA7E66D3}"/>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D554195-CC81-47AC-3B20-941B2CDFBF68}"/>
              </a:ext>
            </a:extLst>
          </p:cNvPr>
          <p:cNvSpPr>
            <a:spLocks noGrp="1"/>
          </p:cNvSpPr>
          <p:nvPr>
            <p:ph type="sldNum" sz="quarter" idx="5"/>
          </p:nvPr>
        </p:nvSpPr>
        <p:spPr/>
        <p:txBody>
          <a:bodyPr/>
          <a:lstStyle/>
          <a:p>
            <a:fld id="{2107F482-7FF7-4DD4-AE91-ACA70D5B43D5}" type="slidenum">
              <a:rPr lang="es-CL" smtClean="0"/>
              <a:t>9</a:t>
            </a:fld>
            <a:endParaRPr lang="es-CL"/>
          </a:p>
        </p:txBody>
      </p:sp>
    </p:spTree>
    <p:extLst>
      <p:ext uri="{BB962C8B-B14F-4D97-AF65-F5344CB8AC3E}">
        <p14:creationId xmlns:p14="http://schemas.microsoft.com/office/powerpoint/2010/main" val="2602589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9A79-F488-58E7-B9EC-2CF50070FA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8C1CDA-D7C2-0804-A39A-E119FE862761}"/>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E0E7EBBA-12E7-34C0-71A6-4F4DDA1705A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1F774C9-3682-217C-2EA8-D2094D17A813}"/>
              </a:ext>
            </a:extLst>
          </p:cNvPr>
          <p:cNvSpPr>
            <a:spLocks noGrp="1"/>
          </p:cNvSpPr>
          <p:nvPr>
            <p:ph type="sldNum" sz="quarter" idx="5"/>
          </p:nvPr>
        </p:nvSpPr>
        <p:spPr/>
        <p:txBody>
          <a:bodyPr/>
          <a:lstStyle/>
          <a:p>
            <a:fld id="{2107F482-7FF7-4DD4-AE91-ACA70D5B43D5}" type="slidenum">
              <a:rPr lang="es-CL" smtClean="0"/>
              <a:t>10</a:t>
            </a:fld>
            <a:endParaRPr lang="es-CL"/>
          </a:p>
        </p:txBody>
      </p:sp>
    </p:spTree>
    <p:extLst>
      <p:ext uri="{BB962C8B-B14F-4D97-AF65-F5344CB8AC3E}">
        <p14:creationId xmlns:p14="http://schemas.microsoft.com/office/powerpoint/2010/main" val="2985883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FE88E-3C24-B6E0-90C9-AC8DA4A16C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3DB453-D245-96DB-A747-D7AD3FD982FE}"/>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500E9500-75EF-37D1-778D-6149F8FA9EE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0D7240F-822B-8217-583E-12075853241A}"/>
              </a:ext>
            </a:extLst>
          </p:cNvPr>
          <p:cNvSpPr>
            <a:spLocks noGrp="1"/>
          </p:cNvSpPr>
          <p:nvPr>
            <p:ph type="sldNum" sz="quarter" idx="5"/>
          </p:nvPr>
        </p:nvSpPr>
        <p:spPr/>
        <p:txBody>
          <a:bodyPr/>
          <a:lstStyle/>
          <a:p>
            <a:fld id="{2107F482-7FF7-4DD4-AE91-ACA70D5B43D5}" type="slidenum">
              <a:rPr lang="es-CL" smtClean="0"/>
              <a:t>11</a:t>
            </a:fld>
            <a:endParaRPr lang="es-CL"/>
          </a:p>
        </p:txBody>
      </p:sp>
    </p:spTree>
    <p:extLst>
      <p:ext uri="{BB962C8B-B14F-4D97-AF65-F5344CB8AC3E}">
        <p14:creationId xmlns:p14="http://schemas.microsoft.com/office/powerpoint/2010/main" val="127762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FF12F-1781-2A08-7B02-0D0E10CC0B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E0B06A-861D-69EA-2A7E-4F154AEAEDAE}"/>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2823F115-D7EC-D815-2389-0B3DED6A884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D70FF62-3628-85B4-D7A2-90E441D73EA4}"/>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3587178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26-04-2026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9A58C3FE-B6AF-3F8A-5EF1-66F42AFB529D}"/>
              </a:ext>
            </a:extLst>
          </p:cNvPr>
          <p:cNvSpPr txBox="1">
            <a:spLocks/>
          </p:cNvSpPr>
          <p:nvPr/>
        </p:nvSpPr>
        <p:spPr>
          <a:xfrm>
            <a:off x="172225" y="6286241"/>
            <a:ext cx="9267049" cy="45411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https://ai.plainenglish.io/beyond-the-workflow-agentic-architecture-as-small-honest-programs-24e6b2facd3a</a:t>
            </a:r>
            <a:endParaRPr lang="es-CL" sz="1600" i="1" dirty="0"/>
          </a:p>
        </p:txBody>
      </p:sp>
      <p:sp>
        <p:nvSpPr>
          <p:cNvPr id="5" name="Título 1">
            <a:extLst>
              <a:ext uri="{FF2B5EF4-FFF2-40B4-BE49-F238E27FC236}">
                <a16:creationId xmlns:a16="http://schemas.microsoft.com/office/drawing/2014/main" id="{0DBD3488-3C31-6D07-D7BF-A051E1FED096}"/>
              </a:ext>
            </a:extLst>
          </p:cNvPr>
          <p:cNvSpPr txBox="1">
            <a:spLocks/>
          </p:cNvSpPr>
          <p:nvPr/>
        </p:nvSpPr>
        <p:spPr>
          <a:xfrm>
            <a:off x="620313" y="254895"/>
            <a:ext cx="102953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Noticias: </a:t>
            </a:r>
            <a:r>
              <a:rPr lang="es-MX" i="1" dirty="0" err="1"/>
              <a:t>Agentic</a:t>
            </a:r>
            <a:r>
              <a:rPr lang="es-MX" i="1" dirty="0"/>
              <a:t> </a:t>
            </a:r>
            <a:r>
              <a:rPr lang="es-MX" i="1" dirty="0" err="1"/>
              <a:t>Arquitecture</a:t>
            </a:r>
            <a:r>
              <a:rPr lang="es-MX" i="1" dirty="0"/>
              <a:t> as </a:t>
            </a:r>
            <a:r>
              <a:rPr lang="es-MX" i="1" dirty="0" err="1"/>
              <a:t>small</a:t>
            </a:r>
            <a:r>
              <a:rPr lang="es-MX" i="1" dirty="0"/>
              <a:t>, </a:t>
            </a:r>
            <a:r>
              <a:rPr lang="es-MX" i="1" dirty="0" err="1"/>
              <a:t>honest</a:t>
            </a:r>
            <a:r>
              <a:rPr lang="es-MX" i="1" dirty="0"/>
              <a:t> </a:t>
            </a:r>
            <a:r>
              <a:rPr lang="es-MX" i="1" dirty="0" err="1"/>
              <a:t>programs</a:t>
            </a:r>
            <a:r>
              <a:rPr lang="es-MX" i="1" dirty="0"/>
              <a:t>. </a:t>
            </a:r>
            <a:endParaRPr lang="es-CL" dirty="0"/>
          </a:p>
        </p:txBody>
      </p:sp>
      <p:pic>
        <p:nvPicPr>
          <p:cNvPr id="10" name="Imagen 9">
            <a:extLst>
              <a:ext uri="{FF2B5EF4-FFF2-40B4-BE49-F238E27FC236}">
                <a16:creationId xmlns:a16="http://schemas.microsoft.com/office/drawing/2014/main" id="{03DBCDF2-5C44-7962-076E-84F8F7E60EAE}"/>
              </a:ext>
            </a:extLst>
          </p:cNvPr>
          <p:cNvPicPr>
            <a:picLocks noChangeAspect="1"/>
          </p:cNvPicPr>
          <p:nvPr/>
        </p:nvPicPr>
        <p:blipFill>
          <a:blip r:embed="rId3"/>
          <a:stretch>
            <a:fillRect/>
          </a:stretch>
        </p:blipFill>
        <p:spPr>
          <a:xfrm>
            <a:off x="1638300" y="1580458"/>
            <a:ext cx="9695262" cy="4621318"/>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4C3A-70D1-A02D-4F77-DC2A1204D005}"/>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FE5A4F0F-F832-F504-4ADF-F16035729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a:extLst>
              <a:ext uri="{FF2B5EF4-FFF2-40B4-BE49-F238E27FC236}">
                <a16:creationId xmlns:a16="http://schemas.microsoft.com/office/drawing/2014/main" id="{6774BDCC-00B7-6150-5DB3-77DC253DF418}"/>
              </a:ext>
            </a:extLst>
          </p:cNvPr>
          <p:cNvSpPr txBox="1">
            <a:spLocks/>
          </p:cNvSpPr>
          <p:nvPr/>
        </p:nvSpPr>
        <p:spPr>
          <a:xfrm>
            <a:off x="5193717" y="2309658"/>
            <a:ext cx="6693484"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b="1" i="1" dirty="0"/>
              <a:t>¿Quién es el?</a:t>
            </a:r>
          </a:p>
          <a:p>
            <a:r>
              <a:rPr lang="es-CL" i="1" dirty="0" err="1"/>
              <a:t>Jawed</a:t>
            </a:r>
            <a:r>
              <a:rPr lang="es-CL" i="1" dirty="0"/>
              <a:t> Karim</a:t>
            </a:r>
            <a:r>
              <a:rPr lang="es-CL" b="1" i="1" dirty="0"/>
              <a:t>, “</a:t>
            </a:r>
            <a:r>
              <a:rPr lang="es-CL" i="1" dirty="0"/>
              <a:t>Me at </a:t>
            </a:r>
            <a:r>
              <a:rPr lang="es-CL" i="1" dirty="0" err="1"/>
              <a:t>the</a:t>
            </a:r>
            <a:r>
              <a:rPr lang="es-CL" i="1" dirty="0"/>
              <a:t> zoo”.</a:t>
            </a:r>
          </a:p>
        </p:txBody>
      </p:sp>
      <p:pic>
        <p:nvPicPr>
          <p:cNvPr id="6" name="Imagen 5">
            <a:extLst>
              <a:ext uri="{FF2B5EF4-FFF2-40B4-BE49-F238E27FC236}">
                <a16:creationId xmlns:a16="http://schemas.microsoft.com/office/drawing/2014/main" id="{1F8A8766-7F02-5190-3892-AE31A73CD117}"/>
              </a:ext>
            </a:extLst>
          </p:cNvPr>
          <p:cNvPicPr>
            <a:picLocks noChangeAspect="1"/>
          </p:cNvPicPr>
          <p:nvPr/>
        </p:nvPicPr>
        <p:blipFill>
          <a:blip r:embed="rId3"/>
          <a:stretch>
            <a:fillRect/>
          </a:stretch>
        </p:blipFill>
        <p:spPr>
          <a:xfrm>
            <a:off x="1545815" y="1246161"/>
            <a:ext cx="3184624" cy="4522481"/>
          </a:xfrm>
          <a:prstGeom prst="rect">
            <a:avLst/>
          </a:prstGeom>
        </p:spPr>
      </p:pic>
    </p:spTree>
    <p:extLst>
      <p:ext uri="{BB962C8B-B14F-4D97-AF65-F5344CB8AC3E}">
        <p14:creationId xmlns:p14="http://schemas.microsoft.com/office/powerpoint/2010/main" val="652469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7BB4E-812F-A1F1-A23F-3D337CEF5989}"/>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241A7BD-8163-A7BE-3765-35778427D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D42E68D-7BF1-456B-5D20-237231B4D38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6C6C22CA-4F45-582D-E6BD-F81A251A7DF1}"/>
              </a:ext>
            </a:extLst>
          </p:cNvPr>
          <p:cNvSpPr>
            <a:spLocks noGrp="1"/>
          </p:cNvSpPr>
          <p:nvPr>
            <p:ph type="title"/>
          </p:nvPr>
        </p:nvSpPr>
        <p:spPr>
          <a:xfrm>
            <a:off x="498255" y="343719"/>
            <a:ext cx="10515600" cy="1325563"/>
          </a:xfrm>
        </p:spPr>
        <p:txBody>
          <a:bodyPr/>
          <a:lstStyle/>
          <a:p>
            <a:r>
              <a:rPr lang="es-MX" b="1" i="1" dirty="0"/>
              <a:t>Multi – </a:t>
            </a:r>
            <a:r>
              <a:rPr lang="es-MX" b="1" i="1" dirty="0" err="1"/>
              <a:t>Agents</a:t>
            </a:r>
            <a:r>
              <a:rPr lang="es-MX" b="1" i="1" dirty="0"/>
              <a:t> </a:t>
            </a:r>
            <a:r>
              <a:rPr lang="es-MX" b="1" i="1" dirty="0" err="1"/>
              <a:t>system</a:t>
            </a:r>
            <a:r>
              <a:rPr lang="es-MX" b="1" i="1" dirty="0"/>
              <a:t>: </a:t>
            </a:r>
            <a:r>
              <a:rPr lang="es-MX" i="1" dirty="0"/>
              <a:t>Cuando lo simple no es suficiente.</a:t>
            </a:r>
            <a:endParaRPr lang="es-CL" dirty="0"/>
          </a:p>
        </p:txBody>
      </p:sp>
      <p:pic>
        <p:nvPicPr>
          <p:cNvPr id="9" name="Imagen 8">
            <a:extLst>
              <a:ext uri="{FF2B5EF4-FFF2-40B4-BE49-F238E27FC236}">
                <a16:creationId xmlns:a16="http://schemas.microsoft.com/office/drawing/2014/main" id="{BCFAAFDE-9A00-20AB-D05D-ECB39AA91455}"/>
              </a:ext>
            </a:extLst>
          </p:cNvPr>
          <p:cNvPicPr>
            <a:picLocks noChangeAspect="1"/>
          </p:cNvPicPr>
          <p:nvPr/>
        </p:nvPicPr>
        <p:blipFill>
          <a:blip r:embed="rId4"/>
          <a:stretch>
            <a:fillRect/>
          </a:stretch>
        </p:blipFill>
        <p:spPr>
          <a:xfrm>
            <a:off x="704850" y="1768366"/>
            <a:ext cx="5645440" cy="4235668"/>
          </a:xfrm>
          <a:prstGeom prst="rect">
            <a:avLst/>
          </a:prstGeom>
        </p:spPr>
      </p:pic>
      <p:sp>
        <p:nvSpPr>
          <p:cNvPr id="11" name="CuadroTexto 10">
            <a:extLst>
              <a:ext uri="{FF2B5EF4-FFF2-40B4-BE49-F238E27FC236}">
                <a16:creationId xmlns:a16="http://schemas.microsoft.com/office/drawing/2014/main" id="{8C4E6BC1-EACA-2CA4-B504-F84CF3E31639}"/>
              </a:ext>
            </a:extLst>
          </p:cNvPr>
          <p:cNvSpPr txBox="1"/>
          <p:nvPr/>
        </p:nvSpPr>
        <p:spPr>
          <a:xfrm>
            <a:off x="6272213" y="2379613"/>
            <a:ext cx="5214937" cy="2308324"/>
          </a:xfrm>
          <a:prstGeom prst="rect">
            <a:avLst/>
          </a:prstGeom>
          <a:noFill/>
        </p:spPr>
        <p:txBody>
          <a:bodyPr wrap="square">
            <a:spAutoFit/>
          </a:bodyPr>
          <a:lstStyle/>
          <a:p>
            <a:pPr algn="ctr"/>
            <a:r>
              <a:rPr lang="en-US" sz="1600" b="0" i="1" dirty="0">
                <a:solidFill>
                  <a:srgbClr val="030710"/>
                </a:solidFill>
                <a:effectLst/>
                <a:latin typeface="Twklausanne"/>
              </a:rPr>
              <a:t>“In 2025, the models out there are extremely intelligent. But even the smartest human won’t be able to do their job effectively without the context of what they’re being asked to do. “Prompt engineering” was coined as a term for the effort needing to write your task in the ideal format for a LLM chatbot. “Context engineering” is the next level of this. It is about doing this automatically in a dynamic system. It takes more nuance and is effectively the #1 job of engineers building AI agents.”</a:t>
            </a:r>
            <a:endParaRPr lang="es-CL" sz="1600" i="1" dirty="0"/>
          </a:p>
        </p:txBody>
      </p:sp>
    </p:spTree>
    <p:extLst>
      <p:ext uri="{BB962C8B-B14F-4D97-AF65-F5344CB8AC3E}">
        <p14:creationId xmlns:p14="http://schemas.microsoft.com/office/powerpoint/2010/main" val="3292206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1BF0-E2F9-34FA-7A0F-0C7B3857CCA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777F897-719B-7D9F-4FFF-0B218F781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490BC28-B51F-37B1-27B9-4213CA8141E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4A6A0F-EF7D-E949-EAFC-621DB189CA08}"/>
              </a:ext>
            </a:extLst>
          </p:cNvPr>
          <p:cNvSpPr>
            <a:spLocks noGrp="1"/>
          </p:cNvSpPr>
          <p:nvPr>
            <p:ph type="title"/>
          </p:nvPr>
        </p:nvSpPr>
        <p:spPr>
          <a:xfrm>
            <a:off x="498255" y="343719"/>
            <a:ext cx="10515600" cy="1325563"/>
          </a:xfrm>
        </p:spPr>
        <p:txBody>
          <a:bodyPr/>
          <a:lstStyle/>
          <a:p>
            <a:r>
              <a:rPr lang="es-MX" b="1" i="1" dirty="0"/>
              <a:t>Multi – </a:t>
            </a:r>
            <a:r>
              <a:rPr lang="es-MX" b="1" i="1" dirty="0" err="1"/>
              <a:t>Agents</a:t>
            </a:r>
            <a:r>
              <a:rPr lang="es-MX" b="1" i="1" dirty="0"/>
              <a:t> </a:t>
            </a:r>
            <a:r>
              <a:rPr lang="es-MX" b="1" i="1" dirty="0" err="1"/>
              <a:t>system</a:t>
            </a:r>
            <a:r>
              <a:rPr lang="es-MX" b="1" i="1" dirty="0"/>
              <a:t>: </a:t>
            </a:r>
            <a:r>
              <a:rPr lang="es-MX" i="1" dirty="0"/>
              <a:t>4 patrones para mirar.</a:t>
            </a:r>
            <a:endParaRPr lang="es-CL" i="1" dirty="0"/>
          </a:p>
        </p:txBody>
      </p:sp>
      <p:pic>
        <p:nvPicPr>
          <p:cNvPr id="13" name="Imagen 12">
            <a:extLst>
              <a:ext uri="{FF2B5EF4-FFF2-40B4-BE49-F238E27FC236}">
                <a16:creationId xmlns:a16="http://schemas.microsoft.com/office/drawing/2014/main" id="{988BFD62-2E9F-66E8-C5CB-22B563EA7EB5}"/>
              </a:ext>
            </a:extLst>
          </p:cNvPr>
          <p:cNvPicPr>
            <a:picLocks noChangeAspect="1"/>
          </p:cNvPicPr>
          <p:nvPr/>
        </p:nvPicPr>
        <p:blipFill>
          <a:blip r:embed="rId4"/>
          <a:stretch>
            <a:fillRect/>
          </a:stretch>
        </p:blipFill>
        <p:spPr>
          <a:xfrm>
            <a:off x="1825476" y="1609650"/>
            <a:ext cx="8723420" cy="4553433"/>
          </a:xfrm>
          <a:prstGeom prst="rect">
            <a:avLst/>
          </a:prstGeom>
        </p:spPr>
      </p:pic>
      <p:sp>
        <p:nvSpPr>
          <p:cNvPr id="14" name="Título 1">
            <a:extLst>
              <a:ext uri="{FF2B5EF4-FFF2-40B4-BE49-F238E27FC236}">
                <a16:creationId xmlns:a16="http://schemas.microsoft.com/office/drawing/2014/main" id="{9F6F9BD5-166A-CE35-A119-37D4AE222589}"/>
              </a:ext>
            </a:extLst>
          </p:cNvPr>
          <p:cNvSpPr txBox="1">
            <a:spLocks/>
          </p:cNvSpPr>
          <p:nvPr/>
        </p:nvSpPr>
        <p:spPr>
          <a:xfrm>
            <a:off x="-1256525" y="6346853"/>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spTree>
    <p:extLst>
      <p:ext uri="{BB962C8B-B14F-4D97-AF65-F5344CB8AC3E}">
        <p14:creationId xmlns:p14="http://schemas.microsoft.com/office/powerpoint/2010/main" val="2509128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9A79-7594-1904-6226-92BB8C98C258}"/>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8E739550-BBB6-B374-5724-86A61257A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8AB2BD4-2ACE-0AC0-F98A-FB219C8F13ED}"/>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A8C1102C-753A-0450-BBFD-580780C564AF}"/>
              </a:ext>
            </a:extLst>
          </p:cNvPr>
          <p:cNvSpPr>
            <a:spLocks noGrp="1"/>
          </p:cNvSpPr>
          <p:nvPr>
            <p:ph type="title"/>
          </p:nvPr>
        </p:nvSpPr>
        <p:spPr>
          <a:xfrm>
            <a:off x="498255" y="343719"/>
            <a:ext cx="10515600" cy="1325563"/>
          </a:xfrm>
        </p:spPr>
        <p:txBody>
          <a:bodyPr/>
          <a:lstStyle/>
          <a:p>
            <a:r>
              <a:rPr lang="es-MX" b="1" i="1" dirty="0" err="1"/>
              <a:t>SubAgents</a:t>
            </a:r>
            <a:r>
              <a:rPr lang="es-MX" b="1" i="1" dirty="0"/>
              <a:t>: </a:t>
            </a:r>
            <a:r>
              <a:rPr lang="es-MX" i="1" dirty="0"/>
              <a:t>Orquestación centralizada.</a:t>
            </a:r>
            <a:endParaRPr lang="es-CL" i="1" dirty="0"/>
          </a:p>
        </p:txBody>
      </p:sp>
      <p:sp>
        <p:nvSpPr>
          <p:cNvPr id="14" name="Título 1">
            <a:extLst>
              <a:ext uri="{FF2B5EF4-FFF2-40B4-BE49-F238E27FC236}">
                <a16:creationId xmlns:a16="http://schemas.microsoft.com/office/drawing/2014/main" id="{D9646BB5-3494-72FC-E4D7-4ECB5A2C67F7}"/>
              </a:ext>
            </a:extLst>
          </p:cNvPr>
          <p:cNvSpPr txBox="1">
            <a:spLocks/>
          </p:cNvSpPr>
          <p:nvPr/>
        </p:nvSpPr>
        <p:spPr>
          <a:xfrm>
            <a:off x="-1256525" y="6346853"/>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sp>
        <p:nvSpPr>
          <p:cNvPr id="3" name="Título 1">
            <a:extLst>
              <a:ext uri="{FF2B5EF4-FFF2-40B4-BE49-F238E27FC236}">
                <a16:creationId xmlns:a16="http://schemas.microsoft.com/office/drawing/2014/main" id="{E5AFC745-DD12-100C-A5E9-2BAB49E3EB41}"/>
              </a:ext>
            </a:extLst>
          </p:cNvPr>
          <p:cNvSpPr txBox="1">
            <a:spLocks/>
          </p:cNvSpPr>
          <p:nvPr/>
        </p:nvSpPr>
        <p:spPr>
          <a:xfrm>
            <a:off x="869729" y="1728914"/>
            <a:ext cx="314982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¿Cómo funcionan?:</a:t>
            </a:r>
          </a:p>
          <a:p>
            <a:endParaRPr lang="es-MX" dirty="0"/>
          </a:p>
          <a:p>
            <a:r>
              <a:rPr lang="es-MX" sz="6400" dirty="0"/>
              <a:t>El agente principal decide que subagente invocar, que información proporcional y como combinar los resultados. El agente principal puede invocar a múltiples agentes en paralelo.</a:t>
            </a:r>
            <a:endParaRPr lang="es-CL" sz="6400" dirty="0"/>
          </a:p>
          <a:p>
            <a:endParaRPr lang="es-CL" dirty="0"/>
          </a:p>
        </p:txBody>
      </p:sp>
      <p:sp>
        <p:nvSpPr>
          <p:cNvPr id="6" name="Título 1">
            <a:extLst>
              <a:ext uri="{FF2B5EF4-FFF2-40B4-BE49-F238E27FC236}">
                <a16:creationId xmlns:a16="http://schemas.microsoft.com/office/drawing/2014/main" id="{032CC372-925A-6B02-72DC-F7EE1603E58C}"/>
              </a:ext>
            </a:extLst>
          </p:cNvPr>
          <p:cNvSpPr txBox="1">
            <a:spLocks/>
          </p:cNvSpPr>
          <p:nvPr/>
        </p:nvSpPr>
        <p:spPr>
          <a:xfrm>
            <a:off x="869729" y="3285654"/>
            <a:ext cx="314982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Ideal:</a:t>
            </a:r>
          </a:p>
          <a:p>
            <a:endParaRPr lang="es-MX" dirty="0"/>
          </a:p>
          <a:p>
            <a:r>
              <a:rPr lang="es-MX" sz="6400" dirty="0"/>
              <a:t>Aplicaciones con múltiples dominios distintos donde se necesita un control centralizado del flujo de trabajo y los subagentes no necesitan conversar directamente con los usuarios.</a:t>
            </a:r>
            <a:endParaRPr lang="es-CL" sz="6400" dirty="0"/>
          </a:p>
          <a:p>
            <a:endParaRPr lang="es-CL" dirty="0"/>
          </a:p>
        </p:txBody>
      </p:sp>
      <p:sp>
        <p:nvSpPr>
          <p:cNvPr id="8" name="Título 1">
            <a:extLst>
              <a:ext uri="{FF2B5EF4-FFF2-40B4-BE49-F238E27FC236}">
                <a16:creationId xmlns:a16="http://schemas.microsoft.com/office/drawing/2014/main" id="{1D2F7C44-B12E-5CCB-53C5-8D23000E951D}"/>
              </a:ext>
            </a:extLst>
          </p:cNvPr>
          <p:cNvSpPr txBox="1">
            <a:spLocks/>
          </p:cNvSpPr>
          <p:nvPr/>
        </p:nvSpPr>
        <p:spPr>
          <a:xfrm>
            <a:off x="869729" y="4790113"/>
            <a:ext cx="3149821" cy="1325563"/>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900" b="1" i="1" dirty="0"/>
              <a:t>¿</a:t>
            </a:r>
            <a:r>
              <a:rPr lang="es-MX" sz="2900" b="1" i="1" dirty="0" err="1"/>
              <a:t>Trade</a:t>
            </a:r>
            <a:r>
              <a:rPr lang="es-MX" sz="2900" b="1" i="1" dirty="0"/>
              <a:t>-off?:</a:t>
            </a:r>
          </a:p>
          <a:p>
            <a:endParaRPr lang="es-MX" dirty="0"/>
          </a:p>
          <a:p>
            <a:r>
              <a:rPr lang="es-MX" sz="2900" dirty="0"/>
              <a:t>Añade una llamada al modelo adicional por interacción, ya que los resultados deben volver a pasar por el agente principal. </a:t>
            </a:r>
            <a:endParaRPr lang="es-CL" sz="2900" dirty="0"/>
          </a:p>
        </p:txBody>
      </p:sp>
      <p:pic>
        <p:nvPicPr>
          <p:cNvPr id="12" name="Imagen 11">
            <a:extLst>
              <a:ext uri="{FF2B5EF4-FFF2-40B4-BE49-F238E27FC236}">
                <a16:creationId xmlns:a16="http://schemas.microsoft.com/office/drawing/2014/main" id="{6CE4A054-7B4E-1A8A-0780-8FDC3738222F}"/>
              </a:ext>
            </a:extLst>
          </p:cNvPr>
          <p:cNvPicPr>
            <a:picLocks noChangeAspect="1"/>
          </p:cNvPicPr>
          <p:nvPr/>
        </p:nvPicPr>
        <p:blipFill>
          <a:blip r:embed="rId4"/>
          <a:stretch>
            <a:fillRect/>
          </a:stretch>
        </p:blipFill>
        <p:spPr>
          <a:xfrm>
            <a:off x="4677841" y="1728914"/>
            <a:ext cx="6458072" cy="4243261"/>
          </a:xfrm>
          <a:prstGeom prst="rect">
            <a:avLst/>
          </a:prstGeom>
        </p:spPr>
      </p:pic>
    </p:spTree>
    <p:extLst>
      <p:ext uri="{BB962C8B-B14F-4D97-AF65-F5344CB8AC3E}">
        <p14:creationId xmlns:p14="http://schemas.microsoft.com/office/powerpoint/2010/main" val="1713790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944C-6CC8-7D96-42B5-EDCFD486CF78}"/>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7344B9FF-76D3-AEB8-39AC-75080BC19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2A8EFD0B-3237-DA43-39F9-C8D767B58F35}"/>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C292BBF4-10A0-9B6F-E2B1-99EF9FD257D3}"/>
              </a:ext>
            </a:extLst>
          </p:cNvPr>
          <p:cNvSpPr>
            <a:spLocks noGrp="1"/>
          </p:cNvSpPr>
          <p:nvPr>
            <p:ph type="title"/>
          </p:nvPr>
        </p:nvSpPr>
        <p:spPr>
          <a:xfrm>
            <a:off x="498255" y="343719"/>
            <a:ext cx="10515600" cy="1325563"/>
          </a:xfrm>
        </p:spPr>
        <p:txBody>
          <a:bodyPr/>
          <a:lstStyle/>
          <a:p>
            <a:r>
              <a:rPr lang="es-MX" b="1" i="1" dirty="0" err="1"/>
              <a:t>Skills</a:t>
            </a:r>
            <a:r>
              <a:rPr lang="es-MX" b="1" i="1" dirty="0"/>
              <a:t>: </a:t>
            </a:r>
            <a:r>
              <a:rPr lang="es-MX" i="1" dirty="0"/>
              <a:t>Divulgación progresiva.</a:t>
            </a:r>
            <a:endParaRPr lang="es-CL" i="1" dirty="0"/>
          </a:p>
        </p:txBody>
      </p:sp>
      <p:sp>
        <p:nvSpPr>
          <p:cNvPr id="14" name="Título 1">
            <a:extLst>
              <a:ext uri="{FF2B5EF4-FFF2-40B4-BE49-F238E27FC236}">
                <a16:creationId xmlns:a16="http://schemas.microsoft.com/office/drawing/2014/main" id="{BFFB7EFA-5824-B320-99BE-6339D67DE422}"/>
              </a:ext>
            </a:extLst>
          </p:cNvPr>
          <p:cNvSpPr txBox="1">
            <a:spLocks/>
          </p:cNvSpPr>
          <p:nvPr/>
        </p:nvSpPr>
        <p:spPr>
          <a:xfrm>
            <a:off x="-1256525" y="6346853"/>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sp>
        <p:nvSpPr>
          <p:cNvPr id="3" name="Título 1">
            <a:extLst>
              <a:ext uri="{FF2B5EF4-FFF2-40B4-BE49-F238E27FC236}">
                <a16:creationId xmlns:a16="http://schemas.microsoft.com/office/drawing/2014/main" id="{316497D7-C639-2090-A6BD-217233591233}"/>
              </a:ext>
            </a:extLst>
          </p:cNvPr>
          <p:cNvSpPr txBox="1">
            <a:spLocks/>
          </p:cNvSpPr>
          <p:nvPr/>
        </p:nvSpPr>
        <p:spPr>
          <a:xfrm>
            <a:off x="867548" y="1609650"/>
            <a:ext cx="374037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¿Cómo funcionan?:</a:t>
            </a:r>
          </a:p>
          <a:p>
            <a:endParaRPr lang="es-MX" dirty="0"/>
          </a:p>
          <a:p>
            <a:r>
              <a:rPr lang="es-MX" sz="5600" dirty="0"/>
              <a:t>Las habilidades son especializaciones basadas principalmente en </a:t>
            </a:r>
            <a:r>
              <a:rPr lang="es-MX" sz="5600" dirty="0" err="1"/>
              <a:t>prompts</a:t>
            </a:r>
            <a:r>
              <a:rPr lang="es-MX" sz="5600" dirty="0"/>
              <a:t>, empaquetadas como directorios que contienen instrucciones, scripts y recursos. Al iniciarse, el agente solo conoce los nombres y descripciones de las habilidades. Cuando una habilidad se vuelve relevante, el agente carga su contexto completo.</a:t>
            </a:r>
            <a:endParaRPr lang="es-CL" sz="3600" dirty="0"/>
          </a:p>
        </p:txBody>
      </p:sp>
      <p:sp>
        <p:nvSpPr>
          <p:cNvPr id="6" name="Título 1">
            <a:extLst>
              <a:ext uri="{FF2B5EF4-FFF2-40B4-BE49-F238E27FC236}">
                <a16:creationId xmlns:a16="http://schemas.microsoft.com/office/drawing/2014/main" id="{E131664D-033A-1C43-649A-084A552D5882}"/>
              </a:ext>
            </a:extLst>
          </p:cNvPr>
          <p:cNvSpPr txBox="1">
            <a:spLocks/>
          </p:cNvSpPr>
          <p:nvPr/>
        </p:nvSpPr>
        <p:spPr>
          <a:xfrm>
            <a:off x="869729" y="3285654"/>
            <a:ext cx="415947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Ideal:</a:t>
            </a:r>
          </a:p>
          <a:p>
            <a:endParaRPr lang="es-MX" dirty="0"/>
          </a:p>
          <a:p>
            <a:r>
              <a:rPr lang="es-MX" sz="6600" dirty="0"/>
              <a:t>Agentes únicos con muchas especializaciones posibles, situaciones donde no se necesita imponer restricciones entre capacidades, o equipos distribuidos donde distintos equipos mantienen diferentes habilidades.</a:t>
            </a:r>
            <a:endParaRPr lang="es-CL" dirty="0"/>
          </a:p>
        </p:txBody>
      </p:sp>
      <p:sp>
        <p:nvSpPr>
          <p:cNvPr id="8" name="Título 1">
            <a:extLst>
              <a:ext uri="{FF2B5EF4-FFF2-40B4-BE49-F238E27FC236}">
                <a16:creationId xmlns:a16="http://schemas.microsoft.com/office/drawing/2014/main" id="{B2F1408C-A87C-20A1-4E36-ADCD9CC1FF1F}"/>
              </a:ext>
            </a:extLst>
          </p:cNvPr>
          <p:cNvSpPr txBox="1">
            <a:spLocks/>
          </p:cNvSpPr>
          <p:nvPr/>
        </p:nvSpPr>
        <p:spPr>
          <a:xfrm>
            <a:off x="869729" y="4790113"/>
            <a:ext cx="4159471" cy="1325563"/>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900" b="1" i="1" dirty="0"/>
              <a:t>¿</a:t>
            </a:r>
            <a:r>
              <a:rPr lang="es-MX" sz="2900" b="1" i="1" dirty="0" err="1"/>
              <a:t>Trade</a:t>
            </a:r>
            <a:r>
              <a:rPr lang="es-MX" sz="2900" b="1" i="1" dirty="0"/>
              <a:t>-off?:</a:t>
            </a:r>
          </a:p>
          <a:p>
            <a:endParaRPr lang="es-MX" dirty="0"/>
          </a:p>
          <a:p>
            <a:r>
              <a:rPr lang="es-MX" sz="3200" dirty="0"/>
              <a:t>El contexto se acumula en el historial de la conversación a medida que se cargan las habilidades, lo que puede generar una acumulación excesiva de tokens en llamadas posteriores.</a:t>
            </a:r>
            <a:endParaRPr lang="es-CL" sz="2900" dirty="0"/>
          </a:p>
        </p:txBody>
      </p:sp>
      <p:pic>
        <p:nvPicPr>
          <p:cNvPr id="9" name="Imagen 8">
            <a:extLst>
              <a:ext uri="{FF2B5EF4-FFF2-40B4-BE49-F238E27FC236}">
                <a16:creationId xmlns:a16="http://schemas.microsoft.com/office/drawing/2014/main" id="{76D7624C-1D93-3DF0-C3A8-03E8B16D0E69}"/>
              </a:ext>
            </a:extLst>
          </p:cNvPr>
          <p:cNvPicPr>
            <a:picLocks noChangeAspect="1"/>
          </p:cNvPicPr>
          <p:nvPr/>
        </p:nvPicPr>
        <p:blipFill>
          <a:blip r:embed="rId4"/>
          <a:stretch>
            <a:fillRect/>
          </a:stretch>
        </p:blipFill>
        <p:spPr>
          <a:xfrm>
            <a:off x="5325280" y="1669282"/>
            <a:ext cx="6514295" cy="4057738"/>
          </a:xfrm>
          <a:prstGeom prst="rect">
            <a:avLst/>
          </a:prstGeom>
        </p:spPr>
      </p:pic>
    </p:spTree>
    <p:extLst>
      <p:ext uri="{BB962C8B-B14F-4D97-AF65-F5344CB8AC3E}">
        <p14:creationId xmlns:p14="http://schemas.microsoft.com/office/powerpoint/2010/main" val="2829120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3C5C-9238-E2E8-C629-5E4AFD5D58D2}"/>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F18A3AD0-7BF2-6EE8-9C09-8A540ADA3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BA0AE243-5A0A-FE10-9CAF-3723CBA2DBBD}"/>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DC25FE4F-7FE0-176A-3E1F-3E54D8B75625}"/>
              </a:ext>
            </a:extLst>
          </p:cNvPr>
          <p:cNvSpPr>
            <a:spLocks noGrp="1"/>
          </p:cNvSpPr>
          <p:nvPr>
            <p:ph type="title"/>
          </p:nvPr>
        </p:nvSpPr>
        <p:spPr>
          <a:xfrm>
            <a:off x="498255" y="343719"/>
            <a:ext cx="10515600" cy="1325563"/>
          </a:xfrm>
        </p:spPr>
        <p:txBody>
          <a:bodyPr/>
          <a:lstStyle/>
          <a:p>
            <a:r>
              <a:rPr lang="es-CL" b="1" i="1" dirty="0" err="1"/>
              <a:t>Handoffs</a:t>
            </a:r>
            <a:r>
              <a:rPr lang="es-MX" b="1" i="1" dirty="0"/>
              <a:t>: </a:t>
            </a:r>
            <a:r>
              <a:rPr lang="es-MX" sz="4000" i="1" dirty="0"/>
              <a:t>Transiciones impulsadas por el estado.</a:t>
            </a:r>
            <a:endParaRPr lang="es-CL" i="1" dirty="0"/>
          </a:p>
        </p:txBody>
      </p:sp>
      <p:sp>
        <p:nvSpPr>
          <p:cNvPr id="14" name="Título 1">
            <a:extLst>
              <a:ext uri="{FF2B5EF4-FFF2-40B4-BE49-F238E27FC236}">
                <a16:creationId xmlns:a16="http://schemas.microsoft.com/office/drawing/2014/main" id="{188EBADA-7F25-5E55-5500-76CE3F812CDE}"/>
              </a:ext>
            </a:extLst>
          </p:cNvPr>
          <p:cNvSpPr txBox="1">
            <a:spLocks/>
          </p:cNvSpPr>
          <p:nvPr/>
        </p:nvSpPr>
        <p:spPr>
          <a:xfrm>
            <a:off x="-1256525" y="6313360"/>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sp>
        <p:nvSpPr>
          <p:cNvPr id="3" name="Título 1">
            <a:extLst>
              <a:ext uri="{FF2B5EF4-FFF2-40B4-BE49-F238E27FC236}">
                <a16:creationId xmlns:a16="http://schemas.microsoft.com/office/drawing/2014/main" id="{D30974D9-23E3-3228-ACEE-CB85625A7BDD}"/>
              </a:ext>
            </a:extLst>
          </p:cNvPr>
          <p:cNvSpPr txBox="1">
            <a:spLocks/>
          </p:cNvSpPr>
          <p:nvPr/>
        </p:nvSpPr>
        <p:spPr>
          <a:xfrm>
            <a:off x="867548" y="1609650"/>
            <a:ext cx="445555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¿Cómo funcionan?:</a:t>
            </a:r>
          </a:p>
          <a:p>
            <a:endParaRPr lang="es-MX" dirty="0"/>
          </a:p>
          <a:p>
            <a:pPr algn="just"/>
            <a:r>
              <a:rPr lang="es-MX" sz="6000" dirty="0"/>
              <a:t>Cuando un agente invoca una herramienta de transferencia, actualiza el estado que determina cuál será el próximo agente en activarse. Esto puede implicar cambiar a un agente diferente o modificar el </a:t>
            </a:r>
            <a:r>
              <a:rPr lang="es-MX" sz="6000" dirty="0" err="1"/>
              <a:t>prompt</a:t>
            </a:r>
            <a:r>
              <a:rPr lang="es-MX" sz="6000" dirty="0"/>
              <a:t> del sistema y las herramientas disponibles del agente actual. </a:t>
            </a:r>
            <a:endParaRPr lang="es-CL" sz="3600" dirty="0"/>
          </a:p>
        </p:txBody>
      </p:sp>
      <p:sp>
        <p:nvSpPr>
          <p:cNvPr id="6" name="Título 1">
            <a:extLst>
              <a:ext uri="{FF2B5EF4-FFF2-40B4-BE49-F238E27FC236}">
                <a16:creationId xmlns:a16="http://schemas.microsoft.com/office/drawing/2014/main" id="{C39C8D8F-9D0C-A70F-1086-593B8E50C10B}"/>
              </a:ext>
            </a:extLst>
          </p:cNvPr>
          <p:cNvSpPr txBox="1">
            <a:spLocks/>
          </p:cNvSpPr>
          <p:nvPr/>
        </p:nvSpPr>
        <p:spPr>
          <a:xfrm>
            <a:off x="867547" y="3233373"/>
            <a:ext cx="445555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Ideal:</a:t>
            </a:r>
          </a:p>
          <a:p>
            <a:endParaRPr lang="es-MX" dirty="0"/>
          </a:p>
          <a:p>
            <a:pPr algn="just"/>
            <a:r>
              <a:rPr lang="es-MX" sz="6600" dirty="0"/>
              <a:t>Flujos de atención al cliente que recopilan información por etapas, experiencias conversacionales en múltiples fases, o cualquier escenario que requiera restricciones secuenciales donde las capacidades se desbloquean solo después de cumplir ciertas condiciones previas.</a:t>
            </a:r>
            <a:endParaRPr lang="es-CL" dirty="0"/>
          </a:p>
        </p:txBody>
      </p:sp>
      <p:sp>
        <p:nvSpPr>
          <p:cNvPr id="8" name="Título 1">
            <a:extLst>
              <a:ext uri="{FF2B5EF4-FFF2-40B4-BE49-F238E27FC236}">
                <a16:creationId xmlns:a16="http://schemas.microsoft.com/office/drawing/2014/main" id="{0E44A938-367F-B727-D051-F65C1C739DDC}"/>
              </a:ext>
            </a:extLst>
          </p:cNvPr>
          <p:cNvSpPr txBox="1">
            <a:spLocks/>
          </p:cNvSpPr>
          <p:nvPr/>
        </p:nvSpPr>
        <p:spPr>
          <a:xfrm>
            <a:off x="923704" y="4790113"/>
            <a:ext cx="43245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600" b="1" i="1" dirty="0"/>
              <a:t>¿</a:t>
            </a:r>
            <a:r>
              <a:rPr lang="es-MX" sz="1600" b="1" i="1" dirty="0" err="1"/>
              <a:t>Trade</a:t>
            </a:r>
            <a:r>
              <a:rPr lang="es-MX" sz="1600" b="1" i="1" dirty="0"/>
              <a:t>-off?:</a:t>
            </a:r>
          </a:p>
          <a:p>
            <a:endParaRPr lang="es-MX" sz="1600" b="1" i="1" dirty="0"/>
          </a:p>
          <a:p>
            <a:pPr algn="just"/>
            <a:r>
              <a:rPr lang="es-MX" sz="1800" dirty="0"/>
              <a:t>Es más dependiente del estado que otros patrones, lo que requiere una gestión cuidadosa del mismo.</a:t>
            </a:r>
            <a:endParaRPr lang="es-CL" sz="1600" dirty="0"/>
          </a:p>
        </p:txBody>
      </p:sp>
      <p:pic>
        <p:nvPicPr>
          <p:cNvPr id="10" name="Imagen 9">
            <a:extLst>
              <a:ext uri="{FF2B5EF4-FFF2-40B4-BE49-F238E27FC236}">
                <a16:creationId xmlns:a16="http://schemas.microsoft.com/office/drawing/2014/main" id="{AA82FAEC-41BB-09DB-DD03-ECA2AE89A20E}"/>
              </a:ext>
            </a:extLst>
          </p:cNvPr>
          <p:cNvPicPr>
            <a:picLocks noChangeAspect="1"/>
          </p:cNvPicPr>
          <p:nvPr/>
        </p:nvPicPr>
        <p:blipFill>
          <a:blip r:embed="rId4"/>
          <a:stretch>
            <a:fillRect/>
          </a:stretch>
        </p:blipFill>
        <p:spPr>
          <a:xfrm>
            <a:off x="5564706" y="2272431"/>
            <a:ext cx="5759746" cy="2952902"/>
          </a:xfrm>
          <a:prstGeom prst="rect">
            <a:avLst/>
          </a:prstGeom>
        </p:spPr>
      </p:pic>
    </p:spTree>
    <p:extLst>
      <p:ext uri="{BB962C8B-B14F-4D97-AF65-F5344CB8AC3E}">
        <p14:creationId xmlns:p14="http://schemas.microsoft.com/office/powerpoint/2010/main" val="639104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CD1C-75D7-1569-5BC1-BD7D5C12F927}"/>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0739F16-B588-A581-6412-48B0C8E83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53B9974-E66E-6236-100E-9ACF850FB451}"/>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0109E752-0653-59B2-C687-EADE68A3167D}"/>
              </a:ext>
            </a:extLst>
          </p:cNvPr>
          <p:cNvSpPr>
            <a:spLocks noGrp="1"/>
          </p:cNvSpPr>
          <p:nvPr>
            <p:ph type="title"/>
          </p:nvPr>
        </p:nvSpPr>
        <p:spPr>
          <a:xfrm>
            <a:off x="498255" y="343719"/>
            <a:ext cx="10515600" cy="1325563"/>
          </a:xfrm>
        </p:spPr>
        <p:txBody>
          <a:bodyPr/>
          <a:lstStyle/>
          <a:p>
            <a:r>
              <a:rPr lang="es-CL" b="1" i="1" dirty="0" err="1"/>
              <a:t>Handoffs</a:t>
            </a:r>
            <a:r>
              <a:rPr lang="es-MX" b="1" i="1" dirty="0"/>
              <a:t>: </a:t>
            </a:r>
            <a:r>
              <a:rPr lang="es-MX" i="1" dirty="0"/>
              <a:t>Asistente de un banco.</a:t>
            </a:r>
            <a:endParaRPr lang="es-CL" i="1" dirty="0"/>
          </a:p>
        </p:txBody>
      </p:sp>
      <p:sp>
        <p:nvSpPr>
          <p:cNvPr id="14" name="Título 1">
            <a:extLst>
              <a:ext uri="{FF2B5EF4-FFF2-40B4-BE49-F238E27FC236}">
                <a16:creationId xmlns:a16="http://schemas.microsoft.com/office/drawing/2014/main" id="{ECB6810C-7122-0000-39DB-464D54B94D4C}"/>
              </a:ext>
            </a:extLst>
          </p:cNvPr>
          <p:cNvSpPr txBox="1">
            <a:spLocks/>
          </p:cNvSpPr>
          <p:nvPr/>
        </p:nvSpPr>
        <p:spPr>
          <a:xfrm>
            <a:off x="-1256525" y="6313360"/>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pic>
        <p:nvPicPr>
          <p:cNvPr id="9" name="Imagen 8">
            <a:extLst>
              <a:ext uri="{FF2B5EF4-FFF2-40B4-BE49-F238E27FC236}">
                <a16:creationId xmlns:a16="http://schemas.microsoft.com/office/drawing/2014/main" id="{79BF6516-FAE3-D357-E55F-F3DF0AE7EAA5}"/>
              </a:ext>
            </a:extLst>
          </p:cNvPr>
          <p:cNvPicPr>
            <a:picLocks noChangeAspect="1"/>
          </p:cNvPicPr>
          <p:nvPr/>
        </p:nvPicPr>
        <p:blipFill>
          <a:blip r:embed="rId4"/>
          <a:stretch>
            <a:fillRect/>
          </a:stretch>
        </p:blipFill>
        <p:spPr>
          <a:xfrm>
            <a:off x="5256035" y="1273506"/>
            <a:ext cx="5818849" cy="4877929"/>
          </a:xfrm>
          <a:prstGeom prst="rect">
            <a:avLst/>
          </a:prstGeom>
        </p:spPr>
      </p:pic>
      <p:sp>
        <p:nvSpPr>
          <p:cNvPr id="11" name="Título 1">
            <a:extLst>
              <a:ext uri="{FF2B5EF4-FFF2-40B4-BE49-F238E27FC236}">
                <a16:creationId xmlns:a16="http://schemas.microsoft.com/office/drawing/2014/main" id="{EA2F4ADC-E7C5-D902-F9EE-7599937B925E}"/>
              </a:ext>
            </a:extLst>
          </p:cNvPr>
          <p:cNvSpPr txBox="1">
            <a:spLocks/>
          </p:cNvSpPr>
          <p:nvPr/>
        </p:nvSpPr>
        <p:spPr>
          <a:xfrm>
            <a:off x="564930" y="2852373"/>
            <a:ext cx="4455551" cy="1325563"/>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i="1" dirty="0"/>
              <a:t>Internamente, el agente interactúa y cambia a otros agentes sin que el usuario expresamente haya guiado a esos nodos.</a:t>
            </a:r>
          </a:p>
        </p:txBody>
      </p:sp>
    </p:spTree>
    <p:extLst>
      <p:ext uri="{BB962C8B-B14F-4D97-AF65-F5344CB8AC3E}">
        <p14:creationId xmlns:p14="http://schemas.microsoft.com/office/powerpoint/2010/main" val="3721893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344CD-8D15-CD7A-5865-FDBFE506EAEA}"/>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BF74DDA2-45FA-6C30-9987-5E6C88AE6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D9E673CE-F4E8-7F8B-11A6-547FC7569386}"/>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317209E0-A3EA-FBC7-1445-FF8076BB9477}"/>
              </a:ext>
            </a:extLst>
          </p:cNvPr>
          <p:cNvSpPr>
            <a:spLocks noGrp="1"/>
          </p:cNvSpPr>
          <p:nvPr>
            <p:ph type="title"/>
          </p:nvPr>
        </p:nvSpPr>
        <p:spPr>
          <a:xfrm>
            <a:off x="498255" y="343719"/>
            <a:ext cx="10515600" cy="1325563"/>
          </a:xfrm>
        </p:spPr>
        <p:txBody>
          <a:bodyPr/>
          <a:lstStyle/>
          <a:p>
            <a:r>
              <a:rPr lang="es-CL" b="1" i="1" dirty="0" err="1"/>
              <a:t>Router</a:t>
            </a:r>
            <a:r>
              <a:rPr lang="es-MX" b="1" i="1" dirty="0"/>
              <a:t>: </a:t>
            </a:r>
            <a:r>
              <a:rPr lang="es-MX" i="1" dirty="0"/>
              <a:t>Dirige y ejecuta en paralelo.</a:t>
            </a:r>
            <a:endParaRPr lang="es-CL" i="1" dirty="0"/>
          </a:p>
        </p:txBody>
      </p:sp>
      <p:sp>
        <p:nvSpPr>
          <p:cNvPr id="14" name="Título 1">
            <a:extLst>
              <a:ext uri="{FF2B5EF4-FFF2-40B4-BE49-F238E27FC236}">
                <a16:creationId xmlns:a16="http://schemas.microsoft.com/office/drawing/2014/main" id="{1D4AB7AB-8D14-453C-6AB8-01DC8EE227F9}"/>
              </a:ext>
            </a:extLst>
          </p:cNvPr>
          <p:cNvSpPr txBox="1">
            <a:spLocks/>
          </p:cNvSpPr>
          <p:nvPr/>
        </p:nvSpPr>
        <p:spPr>
          <a:xfrm>
            <a:off x="-1256525" y="6313360"/>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sp>
        <p:nvSpPr>
          <p:cNvPr id="3" name="Título 1">
            <a:extLst>
              <a:ext uri="{FF2B5EF4-FFF2-40B4-BE49-F238E27FC236}">
                <a16:creationId xmlns:a16="http://schemas.microsoft.com/office/drawing/2014/main" id="{5A21F95A-FCE4-6C60-05D3-29A29C83D74B}"/>
              </a:ext>
            </a:extLst>
          </p:cNvPr>
          <p:cNvSpPr txBox="1">
            <a:spLocks/>
          </p:cNvSpPr>
          <p:nvPr/>
        </p:nvSpPr>
        <p:spPr>
          <a:xfrm>
            <a:off x="867548" y="1609650"/>
            <a:ext cx="445555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¿Cómo funcionan?:</a:t>
            </a:r>
          </a:p>
          <a:p>
            <a:endParaRPr lang="es-MX" dirty="0"/>
          </a:p>
          <a:p>
            <a:pPr algn="just"/>
            <a:r>
              <a:rPr lang="es-MX" sz="6000" dirty="0"/>
              <a:t>El enrutador descompone la consulta, invoca cero o más agentes especializados en paralelo y sintetiza los resultados en una respuesta coherente.</a:t>
            </a:r>
            <a:endParaRPr lang="es-CL" sz="3600" dirty="0"/>
          </a:p>
        </p:txBody>
      </p:sp>
      <p:sp>
        <p:nvSpPr>
          <p:cNvPr id="5" name="Título 1">
            <a:extLst>
              <a:ext uri="{FF2B5EF4-FFF2-40B4-BE49-F238E27FC236}">
                <a16:creationId xmlns:a16="http://schemas.microsoft.com/office/drawing/2014/main" id="{D22D2DD8-15C4-4EC0-E9D7-70287D217F17}"/>
              </a:ext>
            </a:extLst>
          </p:cNvPr>
          <p:cNvSpPr txBox="1">
            <a:spLocks/>
          </p:cNvSpPr>
          <p:nvPr/>
        </p:nvSpPr>
        <p:spPr>
          <a:xfrm>
            <a:off x="867547" y="3233373"/>
            <a:ext cx="4455551" cy="132556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6400" b="1" i="1" dirty="0"/>
              <a:t>Ideal:</a:t>
            </a:r>
          </a:p>
          <a:p>
            <a:endParaRPr lang="es-MX" dirty="0"/>
          </a:p>
          <a:p>
            <a:pPr algn="just"/>
            <a:r>
              <a:rPr lang="es-MX" sz="6600" dirty="0"/>
              <a:t>Aplicaciones con verticales distintas (dominios de conocimiento separados), escenarios que requieren consultas a múltiples fuentes en paralelo, o situaciones donde se necesita sintetizar resultados de múltiples agentes.</a:t>
            </a:r>
            <a:endParaRPr lang="es-CL" dirty="0"/>
          </a:p>
        </p:txBody>
      </p:sp>
      <p:sp>
        <p:nvSpPr>
          <p:cNvPr id="6" name="Título 1">
            <a:extLst>
              <a:ext uri="{FF2B5EF4-FFF2-40B4-BE49-F238E27FC236}">
                <a16:creationId xmlns:a16="http://schemas.microsoft.com/office/drawing/2014/main" id="{18F3E939-0431-46A1-662D-6F3CB5D53C48}"/>
              </a:ext>
            </a:extLst>
          </p:cNvPr>
          <p:cNvSpPr txBox="1">
            <a:spLocks/>
          </p:cNvSpPr>
          <p:nvPr/>
        </p:nvSpPr>
        <p:spPr>
          <a:xfrm>
            <a:off x="923704" y="4790113"/>
            <a:ext cx="4324571" cy="132556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600" b="1" i="1" dirty="0"/>
              <a:t>¿</a:t>
            </a:r>
            <a:r>
              <a:rPr lang="es-MX" sz="1600" b="1" i="1" dirty="0" err="1"/>
              <a:t>Trade</a:t>
            </a:r>
            <a:r>
              <a:rPr lang="es-MX" sz="1600" b="1" i="1" dirty="0"/>
              <a:t>-off?:</a:t>
            </a:r>
          </a:p>
          <a:p>
            <a:endParaRPr lang="es-MX" sz="1600" b="1" i="1" dirty="0"/>
          </a:p>
          <a:p>
            <a:pPr algn="just"/>
            <a:r>
              <a:rPr lang="es-MX" sz="1800" dirty="0"/>
              <a:t>El diseño sin estado garantiza un rendimiento consistente por solicitud, pero genera una sobrecarga repetida de enrutamiento si se necesita historial de conversación.</a:t>
            </a:r>
            <a:endParaRPr lang="es-CL" sz="1600" dirty="0"/>
          </a:p>
        </p:txBody>
      </p:sp>
      <p:pic>
        <p:nvPicPr>
          <p:cNvPr id="10" name="Imagen 9">
            <a:extLst>
              <a:ext uri="{FF2B5EF4-FFF2-40B4-BE49-F238E27FC236}">
                <a16:creationId xmlns:a16="http://schemas.microsoft.com/office/drawing/2014/main" id="{5F6E63F4-936B-4904-E139-69EDB8EE66C2}"/>
              </a:ext>
            </a:extLst>
          </p:cNvPr>
          <p:cNvPicPr>
            <a:picLocks noChangeAspect="1"/>
          </p:cNvPicPr>
          <p:nvPr/>
        </p:nvPicPr>
        <p:blipFill>
          <a:blip r:embed="rId4"/>
          <a:stretch>
            <a:fillRect/>
          </a:stretch>
        </p:blipFill>
        <p:spPr>
          <a:xfrm>
            <a:off x="5756055" y="2935213"/>
            <a:ext cx="5759746" cy="1390721"/>
          </a:xfrm>
          <a:prstGeom prst="rect">
            <a:avLst/>
          </a:prstGeom>
        </p:spPr>
      </p:pic>
    </p:spTree>
    <p:extLst>
      <p:ext uri="{BB962C8B-B14F-4D97-AF65-F5344CB8AC3E}">
        <p14:creationId xmlns:p14="http://schemas.microsoft.com/office/powerpoint/2010/main" val="101761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6531-66F4-8FD4-7690-6FF9A65CB2A8}"/>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1A71EA4C-97FF-BF26-D8AE-8153C099C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9AAF3390-6045-8CBE-F3F2-9FB12D8E51C1}"/>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D42957CA-1F08-D48E-64DC-ABCC89F8EB25}"/>
              </a:ext>
            </a:extLst>
          </p:cNvPr>
          <p:cNvSpPr>
            <a:spLocks noGrp="1"/>
          </p:cNvSpPr>
          <p:nvPr>
            <p:ph type="title"/>
          </p:nvPr>
        </p:nvSpPr>
        <p:spPr>
          <a:xfrm>
            <a:off x="498255" y="343719"/>
            <a:ext cx="10515600" cy="1325563"/>
          </a:xfrm>
        </p:spPr>
        <p:txBody>
          <a:bodyPr/>
          <a:lstStyle/>
          <a:p>
            <a:r>
              <a:rPr lang="es-MX" b="1" i="1" dirty="0"/>
              <a:t>¿Cuál elegir?: </a:t>
            </a:r>
            <a:r>
              <a:rPr lang="es-MX" i="1" dirty="0"/>
              <a:t>Depende.</a:t>
            </a:r>
            <a:endParaRPr lang="es-CL" i="1" dirty="0"/>
          </a:p>
        </p:txBody>
      </p:sp>
      <p:sp>
        <p:nvSpPr>
          <p:cNvPr id="14" name="Título 1">
            <a:extLst>
              <a:ext uri="{FF2B5EF4-FFF2-40B4-BE49-F238E27FC236}">
                <a16:creationId xmlns:a16="http://schemas.microsoft.com/office/drawing/2014/main" id="{0D2FD60C-7394-27F4-4DBA-75CD87E32A6F}"/>
              </a:ext>
            </a:extLst>
          </p:cNvPr>
          <p:cNvSpPr txBox="1">
            <a:spLocks/>
          </p:cNvSpPr>
          <p:nvPr/>
        </p:nvSpPr>
        <p:spPr>
          <a:xfrm>
            <a:off x="-1256525" y="6313360"/>
            <a:ext cx="9267049"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https://docs.langchain.com/oss/python/langchain/multi-agent#router-4</a:t>
            </a:r>
            <a:endParaRPr lang="es-CL" sz="1600" i="1" dirty="0"/>
          </a:p>
        </p:txBody>
      </p:sp>
      <p:pic>
        <p:nvPicPr>
          <p:cNvPr id="9" name="Imagen 8">
            <a:extLst>
              <a:ext uri="{FF2B5EF4-FFF2-40B4-BE49-F238E27FC236}">
                <a16:creationId xmlns:a16="http://schemas.microsoft.com/office/drawing/2014/main" id="{64392D66-CC9E-3E0A-2D31-244130AE4DAD}"/>
              </a:ext>
            </a:extLst>
          </p:cNvPr>
          <p:cNvPicPr>
            <a:picLocks noChangeAspect="1"/>
          </p:cNvPicPr>
          <p:nvPr/>
        </p:nvPicPr>
        <p:blipFill>
          <a:blip r:embed="rId4"/>
          <a:stretch>
            <a:fillRect/>
          </a:stretch>
        </p:blipFill>
        <p:spPr>
          <a:xfrm>
            <a:off x="1274885" y="1884333"/>
            <a:ext cx="9642230" cy="3516341"/>
          </a:xfrm>
          <a:prstGeom prst="rect">
            <a:avLst/>
          </a:prstGeom>
        </p:spPr>
      </p:pic>
    </p:spTree>
    <p:extLst>
      <p:ext uri="{BB962C8B-B14F-4D97-AF65-F5344CB8AC3E}">
        <p14:creationId xmlns:p14="http://schemas.microsoft.com/office/powerpoint/2010/main" val="503576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DCE99-0493-6C17-2FAB-6FD51FD72B98}"/>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7D9E911-C514-7191-F737-1C5BD32D6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8945D889-E932-1E3D-871F-6A165983EB7A}"/>
              </a:ext>
            </a:extLst>
          </p:cNvPr>
          <p:cNvSpPr>
            <a:spLocks noGrp="1"/>
          </p:cNvSpPr>
          <p:nvPr>
            <p:ph type="title"/>
          </p:nvPr>
        </p:nvSpPr>
        <p:spPr>
          <a:xfrm>
            <a:off x="341910" y="193100"/>
            <a:ext cx="11508175" cy="1325563"/>
          </a:xfrm>
        </p:spPr>
        <p:txBody>
          <a:bodyPr>
            <a:normAutofit/>
          </a:bodyPr>
          <a:lstStyle/>
          <a:p>
            <a:r>
              <a:rPr lang="es-MX" sz="3600" b="1" i="1" dirty="0"/>
              <a:t>Libro: </a:t>
            </a:r>
            <a:r>
              <a:rPr lang="es-MX" sz="3600" i="1" dirty="0"/>
              <a:t>Warren Buffet, </a:t>
            </a:r>
            <a:r>
              <a:rPr lang="es-MX" sz="3600" i="1" dirty="0" err="1"/>
              <a:t>Interpreation</a:t>
            </a:r>
            <a:r>
              <a:rPr lang="es-MX" sz="3600" i="1" dirty="0"/>
              <a:t> </a:t>
            </a:r>
            <a:r>
              <a:rPr lang="es-MX" sz="3600" i="1" dirty="0" err="1"/>
              <a:t>of</a:t>
            </a:r>
            <a:r>
              <a:rPr lang="es-MX" sz="3600" i="1" dirty="0"/>
              <a:t> </a:t>
            </a:r>
            <a:r>
              <a:rPr lang="es-MX" sz="3600" i="1" dirty="0" err="1"/>
              <a:t>financial</a:t>
            </a:r>
            <a:r>
              <a:rPr lang="es-MX" sz="3600" i="1" dirty="0"/>
              <a:t> </a:t>
            </a:r>
            <a:r>
              <a:rPr lang="es-MX" sz="3600" i="1" dirty="0" err="1"/>
              <a:t>statements</a:t>
            </a:r>
            <a:r>
              <a:rPr lang="es-MX" sz="3600" i="1" dirty="0"/>
              <a:t>.</a:t>
            </a:r>
            <a:endParaRPr lang="es-CL" sz="3600" i="1" dirty="0"/>
          </a:p>
        </p:txBody>
      </p:sp>
      <p:sp>
        <p:nvSpPr>
          <p:cNvPr id="14" name="Título 1">
            <a:extLst>
              <a:ext uri="{FF2B5EF4-FFF2-40B4-BE49-F238E27FC236}">
                <a16:creationId xmlns:a16="http://schemas.microsoft.com/office/drawing/2014/main" id="{75866BC2-91FE-C0CB-45D4-DE3EF9E44501}"/>
              </a:ext>
            </a:extLst>
          </p:cNvPr>
          <p:cNvSpPr txBox="1">
            <a:spLocks/>
          </p:cNvSpPr>
          <p:nvPr/>
        </p:nvSpPr>
        <p:spPr>
          <a:xfrm>
            <a:off x="233361" y="6273954"/>
            <a:ext cx="1172527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600" b="1" i="1" dirty="0"/>
              <a:t>Nota: </a:t>
            </a:r>
            <a:r>
              <a:rPr lang="es-MX" sz="1600" i="1" dirty="0"/>
              <a:t>https://www.buscalibre.cl/libro-warren-buffett-and-the-interpretation-of-financial-statements-the-search-for-the-company-with-a-durable-competitive-advantage/9781416573180/p/2018929?srsltid=AfmBOoqBwiCPD64ZTjIK1B5Vx2dnq53ESfb3gbcHtiHaiNIRIrIOW29H</a:t>
            </a:r>
            <a:endParaRPr lang="es-CL" sz="1600" i="1" dirty="0"/>
          </a:p>
        </p:txBody>
      </p:sp>
      <p:pic>
        <p:nvPicPr>
          <p:cNvPr id="1026" name="Picture 2" descr="Warren Buffett and the Interpretation of Financial Statements: The Search  for the Company With a Durable Competitive Advantage (en Inglés)">
            <a:extLst>
              <a:ext uri="{FF2B5EF4-FFF2-40B4-BE49-F238E27FC236}">
                <a16:creationId xmlns:a16="http://schemas.microsoft.com/office/drawing/2014/main" id="{D37CB9D2-B010-8E32-0B45-EDA015C15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298807"/>
            <a:ext cx="3615550" cy="4889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649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3124</TotalTime>
  <Words>799</Words>
  <Application>Microsoft Office PowerPoint</Application>
  <PresentationFormat>Panorámica</PresentationFormat>
  <Paragraphs>72</Paragraphs>
  <Slides>12</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Twklausanne</vt:lpstr>
      <vt:lpstr>Tema de Office</vt:lpstr>
      <vt:lpstr>Ingeniería de soluciones con AI</vt:lpstr>
      <vt:lpstr>Presentación de PowerPoint</vt:lpstr>
      <vt:lpstr>Presentación de PowerPoint</vt:lpstr>
      <vt:lpstr>Multi – Agents system: Cuando lo simple no es suficiente.</vt:lpstr>
      <vt:lpstr>Multi – Agents system: 4 patrones para mirar.</vt:lpstr>
      <vt:lpstr>SubAgents: Orquestación centralizada.</vt:lpstr>
      <vt:lpstr>Skills: Divulgación progresiva.</vt:lpstr>
      <vt:lpstr>Handoffs: Transiciones impulsadas por el estado.</vt:lpstr>
      <vt:lpstr>Handoffs: Asistente de un banco.</vt:lpstr>
      <vt:lpstr>Router: Dirige y ejecuta en paralelo.</vt:lpstr>
      <vt:lpstr>¿Cuál elegir?: Depende.</vt:lpstr>
      <vt:lpstr>Libro: Warren Buffet, Interpreation of financial statements.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28</cp:revision>
  <dcterms:created xsi:type="dcterms:W3CDTF">2026-03-06T13:35:57Z</dcterms:created>
  <dcterms:modified xsi:type="dcterms:W3CDTF">2026-04-26T17:56:52Z</dcterms:modified>
</cp:coreProperties>
</file>