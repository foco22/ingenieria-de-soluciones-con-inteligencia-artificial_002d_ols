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95" r:id="rId4"/>
    <p:sldId id="307" r:id="rId5"/>
    <p:sldId id="308" r:id="rId6"/>
    <p:sldId id="309" r:id="rId7"/>
    <p:sldId id="310" r:id="rId8"/>
    <p:sldId id="311" r:id="rId9"/>
    <p:sldId id="312" r:id="rId10"/>
    <p:sldId id="315" r:id="rId11"/>
    <p:sldId id="313" r:id="rId12"/>
    <p:sldId id="316" r:id="rId13"/>
    <p:sldId id="317" r:id="rId14"/>
    <p:sldId id="318" r:id="rId15"/>
    <p:sldId id="319" r:id="rId16"/>
    <p:sldId id="305" r:id="rId1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3173" autoAdjust="0"/>
  </p:normalViewPr>
  <p:slideViewPr>
    <p:cSldViewPr snapToGrid="0">
      <p:cViewPr varScale="1">
        <p:scale>
          <a:sx n="67" d="100"/>
          <a:sy n="67" d="100"/>
        </p:scale>
        <p:origin x="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A131-DAAB-B76B-982D-FD3DAE7E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B39A09-D6FB-245D-1F77-A27D17ABB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BE8C17-73C6-9732-DA2D-22B8EEDC7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FE5CCD-80DD-92BE-6729-5813F4837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3020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7F72-062B-A909-36A9-6F3577A6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8D97F9-FE96-7203-A536-097CBCAD9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7B0E14-0DD5-F847-7575-DB809F2D6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148DDB-02F9-41F5-2891-66BB9DFFB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2376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6A50-7894-FC84-E5DA-6F6F3476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65AB0C-25D0-30D7-B8A1-AD806433C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51F7D3-A560-E68A-8F2C-A6C59925A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373F25-8E9F-4608-9C78-EDEFF19D7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9055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B910-850B-8B5A-7A2E-0C98352C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2F6F7A-15FC-E2B1-8788-FF994CDE3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3FACB1D-97E4-99D2-651E-A879A4C68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4F30E1-16FD-93E5-0777-BCFB90C3C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5000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2C34B-1FFD-84B0-FCC2-C1D3BAA3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8A20AF-EE4A-9CBF-BA6A-E36E9882D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CD6B2A-6045-5660-BF2C-479F0AC02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8A6406-346D-6BE8-2416-9682B8754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178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9676-9465-2B8E-00D6-03E152A0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1B5E23-0325-D1EA-C370-610232BA1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379B01-ED6C-9605-398A-C84E6D571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6E8971-70F7-19D7-2113-728DFBBED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207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F81B-4992-AEA3-FCC0-D5CB06CF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D72861-44F4-21A4-4F9C-D2AB3AF1F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54C7ED-580C-1082-F665-7BB5316A0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95423F-E5C5-7AFE-7EEF-CC3E43F9B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2968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3F9EA-4928-C1C1-ED85-297D6F85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3F763E4-96C3-D100-EAF3-1800AC21F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6079B4-651A-ACBB-4D6C-B75050DDB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CEA20B-FD0B-2847-06B8-C16A70BBC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9175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AE8A9-B275-7E02-81A3-5D3B30BB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73166F-9527-06D0-B31B-09ED73B04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76EBA7-EA18-A105-7C16-3C675DFFB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EBADE8-8A4E-7E66-A056-ABC303B0F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6771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EF7F-B168-B862-2D8C-F6A5E49B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0AA4C9-5726-B602-F6EE-E0C9A1E8E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21341C-FBEC-D0A5-BD6B-5CB97E82D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955449-E519-86B4-CB8E-FB547CA92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139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F942-FF70-7B14-427D-F722A7DF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B294B0-EF3C-4AA7-94AD-F9300FE91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30C576-395D-78C5-2551-4F112CE3C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4BB61E-796F-1925-F054-F38A5A475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8603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E044-A23A-8C03-4892-E3B2D3D1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77A60C8-9A1A-3818-1699-6852E301E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132613-9E1B-6B96-9350-20274ED8A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F2020E-225E-95F4-8B08-B6EA95BC7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4521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83DA1-C344-98F4-AF95-1D894A16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478548-A5A2-5EA4-018E-CDF318C7E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F63D6B-E148-1B51-0A73-623830E7E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15A2DB-D1A1-1F40-26BC-FE9DA183A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0976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BD3B-C389-161C-860F-B325F945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D1B762-1742-B262-CDC5-41B432047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2B18B6-3EB6-C206-4491-8C41A7C53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47B367-0D87-1177-F434-813D05701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1296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02-05-2026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3B967C9-D6BF-8DB2-90D0-DCD6085A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0DBD3488-3C31-6D07-D7BF-A051E1FED096}"/>
              </a:ext>
            </a:extLst>
          </p:cNvPr>
          <p:cNvSpPr txBox="1">
            <a:spLocks/>
          </p:cNvSpPr>
          <p:nvPr/>
        </p:nvSpPr>
        <p:spPr>
          <a:xfrm>
            <a:off x="620313" y="254895"/>
            <a:ext cx="102953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Noticias: </a:t>
            </a:r>
            <a:r>
              <a:rPr lang="es-MX" i="1" dirty="0"/>
              <a:t>Una chilena quedo tercera en la hackathon de </a:t>
            </a:r>
            <a:r>
              <a:rPr lang="es-MX" i="1" dirty="0" err="1"/>
              <a:t>Anthropic</a:t>
            </a:r>
            <a:r>
              <a:rPr lang="es-MX" i="1" dirty="0"/>
              <a:t>.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5B9BCE-004E-DDDC-CCA4-DC03C833F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615925"/>
            <a:ext cx="3295650" cy="476038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37F617A-ABCA-CCFF-8575-678A26A537D4}"/>
              </a:ext>
            </a:extLst>
          </p:cNvPr>
          <p:cNvSpPr txBox="1"/>
          <p:nvPr/>
        </p:nvSpPr>
        <p:spPr>
          <a:xfrm>
            <a:off x="752475" y="64117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i="1" dirty="0"/>
              <a:t>Fuente:</a:t>
            </a:r>
            <a:r>
              <a:rPr lang="es-CL" sz="1600" i="1" dirty="0"/>
              <a:t> https://maieutic.dev/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92BC8E-0E38-1B5A-FE6D-29C4589AFB33}"/>
              </a:ext>
            </a:extLst>
          </p:cNvPr>
          <p:cNvSpPr txBox="1"/>
          <p:nvPr/>
        </p:nvSpPr>
        <p:spPr>
          <a:xfrm>
            <a:off x="8095287" y="3184851"/>
            <a:ext cx="3040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sz="1600" b="1" i="1" dirty="0"/>
          </a:p>
          <a:p>
            <a:r>
              <a:rPr lang="es-CL" sz="1600" i="1" dirty="0"/>
              <a:t>Resolver problemas que importan, y partan del problema, no de la solución</a:t>
            </a:r>
          </a:p>
        </p:txBody>
      </p:sp>
    </p:spTree>
    <p:extLst>
      <p:ext uri="{BB962C8B-B14F-4D97-AF65-F5344CB8AC3E}">
        <p14:creationId xmlns:p14="http://schemas.microsoft.com/office/powerpoint/2010/main" val="173490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BB4E-812F-A1F1-A23F-3D337CEF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241A7BD-8163-A7BE-3765-35778427D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42E68D-7BF1-456B-5D20-237231B4D38A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C6C22CA-4F45-582D-E6BD-F81A251A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305" y="901205"/>
            <a:ext cx="10515600" cy="1325563"/>
          </a:xfrm>
        </p:spPr>
        <p:txBody>
          <a:bodyPr>
            <a:normAutofit/>
          </a:bodyPr>
          <a:lstStyle/>
          <a:p>
            <a:r>
              <a:rPr lang="es-MX" sz="4800" i="1" dirty="0"/>
              <a:t>Plataforma de </a:t>
            </a:r>
            <a:r>
              <a:rPr lang="es-MX" sz="4800" b="1" i="1" dirty="0"/>
              <a:t>“Agentes”</a:t>
            </a:r>
            <a:endParaRPr lang="es-CL" sz="4800" b="1" i="1" dirty="0"/>
          </a:p>
        </p:txBody>
      </p:sp>
      <p:pic>
        <p:nvPicPr>
          <p:cNvPr id="1026" name="Picture 2" descr="n8n - Wikipedia">
            <a:extLst>
              <a:ext uri="{FF2B5EF4-FFF2-40B4-BE49-F238E27FC236}">
                <a16:creationId xmlns:a16="http://schemas.microsoft.com/office/drawing/2014/main" id="{817CDB3A-2C71-1050-6DF7-3C622E54E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6" y="2317755"/>
            <a:ext cx="5581650" cy="264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n AI Agent? | Agents In ...">
            <a:extLst>
              <a:ext uri="{FF2B5EF4-FFF2-40B4-BE49-F238E27FC236}">
                <a16:creationId xmlns:a16="http://schemas.microsoft.com/office/drawing/2014/main" id="{C4563AB2-CB91-3E68-0E61-609D60875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926" y="2175351"/>
            <a:ext cx="5219380" cy="292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0E81EBDE-1CF4-51F0-69A3-40568D3E7FD5}"/>
              </a:ext>
            </a:extLst>
          </p:cNvPr>
          <p:cNvSpPr txBox="1">
            <a:spLocks/>
          </p:cNvSpPr>
          <p:nvPr/>
        </p:nvSpPr>
        <p:spPr>
          <a:xfrm>
            <a:off x="723900" y="51129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600" b="1" i="1" dirty="0"/>
              <a:t>n8n y </a:t>
            </a:r>
            <a:r>
              <a:rPr lang="es-MX" sz="3600" b="1" i="1" dirty="0" err="1"/>
              <a:t>make</a:t>
            </a:r>
            <a:r>
              <a:rPr lang="es-MX" sz="3600" b="1" i="1" dirty="0"/>
              <a:t> son las más utilizadas</a:t>
            </a:r>
            <a:endParaRPr lang="es-CL" sz="3600" b="1" i="1" dirty="0"/>
          </a:p>
        </p:txBody>
      </p:sp>
    </p:spTree>
    <p:extLst>
      <p:ext uri="{BB962C8B-B14F-4D97-AF65-F5344CB8AC3E}">
        <p14:creationId xmlns:p14="http://schemas.microsoft.com/office/powerpoint/2010/main" val="329220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F9FE-2F71-FE46-13DD-69A1779D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5A26AB5D-82FD-883F-BAF4-B0F54C341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33D4C5E-15D2-8222-E713-2B72BEAF9D55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E35CE09-7CC2-00BC-A4B2-DF9B8AE8B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70918"/>
            <a:ext cx="10585230" cy="1325563"/>
          </a:xfrm>
        </p:spPr>
        <p:txBody>
          <a:bodyPr>
            <a:normAutofit/>
          </a:bodyPr>
          <a:lstStyle/>
          <a:p>
            <a:r>
              <a:rPr lang="es-MX" sz="4800" b="1" i="1" dirty="0"/>
              <a:t>¿Qué realmente son?</a:t>
            </a:r>
            <a:endParaRPr lang="es-CL" sz="4800" b="1" i="1" dirty="0"/>
          </a:p>
        </p:txBody>
      </p:sp>
      <p:pic>
        <p:nvPicPr>
          <p:cNvPr id="2050" name="Picture 2" descr="GitHub - n8n-io/n8n: Fair-code workflow automation platform with native AI  capabilities. Combine visual building with custom code, self-host or cloud,  400+ integrations. · GitHub">
            <a:extLst>
              <a:ext uri="{FF2B5EF4-FFF2-40B4-BE49-F238E27FC236}">
                <a16:creationId xmlns:a16="http://schemas.microsoft.com/office/drawing/2014/main" id="{088BC1FC-1909-8C7A-38CF-82FDB587D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428" y="1221412"/>
            <a:ext cx="7240146" cy="419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35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D90F-00F9-BA58-839E-678FF7A8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2188644-66AE-4CCF-F928-2152BE1E1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49023B4-223A-F673-E079-5F64677C2506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5AABF8E-5F79-90C8-220D-A47EFB83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0" y="70918"/>
            <a:ext cx="10585230" cy="1325563"/>
          </a:xfrm>
        </p:spPr>
        <p:txBody>
          <a:bodyPr>
            <a:normAutofit/>
          </a:bodyPr>
          <a:lstStyle/>
          <a:p>
            <a:r>
              <a:rPr lang="es-MX" sz="4800" b="1" i="1" dirty="0"/>
              <a:t>¿Qué realmente son?</a:t>
            </a:r>
            <a:endParaRPr lang="es-CL" sz="4800" b="1" i="1" dirty="0"/>
          </a:p>
        </p:txBody>
      </p:sp>
      <p:pic>
        <p:nvPicPr>
          <p:cNvPr id="2050" name="Picture 2" descr="GitHub - n8n-io/n8n: Fair-code workflow automation platform with native AI  capabilities. Combine visual building with custom code, self-host or cloud,  400+ integrations. · GitHub">
            <a:extLst>
              <a:ext uri="{FF2B5EF4-FFF2-40B4-BE49-F238E27FC236}">
                <a16:creationId xmlns:a16="http://schemas.microsoft.com/office/drawing/2014/main" id="{1CCB9BCD-47F9-3CE7-99F5-8C250A8AD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428" y="1221412"/>
            <a:ext cx="7240146" cy="419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71CB97FB-1CE3-4DB1-4897-28FD933C3CF0}"/>
              </a:ext>
            </a:extLst>
          </p:cNvPr>
          <p:cNvSpPr txBox="1">
            <a:spLocks/>
          </p:cNvSpPr>
          <p:nvPr/>
        </p:nvSpPr>
        <p:spPr>
          <a:xfrm>
            <a:off x="3914775" y="5419725"/>
            <a:ext cx="10585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Flujo de información</a:t>
            </a:r>
            <a:endParaRPr lang="es-CL" sz="3600" b="1" i="1" dirty="0"/>
          </a:p>
        </p:txBody>
      </p:sp>
    </p:spTree>
    <p:extLst>
      <p:ext uri="{BB962C8B-B14F-4D97-AF65-F5344CB8AC3E}">
        <p14:creationId xmlns:p14="http://schemas.microsoft.com/office/powerpoint/2010/main" val="276160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5F12-FFE1-C5E1-82A7-B032FC8AA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E6D5775-00C5-E725-4670-190594A28C45}"/>
              </a:ext>
            </a:extLst>
          </p:cNvPr>
          <p:cNvSpPr/>
          <p:nvPr/>
        </p:nvSpPr>
        <p:spPr>
          <a:xfrm>
            <a:off x="1130710" y="1552820"/>
            <a:ext cx="9618211" cy="462116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4489E6BE-6034-445E-FDE6-18F9EDD63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956BA22-A695-A664-FF4B-5A3C181140CF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3048B4F-59A5-DCA9-654B-A4C6E06E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75" y="419636"/>
            <a:ext cx="10585230" cy="1325563"/>
          </a:xfrm>
        </p:spPr>
        <p:txBody>
          <a:bodyPr>
            <a:normAutofit/>
          </a:bodyPr>
          <a:lstStyle/>
          <a:p>
            <a:r>
              <a:rPr lang="es-MX" sz="4800" b="1" i="1" dirty="0"/>
              <a:t>¿Qué necesito realmente?</a:t>
            </a:r>
            <a:endParaRPr lang="es-CL" sz="4800" b="1" i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46D384-C4DA-A58E-4A17-280CFC14FCA5}"/>
              </a:ext>
            </a:extLst>
          </p:cNvPr>
          <p:cNvSpPr/>
          <p:nvPr/>
        </p:nvSpPr>
        <p:spPr>
          <a:xfrm>
            <a:off x="4450038" y="2686050"/>
            <a:ext cx="2828925" cy="1762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05D4B62-90A7-BD97-968B-1C86921CA8D9}"/>
              </a:ext>
            </a:extLst>
          </p:cNvPr>
          <p:cNvCxnSpPr/>
          <p:nvPr/>
        </p:nvCxnSpPr>
        <p:spPr>
          <a:xfrm>
            <a:off x="1640163" y="3567112"/>
            <a:ext cx="2809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0F65DFD-4786-B3F0-4F1E-5548F626C7B0}"/>
              </a:ext>
            </a:extLst>
          </p:cNvPr>
          <p:cNvCxnSpPr/>
          <p:nvPr/>
        </p:nvCxnSpPr>
        <p:spPr>
          <a:xfrm>
            <a:off x="7240863" y="3543299"/>
            <a:ext cx="2809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DF58D16E-C6EF-2654-BA48-34218C8D9DE5}"/>
              </a:ext>
            </a:extLst>
          </p:cNvPr>
          <p:cNvSpPr txBox="1">
            <a:spLocks/>
          </p:cNvSpPr>
          <p:nvPr/>
        </p:nvSpPr>
        <p:spPr>
          <a:xfrm>
            <a:off x="2141262" y="3433762"/>
            <a:ext cx="10585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Inputs</a:t>
            </a:r>
            <a:endParaRPr lang="es-CL" sz="3600" b="1" i="1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E892013-60CF-FFC1-D5E6-4144E331CBF9}"/>
              </a:ext>
            </a:extLst>
          </p:cNvPr>
          <p:cNvSpPr txBox="1">
            <a:spLocks/>
          </p:cNvSpPr>
          <p:nvPr/>
        </p:nvSpPr>
        <p:spPr>
          <a:xfrm>
            <a:off x="7830145" y="3543299"/>
            <a:ext cx="10585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/>
              <a:t>Outputs</a:t>
            </a:r>
            <a:endParaRPr lang="es-CL" sz="3600" b="1" i="1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71496D6-C9BA-738A-A421-44B0328D3E2C}"/>
              </a:ext>
            </a:extLst>
          </p:cNvPr>
          <p:cNvSpPr txBox="1">
            <a:spLocks/>
          </p:cNvSpPr>
          <p:nvPr/>
        </p:nvSpPr>
        <p:spPr>
          <a:xfrm>
            <a:off x="4279778" y="4484150"/>
            <a:ext cx="10585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i="1" dirty="0" err="1"/>
              <a:t>Transformations</a:t>
            </a:r>
            <a:endParaRPr lang="es-CL" sz="3600" b="1" i="1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7B5D925-B733-956A-6F2E-A45E0662A6E8}"/>
              </a:ext>
            </a:extLst>
          </p:cNvPr>
          <p:cNvSpPr txBox="1">
            <a:spLocks/>
          </p:cNvSpPr>
          <p:nvPr/>
        </p:nvSpPr>
        <p:spPr>
          <a:xfrm>
            <a:off x="1187879" y="5270511"/>
            <a:ext cx="10585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600" b="1" i="1" dirty="0"/>
              <a:t>Proceso</a:t>
            </a:r>
            <a:endParaRPr lang="es-CL" sz="1600" b="1" i="1" dirty="0"/>
          </a:p>
        </p:txBody>
      </p:sp>
    </p:spTree>
    <p:extLst>
      <p:ext uri="{BB962C8B-B14F-4D97-AF65-F5344CB8AC3E}">
        <p14:creationId xmlns:p14="http://schemas.microsoft.com/office/powerpoint/2010/main" val="133030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C59F-A0C3-C167-F4F9-51322C90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4191895C-5BB7-3902-9BEB-7367C9DBD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442E64-7CD4-D1C1-070D-EA787240C9BF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6410A20-64CE-6C57-C9BE-C633EAFE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3" y="353341"/>
            <a:ext cx="10585230" cy="1325563"/>
          </a:xfrm>
        </p:spPr>
        <p:txBody>
          <a:bodyPr>
            <a:normAutofit fontScale="90000"/>
          </a:bodyPr>
          <a:lstStyle/>
          <a:p>
            <a:r>
              <a:rPr lang="es-MX" sz="4800" b="1" i="1" dirty="0"/>
              <a:t>Antes de n8n… necesitamos saber cual es el problema o dolor.</a:t>
            </a:r>
            <a:endParaRPr lang="es-CL" sz="4800" b="1" i="1" dirty="0"/>
          </a:p>
        </p:txBody>
      </p:sp>
      <p:pic>
        <p:nvPicPr>
          <p:cNvPr id="3074" name="Picture 2" descr="Bodegas de insumos y farmacia en el Hospital de Quilpué: Equipo de trabajo  en búsqueda de la transformación “Lean” | SSVQ">
            <a:extLst>
              <a:ext uri="{FF2B5EF4-FFF2-40B4-BE49-F238E27FC236}">
                <a16:creationId xmlns:a16="http://schemas.microsoft.com/office/drawing/2014/main" id="{02452320-70CD-3196-14DC-4593E4583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24" y="1924870"/>
            <a:ext cx="6654901" cy="443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CF9CA9BD-B863-35D4-E9D8-4124B9DC2362}"/>
              </a:ext>
            </a:extLst>
          </p:cNvPr>
          <p:cNvSpPr txBox="1">
            <a:spLocks/>
          </p:cNvSpPr>
          <p:nvPr/>
        </p:nvSpPr>
        <p:spPr>
          <a:xfrm>
            <a:off x="7759283" y="1897115"/>
            <a:ext cx="3788243" cy="3818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>
                <a:latin typeface="+mn-lt"/>
                <a:cs typeface="Times New Roman" panose="02020603050405020304" pitchFamily="18" charset="0"/>
              </a:rPr>
              <a:t>Los dolores son problemas que se repiten constantemente, y que causan fallas en los sistemas. Antes de trabajar en n8n, pregúntate:</a:t>
            </a:r>
          </a:p>
          <a:p>
            <a:endParaRPr lang="es-MX" sz="1800" dirty="0"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+mn-lt"/>
                <a:cs typeface="Times New Roman" panose="02020603050405020304" pitchFamily="18" charset="0"/>
              </a:rPr>
              <a:t>¿Qué esta fallando?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+mn-lt"/>
                <a:cs typeface="Times New Roman" panose="02020603050405020304" pitchFamily="18" charset="0"/>
              </a:rPr>
              <a:t>¿Qué es lento, manual o repetitivo?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+mn-lt"/>
                <a:cs typeface="Times New Roman" panose="02020603050405020304" pitchFamily="18" charset="0"/>
              </a:rPr>
              <a:t>¿Dónde se pierde tiempo o dinero?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>
              <a:latin typeface="+mn-lt"/>
              <a:cs typeface="Times New Roman" panose="02020603050405020304" pitchFamily="18" charset="0"/>
            </a:endParaRPr>
          </a:p>
          <a:p>
            <a:r>
              <a:rPr lang="es-MX" sz="1800" dirty="0">
                <a:latin typeface="+mn-lt"/>
                <a:cs typeface="Times New Roman" panose="02020603050405020304" pitchFamily="18" charset="0"/>
              </a:rPr>
              <a:t>El problema no son las herramientas, sino más bien el </a:t>
            </a:r>
            <a:r>
              <a:rPr lang="es-MX" sz="1800" b="1" i="1" dirty="0">
                <a:latin typeface="+mn-lt"/>
                <a:cs typeface="Times New Roman" panose="02020603050405020304" pitchFamily="18" charset="0"/>
              </a:rPr>
              <a:t>foco</a:t>
            </a:r>
            <a:r>
              <a:rPr lang="es-MX" sz="1800" dirty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92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CEFAC-6FB6-929F-8D5D-B771384DB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BBA1962-2CC9-DE51-C5AF-A020D5129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409DD1-199F-4B45-46A8-F83ECD02C7B6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B95C6BF-C85F-E3F0-A225-B2901355E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3" y="43934"/>
            <a:ext cx="10585230" cy="1325563"/>
          </a:xfrm>
        </p:spPr>
        <p:txBody>
          <a:bodyPr>
            <a:normAutofit/>
          </a:bodyPr>
          <a:lstStyle/>
          <a:p>
            <a:r>
              <a:rPr lang="es-MX" sz="4800" b="1" i="1" dirty="0"/>
              <a:t>Imaginemos un caso...el problema del CV.</a:t>
            </a:r>
            <a:endParaRPr lang="es-CL" sz="4800" b="1" i="1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87209E8-29D7-0575-6791-572AD5DC0EBD}"/>
              </a:ext>
            </a:extLst>
          </p:cNvPr>
          <p:cNvSpPr txBox="1">
            <a:spLocks/>
          </p:cNvSpPr>
          <p:nvPr/>
        </p:nvSpPr>
        <p:spPr>
          <a:xfrm>
            <a:off x="2662239" y="1252499"/>
            <a:ext cx="6683324" cy="1742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100" i="1" dirty="0">
                <a:latin typeface="+mn-lt"/>
                <a:cs typeface="Times New Roman" panose="02020603050405020304" pitchFamily="18" charset="0"/>
              </a:rPr>
              <a:t>Tengo a mi equipo de recursos humanos que constantemente hace publicaciones de nuevos trabajos. Les llegan miles de correos a sus casillas, y gastan horas en leer cientos de correos.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4" name="Picture 6" descr="Cv Curriculum Vitae Trabajo - Gráficos ...">
            <a:extLst>
              <a:ext uri="{FF2B5EF4-FFF2-40B4-BE49-F238E27FC236}">
                <a16:creationId xmlns:a16="http://schemas.microsoft.com/office/drawing/2014/main" id="{4D9E42D4-C14B-B602-6322-5962B8493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74" y="2572482"/>
            <a:ext cx="1877963" cy="18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onoces los tipos de contratos? - GBS ...">
            <a:extLst>
              <a:ext uri="{FF2B5EF4-FFF2-40B4-BE49-F238E27FC236}">
                <a16:creationId xmlns:a16="http://schemas.microsoft.com/office/drawing/2014/main" id="{311C49AB-C797-3B99-D1E2-3902FB7CC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00" y="2490018"/>
            <a:ext cx="2394001" cy="18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5F5ADA7-C9A8-FE7E-872A-28DEB63E9EA2}"/>
              </a:ext>
            </a:extLst>
          </p:cNvPr>
          <p:cNvCxnSpPr/>
          <p:nvPr/>
        </p:nvCxnSpPr>
        <p:spPr>
          <a:xfrm>
            <a:off x="4724401" y="2995414"/>
            <a:ext cx="26923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0E237E7-E2E0-FDC0-43CB-DE1EAC48AC8C}"/>
              </a:ext>
            </a:extLst>
          </p:cNvPr>
          <p:cNvCxnSpPr>
            <a:cxnSpLocks/>
          </p:cNvCxnSpPr>
          <p:nvPr/>
        </p:nvCxnSpPr>
        <p:spPr>
          <a:xfrm flipH="1">
            <a:off x="4749825" y="3533775"/>
            <a:ext cx="26923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A6EA5632-1B31-0773-26DA-FCE6FEFF400A}"/>
              </a:ext>
            </a:extLst>
          </p:cNvPr>
          <p:cNvSpPr txBox="1">
            <a:spLocks/>
          </p:cNvSpPr>
          <p:nvPr/>
        </p:nvSpPr>
        <p:spPr>
          <a:xfrm>
            <a:off x="4452589" y="4472165"/>
            <a:ext cx="6683324" cy="2606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500" i="1" dirty="0">
                <a:latin typeface="+mn-lt"/>
                <a:cs typeface="Times New Roman" panose="02020603050405020304" pitchFamily="18" charset="0"/>
              </a:rPr>
              <a:t>Porque: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Repetitivo.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Información estructurada.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Consume tiempo humano.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Decisión inicial simple.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Entrada clara.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Output claro.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Escala mal manualmente.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100" i="1" dirty="0"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787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57B9-DC9F-EC68-F9E0-EB8D0F181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7441DD2-CAB8-6245-3FB7-68BA07DA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B7025F-5A51-C676-4E2E-2B64405A1BFC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92A0B2C-071D-FAEF-A6D5-F1689F2E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3" y="43934"/>
            <a:ext cx="10585230" cy="1325563"/>
          </a:xfrm>
        </p:spPr>
        <p:txBody>
          <a:bodyPr>
            <a:normAutofit/>
          </a:bodyPr>
          <a:lstStyle/>
          <a:p>
            <a:r>
              <a:rPr lang="es-MX" sz="4800" b="1" i="1" dirty="0"/>
              <a:t>Imaginemos un caso...el problema del CV.</a:t>
            </a:r>
            <a:endParaRPr lang="es-CL" sz="4800" b="1" i="1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C767445-4235-EFDB-8F38-00DF83B3FE21}"/>
              </a:ext>
            </a:extLst>
          </p:cNvPr>
          <p:cNvSpPr txBox="1">
            <a:spLocks/>
          </p:cNvSpPr>
          <p:nvPr/>
        </p:nvSpPr>
        <p:spPr>
          <a:xfrm>
            <a:off x="2662239" y="1252499"/>
            <a:ext cx="6683324" cy="17429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100" i="1" dirty="0">
                <a:latin typeface="+mn-lt"/>
                <a:cs typeface="Times New Roman" panose="02020603050405020304" pitchFamily="18" charset="0"/>
              </a:rPr>
              <a:t>Tengo a mi equipo de recursos humanos que constantemente hace publicaciones de nuevos trabajos. Les llegan miles de correos a sus casillas, y gastan horas en leer cientos de correos.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4" name="Picture 6" descr="Cv Curriculum Vitae Trabajo - Gráficos ...">
            <a:extLst>
              <a:ext uri="{FF2B5EF4-FFF2-40B4-BE49-F238E27FC236}">
                <a16:creationId xmlns:a16="http://schemas.microsoft.com/office/drawing/2014/main" id="{CC8D300D-F642-7F50-450A-F832718C5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174" y="2572482"/>
            <a:ext cx="1877963" cy="18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onoces los tipos de contratos? - GBS ...">
            <a:extLst>
              <a:ext uri="{FF2B5EF4-FFF2-40B4-BE49-F238E27FC236}">
                <a16:creationId xmlns:a16="http://schemas.microsoft.com/office/drawing/2014/main" id="{A2386932-6B5E-0F8F-DFC8-BE37C01CD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00" y="2490018"/>
            <a:ext cx="2394001" cy="18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B011E7E-70D6-48E5-4103-DA80785494EE}"/>
              </a:ext>
            </a:extLst>
          </p:cNvPr>
          <p:cNvCxnSpPr/>
          <p:nvPr/>
        </p:nvCxnSpPr>
        <p:spPr>
          <a:xfrm>
            <a:off x="4724401" y="2995414"/>
            <a:ext cx="26923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694243C-CFE6-A0D6-6F8D-4C6F5D06769E}"/>
              </a:ext>
            </a:extLst>
          </p:cNvPr>
          <p:cNvCxnSpPr>
            <a:cxnSpLocks/>
          </p:cNvCxnSpPr>
          <p:nvPr/>
        </p:nvCxnSpPr>
        <p:spPr>
          <a:xfrm flipH="1">
            <a:off x="4749825" y="3533775"/>
            <a:ext cx="26923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4B4F25CD-26AC-ED23-6060-041F89522651}"/>
              </a:ext>
            </a:extLst>
          </p:cNvPr>
          <p:cNvSpPr txBox="1">
            <a:spLocks/>
          </p:cNvSpPr>
          <p:nvPr/>
        </p:nvSpPr>
        <p:spPr>
          <a:xfrm>
            <a:off x="4452589" y="4472165"/>
            <a:ext cx="6683324" cy="2606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500" i="1" dirty="0">
                <a:latin typeface="+mn-lt"/>
                <a:cs typeface="Times New Roman" panose="02020603050405020304" pitchFamily="18" charset="0"/>
              </a:rPr>
              <a:t>Porque: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Repetitivo.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Información estructurada.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Consume tiempo humano.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Decisión inicial simple.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Entrada clara.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Output claro.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4500" i="1" dirty="0">
                <a:latin typeface="+mn-lt"/>
                <a:cs typeface="Times New Roman" panose="02020603050405020304" pitchFamily="18" charset="0"/>
              </a:rPr>
              <a:t>Escala mal manualmente.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100" i="1" dirty="0">
              <a:latin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2E9AC33-7B17-C6BB-BC75-F8BF202EB79A}"/>
              </a:ext>
            </a:extLst>
          </p:cNvPr>
          <p:cNvSpPr txBox="1">
            <a:spLocks/>
          </p:cNvSpPr>
          <p:nvPr/>
        </p:nvSpPr>
        <p:spPr>
          <a:xfrm>
            <a:off x="8381155" y="4207427"/>
            <a:ext cx="2489518" cy="2606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000" b="1" i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Perfecto.</a:t>
            </a:r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781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768C-4449-981F-8A2B-ECDE6FF5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294A2A4-3D89-E29F-145B-BEC5D109C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524B92-B661-A178-6328-92F2D5BE4DBA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659D688-5EB6-C4A2-B982-CF9C2384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3" y="412969"/>
            <a:ext cx="10585230" cy="1325563"/>
          </a:xfrm>
        </p:spPr>
        <p:txBody>
          <a:bodyPr>
            <a:normAutofit/>
          </a:bodyPr>
          <a:lstStyle/>
          <a:p>
            <a:r>
              <a:rPr lang="es-MX" sz="4800" b="1" i="1" dirty="0"/>
              <a:t>Proceso hace algunos años..</a:t>
            </a:r>
            <a:r>
              <a:rPr lang="es-MX" sz="4800" i="1" dirty="0"/>
              <a:t>.</a:t>
            </a:r>
            <a:endParaRPr lang="es-CL" sz="4800" i="1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96278FD-E69A-71E2-C92D-888ED8B26E62}"/>
              </a:ext>
            </a:extLst>
          </p:cNvPr>
          <p:cNvCxnSpPr>
            <a:cxnSpLocks/>
          </p:cNvCxnSpPr>
          <p:nvPr/>
        </p:nvCxnSpPr>
        <p:spPr>
          <a:xfrm>
            <a:off x="801963" y="2824162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F08E3D2E-7B90-5297-465A-C381197B2D4B}"/>
              </a:ext>
            </a:extLst>
          </p:cNvPr>
          <p:cNvSpPr/>
          <p:nvPr/>
        </p:nvSpPr>
        <p:spPr>
          <a:xfrm>
            <a:off x="2047875" y="2332954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2AE093-4AB2-A6F7-174A-C635E5BAC732}"/>
              </a:ext>
            </a:extLst>
          </p:cNvPr>
          <p:cNvSpPr txBox="1"/>
          <p:nvPr/>
        </p:nvSpPr>
        <p:spPr>
          <a:xfrm>
            <a:off x="4267200" y="3400425"/>
            <a:ext cx="2105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Casilla de correo de analista de RRHH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431CC33-53F3-CCBA-009B-7CF348B3FE23}"/>
              </a:ext>
            </a:extLst>
          </p:cNvPr>
          <p:cNvSpPr/>
          <p:nvPr/>
        </p:nvSpPr>
        <p:spPr>
          <a:xfrm>
            <a:off x="4589187" y="2309141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AD0F51D-7B3B-1921-DB93-B6C7715B6B29}"/>
              </a:ext>
            </a:extLst>
          </p:cNvPr>
          <p:cNvCxnSpPr>
            <a:cxnSpLocks/>
          </p:cNvCxnSpPr>
          <p:nvPr/>
        </p:nvCxnSpPr>
        <p:spPr>
          <a:xfrm>
            <a:off x="3343275" y="2804441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3E277D8-C555-58D9-CB96-C33C21E2E2BE}"/>
              </a:ext>
            </a:extLst>
          </p:cNvPr>
          <p:cNvSpPr txBox="1"/>
          <p:nvPr/>
        </p:nvSpPr>
        <p:spPr>
          <a:xfrm>
            <a:off x="1714500" y="3429000"/>
            <a:ext cx="2105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Portal de Empleo o publicación en LinkedIn sobre un trabajo.</a:t>
            </a:r>
          </a:p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Asunto: Docente de AI.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A2E7658-7488-1544-CA90-6C19C6F21402}"/>
              </a:ext>
            </a:extLst>
          </p:cNvPr>
          <p:cNvSpPr/>
          <p:nvPr/>
        </p:nvSpPr>
        <p:spPr>
          <a:xfrm>
            <a:off x="7149683" y="2332954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16B71B3-8309-DB50-AD0E-715E715D5304}"/>
              </a:ext>
            </a:extLst>
          </p:cNvPr>
          <p:cNvCxnSpPr>
            <a:cxnSpLocks/>
          </p:cNvCxnSpPr>
          <p:nvPr/>
        </p:nvCxnSpPr>
        <p:spPr>
          <a:xfrm>
            <a:off x="5903771" y="2804441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F634563-6D74-B8C0-971A-85BB8F3DC939}"/>
              </a:ext>
            </a:extLst>
          </p:cNvPr>
          <p:cNvSpPr txBox="1"/>
          <p:nvPr/>
        </p:nvSpPr>
        <p:spPr>
          <a:xfrm>
            <a:off x="6838124" y="3439418"/>
            <a:ext cx="2105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Analista tiene 200 correos de una postulación.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42408E0-51EE-F4C0-584B-811DF7516A2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445083" y="2828254"/>
            <a:ext cx="12267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B6D82DD-96BF-4B09-BE67-22A5CB651262}"/>
              </a:ext>
            </a:extLst>
          </p:cNvPr>
          <p:cNvSpPr/>
          <p:nvPr/>
        </p:nvSpPr>
        <p:spPr>
          <a:xfrm>
            <a:off x="9671811" y="2309141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91CB35F-E322-51D7-38B4-4C2BF566A1AB}"/>
              </a:ext>
            </a:extLst>
          </p:cNvPr>
          <p:cNvSpPr txBox="1"/>
          <p:nvPr/>
        </p:nvSpPr>
        <p:spPr>
          <a:xfrm>
            <a:off x="9338534" y="1334315"/>
            <a:ext cx="2105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cs typeface="Times New Roman" panose="02020603050405020304" pitchFamily="18" charset="0"/>
              </a:rPr>
              <a:t>Analista lee máximo los primeros 20 correos. Se canso.</a:t>
            </a:r>
            <a:endParaRPr lang="es-MX" sz="1800" i="1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21851458-819B-9A97-A6C2-DD79A855F7D8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0319511" y="3299741"/>
            <a:ext cx="0" cy="17199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E9EEE0-730A-3E9B-A460-843FB63709A8}"/>
              </a:ext>
            </a:extLst>
          </p:cNvPr>
          <p:cNvSpPr/>
          <p:nvPr/>
        </p:nvSpPr>
        <p:spPr>
          <a:xfrm>
            <a:off x="9738486" y="5019675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2FEADC-5EF5-E3E9-E5CB-7FBD67F11048}"/>
              </a:ext>
            </a:extLst>
          </p:cNvPr>
          <p:cNvSpPr txBox="1"/>
          <p:nvPr/>
        </p:nvSpPr>
        <p:spPr>
          <a:xfrm>
            <a:off x="10319511" y="4290341"/>
            <a:ext cx="1797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cs typeface="Times New Roman" panose="02020603050405020304" pitchFamily="18" charset="0"/>
              </a:rPr>
              <a:t>Le gustaron 5. Los llama.</a:t>
            </a:r>
            <a:endParaRPr lang="es-MX" sz="1800" i="1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FC809CB-D491-D9AA-17B1-8A7A96A43C63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7362825" y="5514975"/>
            <a:ext cx="23756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8233543-EB17-B76C-0F2F-A2F74B6A4BB2}"/>
              </a:ext>
            </a:extLst>
          </p:cNvPr>
          <p:cNvSpPr txBox="1"/>
          <p:nvPr/>
        </p:nvSpPr>
        <p:spPr>
          <a:xfrm>
            <a:off x="7526479" y="4626531"/>
            <a:ext cx="17975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Tres le parecieron bien, así que coordina entrevista.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FA26C-87C2-05EA-36F4-943DDEE767E0}"/>
              </a:ext>
            </a:extLst>
          </p:cNvPr>
          <p:cNvSpPr/>
          <p:nvPr/>
        </p:nvSpPr>
        <p:spPr>
          <a:xfrm>
            <a:off x="6067425" y="5043488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66C1943-5045-BE5F-52C3-8A40078929DF}"/>
              </a:ext>
            </a:extLst>
          </p:cNvPr>
          <p:cNvCxnSpPr>
            <a:cxnSpLocks/>
          </p:cNvCxnSpPr>
          <p:nvPr/>
        </p:nvCxnSpPr>
        <p:spPr>
          <a:xfrm flipH="1">
            <a:off x="3966231" y="5514975"/>
            <a:ext cx="2101194" cy="23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E679313-6984-1FD0-1DD2-E7B77417BBE5}"/>
              </a:ext>
            </a:extLst>
          </p:cNvPr>
          <p:cNvSpPr txBox="1"/>
          <p:nvPr/>
        </p:nvSpPr>
        <p:spPr>
          <a:xfrm>
            <a:off x="4106195" y="4674156"/>
            <a:ext cx="17975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Al jefe le gusto </a:t>
            </a:r>
            <a:r>
              <a:rPr lang="es-MX" sz="1400" i="1" dirty="0">
                <a:cs typeface="Times New Roman" panose="02020603050405020304" pitchFamily="18" charset="0"/>
              </a:rPr>
              <a:t>uno en la entrevista, y manda carta de contrato.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4F5AD2F-60F2-D979-F655-D48D61DE529A}"/>
              </a:ext>
            </a:extLst>
          </p:cNvPr>
          <p:cNvSpPr/>
          <p:nvPr/>
        </p:nvSpPr>
        <p:spPr>
          <a:xfrm>
            <a:off x="2670831" y="5043488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30981CF-8671-F02F-8FB5-C7D882CF2CFC}"/>
              </a:ext>
            </a:extLst>
          </p:cNvPr>
          <p:cNvSpPr/>
          <p:nvPr/>
        </p:nvSpPr>
        <p:spPr>
          <a:xfrm>
            <a:off x="390420" y="5029200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DD2B57F-C3D0-AAC1-E2F0-384E115B1F6A}"/>
              </a:ext>
            </a:extLst>
          </p:cNvPr>
          <p:cNvCxnSpPr>
            <a:cxnSpLocks/>
          </p:cNvCxnSpPr>
          <p:nvPr/>
        </p:nvCxnSpPr>
        <p:spPr>
          <a:xfrm flipH="1" flipV="1">
            <a:off x="1714500" y="5543550"/>
            <a:ext cx="956331" cy="4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89816B0-BD8E-D2DF-3804-CEA3E4C9EF00}"/>
              </a:ext>
            </a:extLst>
          </p:cNvPr>
          <p:cNvSpPr txBox="1"/>
          <p:nvPr/>
        </p:nvSpPr>
        <p:spPr>
          <a:xfrm>
            <a:off x="1340324" y="4721423"/>
            <a:ext cx="1797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Es contratado</a:t>
            </a:r>
            <a:r>
              <a:rPr lang="es-MX" sz="1400" i="1" dirty="0">
                <a:cs typeface="Times New Roman" panose="02020603050405020304" pitchFamily="18" charset="0"/>
              </a:rPr>
              <a:t>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2A47674-D3FE-650C-BD9A-AB33FD132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25" y="5191809"/>
            <a:ext cx="1050290" cy="64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28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5413-54D9-6469-B933-D169899A1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9A2869B5-CC34-2F84-66E2-77BB93EB0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293CD47-3F0C-455E-BE4C-1540DDBAD975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A9F327B-DB42-B248-DCE3-0C037C2EDA54}"/>
              </a:ext>
            </a:extLst>
          </p:cNvPr>
          <p:cNvCxnSpPr>
            <a:cxnSpLocks/>
          </p:cNvCxnSpPr>
          <p:nvPr/>
        </p:nvCxnSpPr>
        <p:spPr>
          <a:xfrm>
            <a:off x="801963" y="2824162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E218AFF-7A6D-5F87-6FB6-7DCC82161705}"/>
              </a:ext>
            </a:extLst>
          </p:cNvPr>
          <p:cNvSpPr/>
          <p:nvPr/>
        </p:nvSpPr>
        <p:spPr>
          <a:xfrm>
            <a:off x="2047875" y="2332954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13DF35-90B2-A219-16B3-0F833415AAC0}"/>
              </a:ext>
            </a:extLst>
          </p:cNvPr>
          <p:cNvSpPr txBox="1"/>
          <p:nvPr/>
        </p:nvSpPr>
        <p:spPr>
          <a:xfrm>
            <a:off x="4267200" y="3400425"/>
            <a:ext cx="2105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Casilla de correo de analista de RRHH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18E6AA6-5EE0-66EB-F852-03C31E0BEEE9}"/>
              </a:ext>
            </a:extLst>
          </p:cNvPr>
          <p:cNvSpPr/>
          <p:nvPr/>
        </p:nvSpPr>
        <p:spPr>
          <a:xfrm>
            <a:off x="4589187" y="2309141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CA0B007-4EC7-17DF-F89B-CD16B8285D19}"/>
              </a:ext>
            </a:extLst>
          </p:cNvPr>
          <p:cNvCxnSpPr>
            <a:cxnSpLocks/>
          </p:cNvCxnSpPr>
          <p:nvPr/>
        </p:nvCxnSpPr>
        <p:spPr>
          <a:xfrm>
            <a:off x="3343275" y="2804441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347D8AD-A519-2F09-ECBB-89020D350B9E}"/>
              </a:ext>
            </a:extLst>
          </p:cNvPr>
          <p:cNvSpPr txBox="1"/>
          <p:nvPr/>
        </p:nvSpPr>
        <p:spPr>
          <a:xfrm>
            <a:off x="1714500" y="3429000"/>
            <a:ext cx="2105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Portal de Empleo o publicación en LinkedIn sobre un trabajo.</a:t>
            </a:r>
          </a:p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Asunto: Docente de AI.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774A115-C755-A971-1811-EAF7D3CCDE4E}"/>
              </a:ext>
            </a:extLst>
          </p:cNvPr>
          <p:cNvSpPr/>
          <p:nvPr/>
        </p:nvSpPr>
        <p:spPr>
          <a:xfrm>
            <a:off x="7130499" y="2309141"/>
            <a:ext cx="1295400" cy="9906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113799F-94C6-C3AC-F94F-087DFA6BC070}"/>
              </a:ext>
            </a:extLst>
          </p:cNvPr>
          <p:cNvCxnSpPr>
            <a:cxnSpLocks/>
          </p:cNvCxnSpPr>
          <p:nvPr/>
        </p:nvCxnSpPr>
        <p:spPr>
          <a:xfrm>
            <a:off x="5903771" y="2804441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EC80F69-D64E-2892-C965-1FAA95730CA5}"/>
              </a:ext>
            </a:extLst>
          </p:cNvPr>
          <p:cNvSpPr txBox="1"/>
          <p:nvPr/>
        </p:nvSpPr>
        <p:spPr>
          <a:xfrm>
            <a:off x="6725686" y="1343668"/>
            <a:ext cx="2105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AI lee miles de CV, entrega ranking</a:t>
            </a:r>
            <a:r>
              <a:rPr lang="es-MX" i="1" dirty="0">
                <a:cs typeface="Times New Roman" panose="02020603050405020304" pitchFamily="18" charset="0"/>
              </a:rPr>
              <a:t> y</a:t>
            </a:r>
            <a:r>
              <a:rPr lang="es-MX" sz="1800" i="1" dirty="0">
                <a:latin typeface="+mn-lt"/>
                <a:cs typeface="Times New Roman" panose="02020603050405020304" pitchFamily="18" charset="0"/>
              </a:rPr>
              <a:t> comentario.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B9A55A1-F07E-3CC5-07C8-514F3C8DF138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425899" y="2804441"/>
            <a:ext cx="12267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00916DC-080E-A5F9-2870-BC33C0742C03}"/>
              </a:ext>
            </a:extLst>
          </p:cNvPr>
          <p:cNvSpPr/>
          <p:nvPr/>
        </p:nvSpPr>
        <p:spPr>
          <a:xfrm>
            <a:off x="9671811" y="2309141"/>
            <a:ext cx="1295400" cy="99060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35BE1C5-39B3-A17B-A991-FF41D8912051}"/>
              </a:ext>
            </a:extLst>
          </p:cNvPr>
          <p:cNvSpPr txBox="1"/>
          <p:nvPr/>
        </p:nvSpPr>
        <p:spPr>
          <a:xfrm>
            <a:off x="9338534" y="1315065"/>
            <a:ext cx="2105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Analista solo llama a los 5 mejores en base a la AI.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448420DB-2B33-A2DD-F06B-ACB52C48CC71}"/>
              </a:ext>
            </a:extLst>
          </p:cNvPr>
          <p:cNvCxnSpPr>
            <a:cxnSpLocks/>
          </p:cNvCxnSpPr>
          <p:nvPr/>
        </p:nvCxnSpPr>
        <p:spPr>
          <a:xfrm>
            <a:off x="10319511" y="3299741"/>
            <a:ext cx="0" cy="17199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E4121C0-505E-A311-2CB8-F70132B04E15}"/>
              </a:ext>
            </a:extLst>
          </p:cNvPr>
          <p:cNvSpPr/>
          <p:nvPr/>
        </p:nvSpPr>
        <p:spPr>
          <a:xfrm>
            <a:off x="9738486" y="5019675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7014D32-B418-CEA6-7765-2FCD5DF34412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7362825" y="5514975"/>
            <a:ext cx="23756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57F83ED-0745-473A-167B-CEFCFB4C839C}"/>
              </a:ext>
            </a:extLst>
          </p:cNvPr>
          <p:cNvSpPr/>
          <p:nvPr/>
        </p:nvSpPr>
        <p:spPr>
          <a:xfrm>
            <a:off x="6067425" y="5043488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FE3B7CB6-E9E9-021A-5093-74FDE3E5FDE9}"/>
              </a:ext>
            </a:extLst>
          </p:cNvPr>
          <p:cNvCxnSpPr>
            <a:cxnSpLocks/>
          </p:cNvCxnSpPr>
          <p:nvPr/>
        </p:nvCxnSpPr>
        <p:spPr>
          <a:xfrm flipH="1">
            <a:off x="3966231" y="5514975"/>
            <a:ext cx="2101194" cy="238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E34994A-62EA-AF08-B00F-436C8CB243A6}"/>
              </a:ext>
            </a:extLst>
          </p:cNvPr>
          <p:cNvSpPr txBox="1"/>
          <p:nvPr/>
        </p:nvSpPr>
        <p:spPr>
          <a:xfrm>
            <a:off x="4106195" y="4674156"/>
            <a:ext cx="17975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Al jefe le gusto </a:t>
            </a:r>
            <a:r>
              <a:rPr lang="es-MX" sz="1400" i="1" dirty="0">
                <a:cs typeface="Times New Roman" panose="02020603050405020304" pitchFamily="18" charset="0"/>
              </a:rPr>
              <a:t>uno en la entrevista, y manda carta de contrato.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E7E10A6-7F5E-34E4-A07D-F09C7D139876}"/>
              </a:ext>
            </a:extLst>
          </p:cNvPr>
          <p:cNvSpPr/>
          <p:nvPr/>
        </p:nvSpPr>
        <p:spPr>
          <a:xfrm>
            <a:off x="2670831" y="5043488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F4CF706-2035-EDAE-6DC0-80565E94D86A}"/>
              </a:ext>
            </a:extLst>
          </p:cNvPr>
          <p:cNvSpPr/>
          <p:nvPr/>
        </p:nvSpPr>
        <p:spPr>
          <a:xfrm>
            <a:off x="390420" y="5029200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B6F3D99-12BE-3FF2-16D1-778484496D55}"/>
              </a:ext>
            </a:extLst>
          </p:cNvPr>
          <p:cNvCxnSpPr>
            <a:cxnSpLocks/>
          </p:cNvCxnSpPr>
          <p:nvPr/>
        </p:nvCxnSpPr>
        <p:spPr>
          <a:xfrm flipH="1" flipV="1">
            <a:off x="1714500" y="5543550"/>
            <a:ext cx="956331" cy="4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18297AE-6E14-0C00-6910-6386AE68C8D3}"/>
              </a:ext>
            </a:extLst>
          </p:cNvPr>
          <p:cNvSpPr txBox="1"/>
          <p:nvPr/>
        </p:nvSpPr>
        <p:spPr>
          <a:xfrm>
            <a:off x="1340324" y="4721423"/>
            <a:ext cx="1797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Es contratado</a:t>
            </a:r>
            <a:r>
              <a:rPr lang="es-MX" sz="1400" i="1" dirty="0">
                <a:cs typeface="Times New Roman" panose="02020603050405020304" pitchFamily="18" charset="0"/>
              </a:rPr>
              <a:t>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6AC240DB-E10D-6A3B-C566-26758173B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25" y="5191809"/>
            <a:ext cx="1050290" cy="64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B8AA8266-E051-D2DD-7EB8-5521CC46A6C6}"/>
              </a:ext>
            </a:extLst>
          </p:cNvPr>
          <p:cNvSpPr txBox="1"/>
          <p:nvPr/>
        </p:nvSpPr>
        <p:spPr>
          <a:xfrm>
            <a:off x="7763268" y="4650343"/>
            <a:ext cx="17975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Tres le parecieron bien, así que coordina entrevista.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F139F54-1B20-55CC-1D1F-714BEC91781D}"/>
              </a:ext>
            </a:extLst>
          </p:cNvPr>
          <p:cNvSpPr txBox="1"/>
          <p:nvPr/>
        </p:nvSpPr>
        <p:spPr>
          <a:xfrm>
            <a:off x="1952625" y="6280367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cs typeface="Times New Roman" panose="02020603050405020304" pitchFamily="18" charset="0"/>
              </a:rPr>
              <a:t>El analista no pierde tiempo leyendo miles de correos, la AI </a:t>
            </a:r>
            <a:r>
              <a:rPr lang="es-MX" sz="2000" b="1" i="1" dirty="0">
                <a:cs typeface="Times New Roman" panose="02020603050405020304" pitchFamily="18" charset="0"/>
              </a:rPr>
              <a:t>remplaza</a:t>
            </a:r>
            <a:r>
              <a:rPr lang="es-MX" i="1" dirty="0">
                <a:cs typeface="Times New Roman" panose="02020603050405020304" pitchFamily="18" charset="0"/>
              </a:rPr>
              <a:t> esta tarea.</a:t>
            </a:r>
            <a:endParaRPr lang="es-MX" sz="18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2" name="Título 1">
            <a:extLst>
              <a:ext uri="{FF2B5EF4-FFF2-40B4-BE49-F238E27FC236}">
                <a16:creationId xmlns:a16="http://schemas.microsoft.com/office/drawing/2014/main" id="{6CA30536-B952-8328-8BD4-FE52473F18AC}"/>
              </a:ext>
            </a:extLst>
          </p:cNvPr>
          <p:cNvSpPr txBox="1">
            <a:spLocks/>
          </p:cNvSpPr>
          <p:nvPr/>
        </p:nvSpPr>
        <p:spPr>
          <a:xfrm>
            <a:off x="285443" y="412969"/>
            <a:ext cx="105852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800" b="1" i="1" dirty="0"/>
              <a:t>Proceso actual ..</a:t>
            </a:r>
            <a:r>
              <a:rPr lang="es-MX" sz="4800" i="1" dirty="0"/>
              <a:t>.</a:t>
            </a:r>
            <a:endParaRPr lang="es-CL" sz="4800" i="1" dirty="0"/>
          </a:p>
        </p:txBody>
      </p:sp>
    </p:spTree>
    <p:extLst>
      <p:ext uri="{BB962C8B-B14F-4D97-AF65-F5344CB8AC3E}">
        <p14:creationId xmlns:p14="http://schemas.microsoft.com/office/powerpoint/2010/main" val="411787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170A3-5ADA-A7E9-EF38-FAB6B590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6E22813A-7858-EAEC-2273-6CD3CF5E8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11F01F-13A9-6932-C0EE-A8F4824A7F53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C4DFBB9-A596-6905-5174-591FDF40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3" y="384271"/>
            <a:ext cx="10585230" cy="1325563"/>
          </a:xfrm>
        </p:spPr>
        <p:txBody>
          <a:bodyPr>
            <a:normAutofit fontScale="90000"/>
          </a:bodyPr>
          <a:lstStyle/>
          <a:p>
            <a:r>
              <a:rPr lang="es-CL" sz="4800" b="1" i="1" dirty="0"/>
              <a:t>Divide and </a:t>
            </a:r>
            <a:r>
              <a:rPr lang="es-CL" sz="4800" b="1" i="1" dirty="0" err="1"/>
              <a:t>conquer</a:t>
            </a:r>
            <a:r>
              <a:rPr lang="es-MX" sz="4800" b="1" i="1" dirty="0"/>
              <a:t>: </a:t>
            </a:r>
            <a:r>
              <a:rPr lang="es-MX" sz="4800" i="1" dirty="0"/>
              <a:t>¿Cómo descomponer el proceso?</a:t>
            </a:r>
            <a:endParaRPr lang="es-CL" sz="4800" i="1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D4505D6-5DAE-8419-2B4A-1EEEE3025092}"/>
              </a:ext>
            </a:extLst>
          </p:cNvPr>
          <p:cNvCxnSpPr>
            <a:cxnSpLocks/>
          </p:cNvCxnSpPr>
          <p:nvPr/>
        </p:nvCxnSpPr>
        <p:spPr>
          <a:xfrm>
            <a:off x="792371" y="2555129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FE482085-0842-13A9-FD27-38018E60888C}"/>
              </a:ext>
            </a:extLst>
          </p:cNvPr>
          <p:cNvSpPr/>
          <p:nvPr/>
        </p:nvSpPr>
        <p:spPr>
          <a:xfrm>
            <a:off x="2038283" y="2059829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9A7B32-EEEF-3C73-0B0F-53E6611F1BEA}"/>
              </a:ext>
            </a:extLst>
          </p:cNvPr>
          <p:cNvSpPr txBox="1"/>
          <p:nvPr/>
        </p:nvSpPr>
        <p:spPr>
          <a:xfrm>
            <a:off x="4164288" y="3140274"/>
            <a:ext cx="2105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Casilla de correo de analista de RRHH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1BC060E-F693-F777-92EF-C6BADBBBEBF1}"/>
              </a:ext>
            </a:extLst>
          </p:cNvPr>
          <p:cNvSpPr/>
          <p:nvPr/>
        </p:nvSpPr>
        <p:spPr>
          <a:xfrm>
            <a:off x="4569101" y="2059829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CA704B0-DEC6-29AD-F8E4-FA9FDE8E41C2}"/>
              </a:ext>
            </a:extLst>
          </p:cNvPr>
          <p:cNvCxnSpPr>
            <a:cxnSpLocks/>
          </p:cNvCxnSpPr>
          <p:nvPr/>
        </p:nvCxnSpPr>
        <p:spPr>
          <a:xfrm>
            <a:off x="3333683" y="2555129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79DA80-2E92-6644-7440-6E8669F01132}"/>
              </a:ext>
            </a:extLst>
          </p:cNvPr>
          <p:cNvSpPr txBox="1"/>
          <p:nvPr/>
        </p:nvSpPr>
        <p:spPr>
          <a:xfrm>
            <a:off x="1647825" y="3140274"/>
            <a:ext cx="2105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latin typeface="+mn-lt"/>
                <a:cs typeface="Times New Roman" panose="02020603050405020304" pitchFamily="18" charset="0"/>
              </a:rPr>
              <a:t>Portal de Empleo o publicación en LinkedIn sobre un trabajo.</a:t>
            </a:r>
          </a:p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Asunto: Docente de AI.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155479B-E74B-8158-5C95-8C397C3BFE72}"/>
              </a:ext>
            </a:extLst>
          </p:cNvPr>
          <p:cNvSpPr/>
          <p:nvPr/>
        </p:nvSpPr>
        <p:spPr>
          <a:xfrm>
            <a:off x="7110413" y="2059829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0CA0678-F8D6-1A77-5326-C8C3CA144CD5}"/>
              </a:ext>
            </a:extLst>
          </p:cNvPr>
          <p:cNvCxnSpPr>
            <a:cxnSpLocks/>
          </p:cNvCxnSpPr>
          <p:nvPr/>
        </p:nvCxnSpPr>
        <p:spPr>
          <a:xfrm>
            <a:off x="5864501" y="2555129"/>
            <a:ext cx="1245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9D11F69-9369-324B-EA92-F11796F5146B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405813" y="2555129"/>
            <a:ext cx="12267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6DE8DBB-6E7F-5B1F-8930-E46CB615E406}"/>
              </a:ext>
            </a:extLst>
          </p:cNvPr>
          <p:cNvSpPr txBox="1"/>
          <p:nvPr/>
        </p:nvSpPr>
        <p:spPr>
          <a:xfrm>
            <a:off x="6795359" y="3140274"/>
            <a:ext cx="2105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¿Qué tengo que detectar?</a:t>
            </a:r>
          </a:p>
          <a:p>
            <a:pPr algn="ctr"/>
            <a:r>
              <a:rPr lang="es-MX" i="1" dirty="0">
                <a:cs typeface="Times New Roman" panose="02020603050405020304" pitchFamily="18" charset="0"/>
              </a:rPr>
              <a:t>Asunto y adjunto.</a:t>
            </a:r>
            <a:endParaRPr lang="es-MX" sz="18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41C878-34E9-C234-6CD8-3ACE156256D7}"/>
              </a:ext>
            </a:extLst>
          </p:cNvPr>
          <p:cNvSpPr/>
          <p:nvPr/>
        </p:nvSpPr>
        <p:spPr>
          <a:xfrm>
            <a:off x="9651725" y="1993154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44D7211-670E-76A9-817A-DBA982D1C889}"/>
              </a:ext>
            </a:extLst>
          </p:cNvPr>
          <p:cNvSpPr txBox="1"/>
          <p:nvPr/>
        </p:nvSpPr>
        <p:spPr>
          <a:xfrm>
            <a:off x="10247860" y="3050429"/>
            <a:ext cx="1854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i="1" dirty="0">
                <a:latin typeface="+mn-lt"/>
                <a:cs typeface="Times New Roman" panose="02020603050405020304" pitchFamily="18" charset="0"/>
              </a:rPr>
              <a:t>¿Qué hago con el adjunto?</a:t>
            </a:r>
          </a:p>
          <a:p>
            <a:pPr algn="ctr"/>
            <a:r>
              <a:rPr lang="es-MX" i="1" dirty="0">
                <a:cs typeface="Times New Roman" panose="02020603050405020304" pitchFamily="18" charset="0"/>
              </a:rPr>
              <a:t>Necesito un </a:t>
            </a:r>
            <a:r>
              <a:rPr lang="es-MX" i="1" dirty="0" err="1">
                <a:cs typeface="Times New Roman" panose="02020603050405020304" pitchFamily="18" charset="0"/>
              </a:rPr>
              <a:t>Bucket</a:t>
            </a:r>
            <a:r>
              <a:rPr lang="es-MX" i="1" dirty="0">
                <a:cs typeface="Times New Roman" panose="02020603050405020304" pitchFamily="18" charset="0"/>
              </a:rPr>
              <a:t>, Google Drive.</a:t>
            </a:r>
            <a:endParaRPr lang="es-MX" sz="18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3A1BED5-36D6-B396-F30A-F9110FDC15E5}"/>
              </a:ext>
            </a:extLst>
          </p:cNvPr>
          <p:cNvSpPr txBox="1"/>
          <p:nvPr/>
        </p:nvSpPr>
        <p:spPr>
          <a:xfrm>
            <a:off x="9367109" y="5873564"/>
            <a:ext cx="21050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i="1" dirty="0">
                <a:cs typeface="Times New Roman" panose="02020603050405020304" pitchFamily="18" charset="0"/>
              </a:rPr>
              <a:t>Lo guarde. ¿Cómo lo proceso?. (OCR, LLM)</a:t>
            </a:r>
            <a:endParaRPr lang="es-MX" sz="1800" i="1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CA4F50C-5800-4BF8-4ACE-49BFB6C63B83}"/>
              </a:ext>
            </a:extLst>
          </p:cNvPr>
          <p:cNvCxnSpPr>
            <a:cxnSpLocks/>
          </p:cNvCxnSpPr>
          <p:nvPr/>
        </p:nvCxnSpPr>
        <p:spPr>
          <a:xfrm>
            <a:off x="10299425" y="2999917"/>
            <a:ext cx="0" cy="17787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4CCFB24-26FA-EB8C-46BD-468A06AD5AF4}"/>
              </a:ext>
            </a:extLst>
          </p:cNvPr>
          <p:cNvSpPr/>
          <p:nvPr/>
        </p:nvSpPr>
        <p:spPr>
          <a:xfrm>
            <a:off x="9643063" y="4778663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BC7C4F6-249E-6165-1FDD-FC4B48471355}"/>
              </a:ext>
            </a:extLst>
          </p:cNvPr>
          <p:cNvCxnSpPr>
            <a:cxnSpLocks/>
            <a:stCxn id="42" idx="1"/>
          </p:cNvCxnSpPr>
          <p:nvPr/>
        </p:nvCxnSpPr>
        <p:spPr>
          <a:xfrm flipH="1">
            <a:off x="8591550" y="5273963"/>
            <a:ext cx="10515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F2B3DE9-3467-B074-2368-1751A58580E4}"/>
              </a:ext>
            </a:extLst>
          </p:cNvPr>
          <p:cNvSpPr/>
          <p:nvPr/>
        </p:nvSpPr>
        <p:spPr>
          <a:xfrm>
            <a:off x="7296150" y="4778663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5558351-426F-0A6F-6534-D932E03E6DD0}"/>
              </a:ext>
            </a:extLst>
          </p:cNvPr>
          <p:cNvSpPr txBox="1"/>
          <p:nvPr/>
        </p:nvSpPr>
        <p:spPr>
          <a:xfrm>
            <a:off x="6865555" y="4207552"/>
            <a:ext cx="21050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Lo procese. ¿Dónde esta la descripción del cargo? 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7FD205EE-D1FD-CEFB-38CF-DA09D5A2A156}"/>
              </a:ext>
            </a:extLst>
          </p:cNvPr>
          <p:cNvCxnSpPr>
            <a:cxnSpLocks/>
          </p:cNvCxnSpPr>
          <p:nvPr/>
        </p:nvCxnSpPr>
        <p:spPr>
          <a:xfrm flipH="1">
            <a:off x="6244637" y="5229615"/>
            <a:ext cx="10515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0C449015-021B-1387-9770-0CF46DB6AF6D}"/>
              </a:ext>
            </a:extLst>
          </p:cNvPr>
          <p:cNvSpPr/>
          <p:nvPr/>
        </p:nvSpPr>
        <p:spPr>
          <a:xfrm>
            <a:off x="4923455" y="4778663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44876E5-D155-DB00-D0C4-486EB41CCD1C}"/>
              </a:ext>
            </a:extLst>
          </p:cNvPr>
          <p:cNvSpPr txBox="1"/>
          <p:nvPr/>
        </p:nvSpPr>
        <p:spPr>
          <a:xfrm>
            <a:off x="4569101" y="5872407"/>
            <a:ext cx="24317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i="1" dirty="0">
                <a:cs typeface="Times New Roman" panose="02020603050405020304" pitchFamily="18" charset="0"/>
              </a:rPr>
              <a:t>Tengo la información del candidato y la descripción de la oferta. ¿Cómo lo comparo?. (Modelo, LLM, </a:t>
            </a:r>
            <a:r>
              <a:rPr lang="es-MX" sz="1400" i="1" dirty="0" err="1">
                <a:cs typeface="Times New Roman" panose="02020603050405020304" pitchFamily="18" charset="0"/>
              </a:rPr>
              <a:t>etc</a:t>
            </a:r>
            <a:r>
              <a:rPr lang="es-MX" sz="1400" i="1" dirty="0">
                <a:cs typeface="Times New Roman" panose="02020603050405020304" pitchFamily="18" charset="0"/>
              </a:rPr>
              <a:t>)</a:t>
            </a:r>
            <a:endParaRPr lang="es-MX" sz="14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667FC7A2-C4F3-E93D-252A-431F110049EC}"/>
              </a:ext>
            </a:extLst>
          </p:cNvPr>
          <p:cNvSpPr/>
          <p:nvPr/>
        </p:nvSpPr>
        <p:spPr>
          <a:xfrm>
            <a:off x="2954573" y="4778663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B402AEC9-296B-67E4-A218-E7B950B27C79}"/>
              </a:ext>
            </a:extLst>
          </p:cNvPr>
          <p:cNvCxnSpPr>
            <a:cxnSpLocks/>
            <a:stCxn id="51" idx="1"/>
            <a:endCxn id="53" idx="3"/>
          </p:cNvCxnSpPr>
          <p:nvPr/>
        </p:nvCxnSpPr>
        <p:spPr>
          <a:xfrm flipH="1">
            <a:off x="4249973" y="5273963"/>
            <a:ext cx="6734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F6CA441-6393-3CE4-B190-6002EC6123BB}"/>
              </a:ext>
            </a:extLst>
          </p:cNvPr>
          <p:cNvSpPr txBox="1"/>
          <p:nvPr/>
        </p:nvSpPr>
        <p:spPr>
          <a:xfrm>
            <a:off x="2538608" y="4157186"/>
            <a:ext cx="215888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i="1" dirty="0">
                <a:latin typeface="+mn-lt"/>
                <a:cs typeface="Times New Roman" panose="02020603050405020304" pitchFamily="18" charset="0"/>
              </a:rPr>
              <a:t>Tengo la comparación. Tengo un score y recomendación.</a:t>
            </a:r>
          </a:p>
          <a:p>
            <a:pPr algn="ctr"/>
            <a:r>
              <a:rPr lang="es-MX" sz="1100" i="1" dirty="0">
                <a:cs typeface="Times New Roman" panose="02020603050405020304" pitchFamily="18" charset="0"/>
              </a:rPr>
              <a:t>¿Dónde lo muestro?</a:t>
            </a:r>
            <a:endParaRPr lang="es-MX" sz="1100" i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E8FE48C1-A5DF-4B2B-31FA-F642F4150839}"/>
              </a:ext>
            </a:extLst>
          </p:cNvPr>
          <p:cNvSpPr/>
          <p:nvPr/>
        </p:nvSpPr>
        <p:spPr>
          <a:xfrm>
            <a:off x="683292" y="4730772"/>
            <a:ext cx="12954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343CBC38-3936-91E3-6273-9A82D7D82570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1978692" y="5273963"/>
            <a:ext cx="9758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575013CF-7325-CC07-5D83-BEB3CA82563A}"/>
              </a:ext>
            </a:extLst>
          </p:cNvPr>
          <p:cNvSpPr txBox="1"/>
          <p:nvPr/>
        </p:nvSpPr>
        <p:spPr>
          <a:xfrm>
            <a:off x="265399" y="5790577"/>
            <a:ext cx="2158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i="1" dirty="0">
                <a:latin typeface="+mn-lt"/>
                <a:cs typeface="Times New Roman" panose="02020603050405020304" pitchFamily="18" charset="0"/>
              </a:rPr>
              <a:t>El analista tiene un </a:t>
            </a:r>
            <a:r>
              <a:rPr lang="es-MX" sz="1100" i="1" dirty="0" err="1">
                <a:latin typeface="+mn-lt"/>
                <a:cs typeface="Times New Roman" panose="02020603050405020304" pitchFamily="18" charset="0"/>
              </a:rPr>
              <a:t>dashboard</a:t>
            </a:r>
            <a:r>
              <a:rPr lang="es-MX" sz="1100" i="1" dirty="0">
                <a:latin typeface="+mn-lt"/>
                <a:cs typeface="Times New Roman" panose="02020603050405020304" pitchFamily="18" charset="0"/>
              </a:rPr>
              <a:t> o sistema donde ve </a:t>
            </a:r>
            <a:r>
              <a:rPr lang="es-MX" sz="1100" i="1" dirty="0">
                <a:cs typeface="Times New Roman" panose="02020603050405020304" pitchFamily="18" charset="0"/>
              </a:rPr>
              <a:t>e</a:t>
            </a:r>
            <a:r>
              <a:rPr lang="es-MX" sz="1100" i="1" dirty="0">
                <a:latin typeface="+mn-lt"/>
                <a:cs typeface="Times New Roman" panose="02020603050405020304" pitchFamily="18" charset="0"/>
              </a:rPr>
              <a:t>l score, información del candidato y el CV. </a:t>
            </a:r>
          </a:p>
          <a:p>
            <a:pPr algn="ctr"/>
            <a:r>
              <a:rPr lang="es-MX" sz="1100" b="1" i="1" dirty="0">
                <a:cs typeface="Times New Roman" panose="02020603050405020304" pitchFamily="18" charset="0"/>
              </a:rPr>
              <a:t>Listo para actuar.</a:t>
            </a:r>
            <a:endParaRPr lang="es-MX" sz="1100" b="1" i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24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66D2-0D1D-1417-089D-742CAB14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AE9B4B34-444E-2911-DE3B-132E62C6F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EB4C15-FB8A-BE51-B365-8EBB433FB1FD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EEE8E80-5C83-6C6A-7155-902B7098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98" y="2458023"/>
            <a:ext cx="10585230" cy="1325563"/>
          </a:xfrm>
        </p:spPr>
        <p:txBody>
          <a:bodyPr>
            <a:normAutofit fontScale="90000"/>
          </a:bodyPr>
          <a:lstStyle/>
          <a:p>
            <a:r>
              <a:rPr lang="es-MX" sz="4800" b="1" i="1" dirty="0"/>
              <a:t>Enfóquense</a:t>
            </a:r>
            <a:r>
              <a:rPr lang="es-MX" sz="4800" i="1" dirty="0"/>
              <a:t> como la tecnología ayuda a las personas.</a:t>
            </a:r>
            <a:br>
              <a:rPr lang="es-MX" sz="4800" i="1" dirty="0"/>
            </a:br>
            <a:br>
              <a:rPr lang="es-MX" sz="4800" i="1" dirty="0"/>
            </a:br>
            <a:r>
              <a:rPr lang="es-MX" sz="4800" i="1" dirty="0"/>
              <a:t>En teoría, la tecnología nos debería dar más tiempo, no menos.</a:t>
            </a:r>
            <a:endParaRPr lang="es-CL" sz="4800" i="1" dirty="0"/>
          </a:p>
        </p:txBody>
      </p:sp>
    </p:spTree>
    <p:extLst>
      <p:ext uri="{BB962C8B-B14F-4D97-AF65-F5344CB8AC3E}">
        <p14:creationId xmlns:p14="http://schemas.microsoft.com/office/powerpoint/2010/main" val="419697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D13B5-24DE-DDFB-7525-EF9EC5EA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FF8BDC32-EC03-22EE-902E-55520CA4F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DF157C0-EBE5-2913-3478-B69680B49B2E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E0459B2-4316-3EA9-63F0-4254AE96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83" y="676848"/>
            <a:ext cx="10585230" cy="1325563"/>
          </a:xfrm>
        </p:spPr>
        <p:txBody>
          <a:bodyPr>
            <a:normAutofit fontScale="90000"/>
          </a:bodyPr>
          <a:lstStyle/>
          <a:p>
            <a:r>
              <a:rPr lang="es-MX" sz="4800" i="1" dirty="0"/>
              <a:t>Si yo quisiera contratar a alguien que sepa n8n..¿Que buscaría?</a:t>
            </a:r>
            <a:endParaRPr lang="es-CL" sz="4800" i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295D977-19E2-FC43-26E4-35ED4560FC95}"/>
              </a:ext>
            </a:extLst>
          </p:cNvPr>
          <p:cNvCxnSpPr>
            <a:cxnSpLocks/>
          </p:cNvCxnSpPr>
          <p:nvPr/>
        </p:nvCxnSpPr>
        <p:spPr>
          <a:xfrm>
            <a:off x="1724025" y="2215391"/>
            <a:ext cx="2085975" cy="20994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BFB7BB3-E7E5-066A-0C7C-464E59EF80CA}"/>
              </a:ext>
            </a:extLst>
          </p:cNvPr>
          <p:cNvSpPr txBox="1"/>
          <p:nvPr/>
        </p:nvSpPr>
        <p:spPr>
          <a:xfrm>
            <a:off x="3905250" y="2361396"/>
            <a:ext cx="68389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>
                <a:latin typeface="+mn-lt"/>
                <a:cs typeface="Times New Roman" panose="02020603050405020304" pitchFamily="18" charset="0"/>
              </a:rPr>
              <a:t>Alguien que entienda de procesos, y que sepa “</a:t>
            </a:r>
            <a:r>
              <a:rPr lang="es-MX" sz="2800" dirty="0"/>
              <a:t>separar la paja del trigo”.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Estandarizar los procesos de n8n. Lo que no se mide, no se puede mejorar. Estandarización, control y monitoreo. (costos).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Construir un flujo para una persona es fácil, para miles de usuarios o empleados, no es tan trivial.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MX" sz="2800" dirty="0"/>
          </a:p>
          <a:p>
            <a:endParaRPr lang="es-MX" sz="2800" i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44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3967-85CB-6AB7-7D1C-A53E2934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9473609-044E-2D02-7FFA-AA56E80D7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9C0497-DE79-00A9-6EC8-2EE758F11DE6}"/>
              </a:ext>
            </a:extLst>
          </p:cNvPr>
          <p:cNvSpPr txBox="1">
            <a:spLocks/>
          </p:cNvSpPr>
          <p:nvPr/>
        </p:nvSpPr>
        <p:spPr>
          <a:xfrm>
            <a:off x="980081" y="1931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61AC1BC-25A8-FA81-5EF8-9E2DACCC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7" y="152779"/>
            <a:ext cx="10585230" cy="1325563"/>
          </a:xfrm>
        </p:spPr>
        <p:txBody>
          <a:bodyPr>
            <a:normAutofit fontScale="90000"/>
          </a:bodyPr>
          <a:lstStyle/>
          <a:p>
            <a:r>
              <a:rPr lang="es-MX" sz="4800" b="1" i="1" dirty="0"/>
              <a:t>¿Dónde aprender?: </a:t>
            </a:r>
            <a:r>
              <a:rPr lang="es-MX" sz="4800" i="1" dirty="0"/>
              <a:t>n8n, </a:t>
            </a:r>
            <a:r>
              <a:rPr lang="es-MX" sz="4800" i="1" dirty="0" err="1"/>
              <a:t>youtube</a:t>
            </a:r>
            <a:r>
              <a:rPr lang="es-MX" sz="4800" i="1" dirty="0"/>
              <a:t> y </a:t>
            </a:r>
            <a:r>
              <a:rPr lang="es-MX" sz="4800" i="1" dirty="0" err="1"/>
              <a:t>ChatGPT</a:t>
            </a:r>
            <a:r>
              <a:rPr lang="es-MX" sz="4800" i="1" dirty="0"/>
              <a:t>.</a:t>
            </a:r>
            <a:endParaRPr lang="es-CL" sz="4800" i="1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0E20FAF-729D-C25A-FF10-EDEEAA8A54F4}"/>
              </a:ext>
            </a:extLst>
          </p:cNvPr>
          <p:cNvCxnSpPr>
            <a:cxnSpLocks/>
          </p:cNvCxnSpPr>
          <p:nvPr/>
        </p:nvCxnSpPr>
        <p:spPr>
          <a:xfrm>
            <a:off x="1724025" y="2215391"/>
            <a:ext cx="2085975" cy="20994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3DD061CA-3582-5F57-1C8F-46F39B00D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24025"/>
            <a:ext cx="5258211" cy="409170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CFE607-D52D-4BAC-6356-C5FEDBA97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06" y="1724025"/>
            <a:ext cx="5104095" cy="446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13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C147-F5EE-5B2E-4018-23C9EA7A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CF0A182C-7B7C-BF43-F203-480917E69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59C6DCF-5F5C-95DB-B3FC-EF1DA35B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10" y="193100"/>
            <a:ext cx="11508175" cy="1325563"/>
          </a:xfrm>
        </p:spPr>
        <p:txBody>
          <a:bodyPr>
            <a:normAutofit/>
          </a:bodyPr>
          <a:lstStyle/>
          <a:p>
            <a:r>
              <a:rPr lang="es-MX" sz="3600" b="1" i="1" dirty="0"/>
              <a:t>Actividad 1: </a:t>
            </a:r>
            <a:r>
              <a:rPr lang="es-MX" sz="3600" i="1" dirty="0"/>
              <a:t>Trabajo de hoy.  </a:t>
            </a:r>
            <a:endParaRPr lang="es-CL" sz="3600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7ACFD69-A4D6-0523-A2BD-57010749A222}"/>
              </a:ext>
            </a:extLst>
          </p:cNvPr>
          <p:cNvSpPr txBox="1">
            <a:spLocks/>
          </p:cNvSpPr>
          <p:nvPr/>
        </p:nvSpPr>
        <p:spPr>
          <a:xfrm>
            <a:off x="803385" y="2141537"/>
            <a:ext cx="10585230" cy="3135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indent="-914400">
              <a:buFont typeface="+mj-lt"/>
              <a:buAutoNum type="arabicPeriod"/>
            </a:pPr>
            <a:r>
              <a:rPr lang="es-MX" sz="4300" dirty="0"/>
              <a:t>Construir un flujo </a:t>
            </a:r>
            <a:r>
              <a:rPr lang="es-MX" sz="4300" dirty="0" err="1"/>
              <a:t>end-to-end</a:t>
            </a:r>
            <a:r>
              <a:rPr lang="es-MX" sz="4300" dirty="0"/>
              <a:t> para un analista de recursos humanos, especializado en contratación de personas.</a:t>
            </a:r>
          </a:p>
          <a:p>
            <a:r>
              <a:rPr lang="es-MX" sz="4300" dirty="0"/>
              <a:t>Consideraciones: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MX" sz="4300" dirty="0"/>
              <a:t>N8n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MX" sz="4300" dirty="0"/>
              <a:t>Puedes usar tu mail para simularte como analista.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s-MX" sz="4300" dirty="0"/>
              <a:t>Usa tu CV como ejemplo.</a:t>
            </a:r>
          </a:p>
          <a:p>
            <a:endParaRPr lang="es-MX" sz="4800" i="1" dirty="0"/>
          </a:p>
          <a:p>
            <a:endParaRPr lang="es-CL" sz="4800" dirty="0"/>
          </a:p>
        </p:txBody>
      </p:sp>
    </p:spTree>
    <p:extLst>
      <p:ext uri="{BB962C8B-B14F-4D97-AF65-F5344CB8AC3E}">
        <p14:creationId xmlns:p14="http://schemas.microsoft.com/office/powerpoint/2010/main" val="1843484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3323</TotalTime>
  <Words>787</Words>
  <Application>Microsoft Office PowerPoint</Application>
  <PresentationFormat>Panorámica</PresentationFormat>
  <Paragraphs>125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Tema de Office</vt:lpstr>
      <vt:lpstr>Ingeniería de soluciones con AI</vt:lpstr>
      <vt:lpstr>Presentación de PowerPoint</vt:lpstr>
      <vt:lpstr>Plataforma de “Agentes”</vt:lpstr>
      <vt:lpstr>¿Qué realmente son?</vt:lpstr>
      <vt:lpstr>¿Qué realmente son?</vt:lpstr>
      <vt:lpstr>¿Qué necesito realmente?</vt:lpstr>
      <vt:lpstr>Antes de n8n… necesitamos saber cual es el problema o dolor.</vt:lpstr>
      <vt:lpstr>Imaginemos un caso...el problema del CV.</vt:lpstr>
      <vt:lpstr>Imaginemos un caso...el problema del CV.</vt:lpstr>
      <vt:lpstr>Proceso hace algunos años...</vt:lpstr>
      <vt:lpstr>Presentación de PowerPoint</vt:lpstr>
      <vt:lpstr>Divide and conquer: ¿Cómo descomponer el proceso?</vt:lpstr>
      <vt:lpstr>Enfóquense como la tecnología ayuda a las personas.  En teoría, la tecnología nos debería dar más tiempo, no menos.</vt:lpstr>
      <vt:lpstr>Si yo quisiera contratar a alguien que sepa n8n..¿Que buscaría?</vt:lpstr>
      <vt:lpstr>¿Dónde aprender?: n8n, youtube y ChatGPT.</vt:lpstr>
      <vt:lpstr>Actividad 1: Trabajo de hoy.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31</cp:revision>
  <dcterms:created xsi:type="dcterms:W3CDTF">2026-03-06T13:35:57Z</dcterms:created>
  <dcterms:modified xsi:type="dcterms:W3CDTF">2026-05-02T15:46:03Z</dcterms:modified>
</cp:coreProperties>
</file>