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8" r:id="rId3"/>
    <p:sldId id="318" r:id="rId4"/>
    <p:sldId id="328" r:id="rId5"/>
    <p:sldId id="319" r:id="rId6"/>
    <p:sldId id="320" r:id="rId7"/>
    <p:sldId id="321" r:id="rId8"/>
    <p:sldId id="322" r:id="rId9"/>
    <p:sldId id="323" r:id="rId10"/>
    <p:sldId id="324" r:id="rId11"/>
    <p:sldId id="325" r:id="rId12"/>
    <p:sldId id="331" r:id="rId13"/>
    <p:sldId id="327" r:id="rId14"/>
    <p:sldId id="326" r:id="rId15"/>
    <p:sldId id="329" r:id="rId16"/>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1" clrIdx="0">
    <p:extLst>
      <p:ext uri="{19B8F6BF-5375-455C-9EA6-DF929625EA0E}">
        <p15:presenceInfo xmlns:p15="http://schemas.microsoft.com/office/powerpoint/2012/main" userId="Lenov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Estilo temático 1 - Énfasis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75" autoAdjust="0"/>
    <p:restoredTop sz="70013" autoAdjust="0"/>
  </p:normalViewPr>
  <p:slideViewPr>
    <p:cSldViewPr snapToGrid="0">
      <p:cViewPr>
        <p:scale>
          <a:sx n="75" d="100"/>
          <a:sy n="75" d="100"/>
        </p:scale>
        <p:origin x="384" y="-8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BDCB0C-69E9-4911-980B-989A824EA717}" type="datetimeFigureOut">
              <a:rPr lang="es-CL" smtClean="0"/>
              <a:t>02-06-2026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07F482-7FF7-4DD4-AE91-ACA70D5B43D5}" type="slidenum">
              <a:rPr lang="es-CL" smtClean="0"/>
              <a:t>‹Nº›</a:t>
            </a:fld>
            <a:endParaRPr lang="es-CL"/>
          </a:p>
        </p:txBody>
      </p:sp>
    </p:spTree>
    <p:extLst>
      <p:ext uri="{BB962C8B-B14F-4D97-AF65-F5344CB8AC3E}">
        <p14:creationId xmlns:p14="http://schemas.microsoft.com/office/powerpoint/2010/main" val="22097968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12.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13.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14.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arxiv.org/abs/1810.05270" TargetMode="External"/><Relationship Id="rId2" Type="http://schemas.openxmlformats.org/officeDocument/2006/relationships/slide" Target="../slides/slide15.xml"/><Relationship Id="rId1" Type="http://schemas.openxmlformats.org/officeDocument/2006/relationships/notesMaster" Target="../notesMasters/notesMaster1.xml"/><Relationship Id="rId5" Type="http://schemas.openxmlformats.org/officeDocument/2006/relationships/hyperlink" Target="https://oreil.ly/qwlHE" TargetMode="External"/><Relationship Id="rId4" Type="http://schemas.openxmlformats.org/officeDocument/2006/relationships/hyperlink" Target="https://arxiv.org/abs/1710.01878"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A5AF6-B4C6-C968-D068-01E3B0A2147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97DAD7-8FE4-143F-0F5A-807B20FA2CB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00C2D25-6BCC-221D-3DF5-9EEF76148326}"/>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F24BECEF-7A2F-11EE-566F-E59E5FD1BA05}"/>
              </a:ext>
            </a:extLst>
          </p:cNvPr>
          <p:cNvSpPr>
            <a:spLocks noGrp="1"/>
          </p:cNvSpPr>
          <p:nvPr>
            <p:ph type="sldNum" sz="quarter" idx="5"/>
          </p:nvPr>
        </p:nvSpPr>
        <p:spPr/>
        <p:txBody>
          <a:bodyPr/>
          <a:lstStyle/>
          <a:p>
            <a:fld id="{2107F482-7FF7-4DD4-AE91-ACA70D5B43D5}" type="slidenum">
              <a:rPr lang="es-CL" smtClean="0"/>
              <a:t>12</a:t>
            </a:fld>
            <a:endParaRPr lang="es-CL"/>
          </a:p>
        </p:txBody>
      </p:sp>
    </p:spTree>
    <p:extLst>
      <p:ext uri="{BB962C8B-B14F-4D97-AF65-F5344CB8AC3E}">
        <p14:creationId xmlns:p14="http://schemas.microsoft.com/office/powerpoint/2010/main" val="4083460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EE34B-418D-F1C8-39BD-21F18E22AA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27EE9F-FA95-9EAD-52B2-3ACF88FFB8E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CD05585-C2E5-E766-9731-A37B8DB3EDDC}"/>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EF5FD247-E3B6-FFA7-73AC-AA6A82E5193E}"/>
              </a:ext>
            </a:extLst>
          </p:cNvPr>
          <p:cNvSpPr>
            <a:spLocks noGrp="1"/>
          </p:cNvSpPr>
          <p:nvPr>
            <p:ph type="sldNum" sz="quarter" idx="5"/>
          </p:nvPr>
        </p:nvSpPr>
        <p:spPr/>
        <p:txBody>
          <a:bodyPr/>
          <a:lstStyle/>
          <a:p>
            <a:fld id="{2107F482-7FF7-4DD4-AE91-ACA70D5B43D5}" type="slidenum">
              <a:rPr lang="es-CL" smtClean="0"/>
              <a:t>13</a:t>
            </a:fld>
            <a:endParaRPr lang="es-CL"/>
          </a:p>
        </p:txBody>
      </p:sp>
    </p:spTree>
    <p:extLst>
      <p:ext uri="{BB962C8B-B14F-4D97-AF65-F5344CB8AC3E}">
        <p14:creationId xmlns:p14="http://schemas.microsoft.com/office/powerpoint/2010/main" val="42537172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p:cNvSpPr>
            <a:spLocks noGrp="1"/>
          </p:cNvSpPr>
          <p:nvPr>
            <p:ph type="sldNum" sz="quarter" idx="5"/>
          </p:nvPr>
        </p:nvSpPr>
        <p:spPr/>
        <p:txBody>
          <a:bodyPr/>
          <a:lstStyle/>
          <a:p>
            <a:fld id="{2107F482-7FF7-4DD4-AE91-ACA70D5B43D5}" type="slidenum">
              <a:rPr lang="es-CL" smtClean="0"/>
              <a:t>14</a:t>
            </a:fld>
            <a:endParaRPr lang="es-CL"/>
          </a:p>
        </p:txBody>
      </p:sp>
    </p:spTree>
    <p:extLst>
      <p:ext uri="{BB962C8B-B14F-4D97-AF65-F5344CB8AC3E}">
        <p14:creationId xmlns:p14="http://schemas.microsoft.com/office/powerpoint/2010/main" val="1126274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CE99D-1871-0F35-B1DA-8F946AFC665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8967999-0166-C84E-263B-AC9DD4F2159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80FD80E-89F6-7102-E28A-48E000849C3B}"/>
              </a:ext>
            </a:extLst>
          </p:cNvPr>
          <p:cNvSpPr>
            <a:spLocks noGrp="1"/>
          </p:cNvSpPr>
          <p:nvPr>
            <p:ph type="body" idx="1"/>
          </p:nvPr>
        </p:nvSpPr>
        <p:spPr/>
        <p:txBody>
          <a:bodyPr/>
          <a:lstStyle/>
          <a:p>
            <a:pPr fontAlgn="base"/>
            <a:r>
              <a:rPr lang="en-US" sz="1200" b="0" i="0" kern="1200" dirty="0">
                <a:solidFill>
                  <a:schemeClr val="tx1"/>
                </a:solidFill>
                <a:effectLst/>
                <a:latin typeface="+mn-lt"/>
                <a:ea typeface="+mn-ea"/>
                <a:cs typeface="+mn-cs"/>
              </a:rPr>
              <a:t>Model distillation suggests that it’s possible to capture a large model’s behaviors using fewer parameters. Could it be that within the large model, there exists a subset of parameters capable of capturing the entire model’s behavior? This is the core concept behind pruning.</a:t>
            </a:r>
          </a:p>
          <a:p>
            <a:pPr fontAlgn="base"/>
            <a:r>
              <a:rPr lang="en-US" sz="1200" b="0" i="0" kern="1200" dirty="0">
                <a:solidFill>
                  <a:schemeClr val="tx1"/>
                </a:solidFill>
                <a:effectLst/>
                <a:latin typeface="+mn-lt"/>
                <a:ea typeface="+mn-ea"/>
                <a:cs typeface="+mn-cs"/>
              </a:rPr>
              <a:t>Pruning, in the context of neural networks, has two meanings. One is to remove entire nodes of a neural network, which means changing its architecture and reducing its number of parameters. Another is to find parameters least useful to predictions and set them to zero. In this case, pruning doesn’t reduce the total number of parameters, only the number of non-zero parameters. This makes the model more sparse, which both reduces the model’s storage space and speeds up computation.</a:t>
            </a:r>
          </a:p>
          <a:p>
            <a:pPr fontAlgn="base"/>
            <a:r>
              <a:rPr lang="en-US" sz="1200" b="0" i="0" kern="1200" dirty="0">
                <a:solidFill>
                  <a:schemeClr val="tx1"/>
                </a:solidFill>
                <a:effectLst/>
                <a:latin typeface="+mn-lt"/>
                <a:ea typeface="+mn-ea"/>
                <a:cs typeface="+mn-cs"/>
              </a:rPr>
              <a:t>Pruned models can be used as-is or be further finetuned to adjust the remaining parameters and restore any performance degradation caused by the pruning process. Pruning can help discover promising model architectures (</a:t>
            </a:r>
            <a:r>
              <a:rPr lang="en-US" sz="1200" b="0" i="0" u="sng" kern="1200" dirty="0">
                <a:solidFill>
                  <a:schemeClr val="tx1"/>
                </a:solidFill>
                <a:effectLst/>
                <a:latin typeface="+mn-lt"/>
                <a:ea typeface="+mn-ea"/>
                <a:cs typeface="+mn-cs"/>
                <a:hlinkClick r:id="rId3"/>
              </a:rPr>
              <a:t>Liu et al., 2018</a:t>
            </a:r>
            <a:r>
              <a:rPr lang="en-US" sz="1200" b="0" i="0" kern="1200" dirty="0">
                <a:solidFill>
                  <a:schemeClr val="tx1"/>
                </a:solidFill>
                <a:effectLst/>
                <a:latin typeface="+mn-lt"/>
                <a:ea typeface="+mn-ea"/>
                <a:cs typeface="+mn-cs"/>
              </a:rPr>
              <a:t>). These pruned architectures, smaller than the pre-pruned architectures, can also be trained from scratch (</a:t>
            </a:r>
            <a:r>
              <a:rPr lang="en-US" sz="1200" b="0" i="0" u="sng" kern="1200" dirty="0">
                <a:solidFill>
                  <a:schemeClr val="tx1"/>
                </a:solidFill>
                <a:effectLst/>
                <a:latin typeface="+mn-lt"/>
                <a:ea typeface="+mn-ea"/>
                <a:cs typeface="+mn-cs"/>
                <a:hlinkClick r:id="rId4"/>
              </a:rPr>
              <a:t>Zhu et al., 2017</a:t>
            </a:r>
            <a:r>
              <a:rPr lang="en-US" sz="1200" b="0" i="0" kern="1200" dirty="0">
                <a:solidFill>
                  <a:schemeClr val="tx1"/>
                </a:solidFill>
                <a:effectLst/>
                <a:latin typeface="+mn-lt"/>
                <a:ea typeface="+mn-ea"/>
                <a:cs typeface="+mn-cs"/>
              </a:rPr>
              <a:t>).</a:t>
            </a:r>
          </a:p>
          <a:p>
            <a:pPr fontAlgn="base"/>
            <a:r>
              <a:rPr lang="en-US" sz="1200" b="0" i="0" kern="1200" dirty="0">
                <a:solidFill>
                  <a:schemeClr val="tx1"/>
                </a:solidFill>
                <a:effectLst/>
                <a:latin typeface="+mn-lt"/>
                <a:ea typeface="+mn-ea"/>
                <a:cs typeface="+mn-cs"/>
              </a:rPr>
              <a:t>In the literature, there have been many encouraging pruning results. For example, </a:t>
            </a:r>
            <a:r>
              <a:rPr lang="en-US" sz="1200" b="0" i="0" u="sng" kern="1200" dirty="0">
                <a:solidFill>
                  <a:schemeClr val="tx1"/>
                </a:solidFill>
                <a:effectLst/>
                <a:latin typeface="+mn-lt"/>
                <a:ea typeface="+mn-ea"/>
                <a:cs typeface="+mn-cs"/>
                <a:hlinkClick r:id="rId5"/>
              </a:rPr>
              <a:t>Frankle and Carbin (2019)</a:t>
            </a:r>
            <a:r>
              <a:rPr lang="en-US" sz="1200" b="0" i="0" kern="1200" dirty="0">
                <a:solidFill>
                  <a:schemeClr val="tx1"/>
                </a:solidFill>
                <a:effectLst/>
                <a:latin typeface="+mn-lt"/>
                <a:ea typeface="+mn-ea"/>
                <a:cs typeface="+mn-cs"/>
              </a:rPr>
              <a:t> showed that pruning techniques can reduce the non-zero parameter counts of certain trained networks by over 90%, decreasing memory footprints and improving speed without compromising accuracy. However, in practice, as of this writing, pruning is less common. It’s harder to do, as it requires an understanding of the original model’s architecture, and the performance boost it can bring is often much less than that of other approaches. Pruning also results in sparse models, and not all hardware architectures are designed to take advantage of the resulting sparsity.</a:t>
            </a:r>
          </a:p>
          <a:p>
            <a:pPr fontAlgn="base"/>
            <a:r>
              <a:rPr lang="en-US" sz="1200" b="0" i="1" kern="1200" dirty="0">
                <a:solidFill>
                  <a:schemeClr val="tx1"/>
                </a:solidFill>
                <a:effectLst/>
                <a:latin typeface="+mn-lt"/>
                <a:ea typeface="+mn-ea"/>
                <a:cs typeface="+mn-cs"/>
              </a:rPr>
              <a:t>Weight-only quantization is by far the most popular approach since it’s easy to use, works out of the box for many models, and is extremely effective.</a:t>
            </a:r>
            <a:r>
              <a:rPr lang="en-US" sz="1200" b="0" i="0" kern="1200" dirty="0">
                <a:solidFill>
                  <a:schemeClr val="tx1"/>
                </a:solidFill>
                <a:effectLst/>
                <a:latin typeface="+mn-lt"/>
                <a:ea typeface="+mn-ea"/>
                <a:cs typeface="+mn-cs"/>
              </a:rPr>
              <a:t> Reducing a model’s precision from 32 bits to 16 bits reduces its memory footprint by half. However, we’re close to the limit of quantization—we can’t go lower than 1 bit per value. Distillation is also common because it can result in a smaller model whose behavior is comparative to that of a much larger one for your needs.</a:t>
            </a:r>
          </a:p>
          <a:p>
            <a:endParaRPr lang="es-CL" dirty="0"/>
          </a:p>
        </p:txBody>
      </p:sp>
      <p:sp>
        <p:nvSpPr>
          <p:cNvPr id="4" name="Marcador de número de diapositiva 3">
            <a:extLst>
              <a:ext uri="{FF2B5EF4-FFF2-40B4-BE49-F238E27FC236}">
                <a16:creationId xmlns:a16="http://schemas.microsoft.com/office/drawing/2014/main" id="{F1354CB5-EA5E-3686-3A33-1F54A77BFDBC}"/>
              </a:ext>
            </a:extLst>
          </p:cNvPr>
          <p:cNvSpPr>
            <a:spLocks noGrp="1"/>
          </p:cNvSpPr>
          <p:nvPr>
            <p:ph type="sldNum" sz="quarter" idx="5"/>
          </p:nvPr>
        </p:nvSpPr>
        <p:spPr/>
        <p:txBody>
          <a:bodyPr/>
          <a:lstStyle/>
          <a:p>
            <a:fld id="{2107F482-7FF7-4DD4-AE91-ACA70D5B43D5}" type="slidenum">
              <a:rPr lang="es-CL" smtClean="0"/>
              <a:t>15</a:t>
            </a:fld>
            <a:endParaRPr lang="es-CL"/>
          </a:p>
        </p:txBody>
      </p:sp>
    </p:spTree>
    <p:extLst>
      <p:ext uri="{BB962C8B-B14F-4D97-AF65-F5344CB8AC3E}">
        <p14:creationId xmlns:p14="http://schemas.microsoft.com/office/powerpoint/2010/main" val="1053171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D1CEB3-5675-98F6-5555-EE13E992A56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F07ADF84-13F9-5B39-43F1-14E7D8EA08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49FA3DF8-0758-BF8A-9304-ECC31709A5D7}"/>
              </a:ext>
            </a:extLst>
          </p:cNvPr>
          <p:cNvSpPr>
            <a:spLocks noGrp="1"/>
          </p:cNvSpPr>
          <p:nvPr>
            <p:ph type="dt" sz="half" idx="10"/>
          </p:nvPr>
        </p:nvSpPr>
        <p:spPr/>
        <p:txBody>
          <a:bodyPr/>
          <a:lstStyle/>
          <a:p>
            <a:fld id="{E8BDA46D-A1A7-4D05-A86A-5A57D57622A5}" type="datetimeFigureOut">
              <a:rPr lang="es-CL" smtClean="0"/>
              <a:t>02-06-2026</a:t>
            </a:fld>
            <a:endParaRPr lang="es-CL"/>
          </a:p>
        </p:txBody>
      </p:sp>
      <p:sp>
        <p:nvSpPr>
          <p:cNvPr id="5" name="Marcador de pie de página 4">
            <a:extLst>
              <a:ext uri="{FF2B5EF4-FFF2-40B4-BE49-F238E27FC236}">
                <a16:creationId xmlns:a16="http://schemas.microsoft.com/office/drawing/2014/main" id="{E7A8AD70-F127-7BA6-5921-BCF78459803E}"/>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5809D2E-C8C8-DAE5-342D-7ACCCAC6D7F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4042806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2BA7-F473-4377-62A9-34C365181649}"/>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12876B6C-F6ED-E8B4-6256-B671D382415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E376944-86DF-A06F-F26C-EEAE33302DCB}"/>
              </a:ext>
            </a:extLst>
          </p:cNvPr>
          <p:cNvSpPr>
            <a:spLocks noGrp="1"/>
          </p:cNvSpPr>
          <p:nvPr>
            <p:ph type="dt" sz="half" idx="10"/>
          </p:nvPr>
        </p:nvSpPr>
        <p:spPr/>
        <p:txBody>
          <a:bodyPr/>
          <a:lstStyle/>
          <a:p>
            <a:fld id="{E8BDA46D-A1A7-4D05-A86A-5A57D57622A5}" type="datetimeFigureOut">
              <a:rPr lang="es-CL" smtClean="0"/>
              <a:t>02-06-2026</a:t>
            </a:fld>
            <a:endParaRPr lang="es-CL"/>
          </a:p>
        </p:txBody>
      </p:sp>
      <p:sp>
        <p:nvSpPr>
          <p:cNvPr id="5" name="Marcador de pie de página 4">
            <a:extLst>
              <a:ext uri="{FF2B5EF4-FFF2-40B4-BE49-F238E27FC236}">
                <a16:creationId xmlns:a16="http://schemas.microsoft.com/office/drawing/2014/main" id="{8842D504-2579-A803-D017-38F414D8F92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B44F6F1-3475-DF5A-171D-90C0A6361F33}"/>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71958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9EE0DC-FE41-207B-B5D4-12044E8D9BC5}"/>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265E523B-DBFD-D95C-BDA2-AF438B18FA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00A689A-2C60-C5ED-1F57-27748FB82FCF}"/>
              </a:ext>
            </a:extLst>
          </p:cNvPr>
          <p:cNvSpPr>
            <a:spLocks noGrp="1"/>
          </p:cNvSpPr>
          <p:nvPr>
            <p:ph type="dt" sz="half" idx="10"/>
          </p:nvPr>
        </p:nvSpPr>
        <p:spPr/>
        <p:txBody>
          <a:bodyPr/>
          <a:lstStyle/>
          <a:p>
            <a:fld id="{E8BDA46D-A1A7-4D05-A86A-5A57D57622A5}" type="datetimeFigureOut">
              <a:rPr lang="es-CL" smtClean="0"/>
              <a:t>02-06-2026</a:t>
            </a:fld>
            <a:endParaRPr lang="es-CL"/>
          </a:p>
        </p:txBody>
      </p:sp>
      <p:sp>
        <p:nvSpPr>
          <p:cNvPr id="5" name="Marcador de pie de página 4">
            <a:extLst>
              <a:ext uri="{FF2B5EF4-FFF2-40B4-BE49-F238E27FC236}">
                <a16:creationId xmlns:a16="http://schemas.microsoft.com/office/drawing/2014/main" id="{18E6A1D8-E528-4BB5-3D0E-DD599C20DD16}"/>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22BCB4D-49C6-4998-F409-6029A291DE8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040702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431A91A-3147-1537-3F76-79772FA4154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F3C01651-05BC-1EC6-A58E-575D048EC2FA}"/>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55082018-B822-A183-DA4B-1C3D16A49C4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6F26C75-9BEB-D6DB-5431-6309AC889347}"/>
              </a:ext>
            </a:extLst>
          </p:cNvPr>
          <p:cNvSpPr>
            <a:spLocks noGrp="1"/>
          </p:cNvSpPr>
          <p:nvPr>
            <p:ph type="dt" sz="half" idx="10"/>
          </p:nvPr>
        </p:nvSpPr>
        <p:spPr/>
        <p:txBody>
          <a:bodyPr/>
          <a:lstStyle/>
          <a:p>
            <a:fld id="{E8BDA46D-A1A7-4D05-A86A-5A57D57622A5}" type="datetimeFigureOut">
              <a:rPr lang="es-CL" smtClean="0"/>
              <a:t>02-06-2026</a:t>
            </a:fld>
            <a:endParaRPr lang="es-CL"/>
          </a:p>
        </p:txBody>
      </p:sp>
      <p:sp>
        <p:nvSpPr>
          <p:cNvPr id="6" name="Marcador de pie de página 5">
            <a:extLst>
              <a:ext uri="{FF2B5EF4-FFF2-40B4-BE49-F238E27FC236}">
                <a16:creationId xmlns:a16="http://schemas.microsoft.com/office/drawing/2014/main" id="{D071B78F-8C40-BEB7-3CA1-D48366C1C4D4}"/>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7D4D4F6-B884-C893-0AE7-0BD236FC0A3F}"/>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196884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28DA5D-9DAA-85F9-8663-3F4CFE4F13B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6CA55E1-B5F5-EAF9-B7FE-D45D79747C3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C121A24-CF2D-161C-0F6E-E25010C9830E}"/>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20F6704-DF9F-D96E-863C-22E02CAD62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08E114D-20FF-505F-3AC7-DFA59AC8F45F}"/>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321214F7-5555-5155-7348-E210F99F0EF8}"/>
              </a:ext>
            </a:extLst>
          </p:cNvPr>
          <p:cNvSpPr>
            <a:spLocks noGrp="1"/>
          </p:cNvSpPr>
          <p:nvPr>
            <p:ph type="dt" sz="half" idx="10"/>
          </p:nvPr>
        </p:nvSpPr>
        <p:spPr/>
        <p:txBody>
          <a:bodyPr/>
          <a:lstStyle/>
          <a:p>
            <a:fld id="{E8BDA46D-A1A7-4D05-A86A-5A57D57622A5}" type="datetimeFigureOut">
              <a:rPr lang="es-CL" smtClean="0"/>
              <a:t>02-06-2026</a:t>
            </a:fld>
            <a:endParaRPr lang="es-CL"/>
          </a:p>
        </p:txBody>
      </p:sp>
      <p:sp>
        <p:nvSpPr>
          <p:cNvPr id="8" name="Marcador de pie de página 7">
            <a:extLst>
              <a:ext uri="{FF2B5EF4-FFF2-40B4-BE49-F238E27FC236}">
                <a16:creationId xmlns:a16="http://schemas.microsoft.com/office/drawing/2014/main" id="{C2C5D59F-5FAC-9631-CDC3-84D27C41472A}"/>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321995D8-D632-D10E-8AFF-26E5C8098BB9}"/>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371272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5B870B8-34B8-37DC-89DB-47FC09CC5D80}"/>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BB0F1EB3-E9A9-3C8D-7E75-A95C59BF31B0}"/>
              </a:ext>
            </a:extLst>
          </p:cNvPr>
          <p:cNvSpPr>
            <a:spLocks noGrp="1"/>
          </p:cNvSpPr>
          <p:nvPr>
            <p:ph type="dt" sz="half" idx="10"/>
          </p:nvPr>
        </p:nvSpPr>
        <p:spPr/>
        <p:txBody>
          <a:bodyPr/>
          <a:lstStyle/>
          <a:p>
            <a:fld id="{E8BDA46D-A1A7-4D05-A86A-5A57D57622A5}" type="datetimeFigureOut">
              <a:rPr lang="es-CL" smtClean="0"/>
              <a:t>02-06-2026</a:t>
            </a:fld>
            <a:endParaRPr lang="es-CL"/>
          </a:p>
        </p:txBody>
      </p:sp>
      <p:sp>
        <p:nvSpPr>
          <p:cNvPr id="4" name="Marcador de pie de página 3">
            <a:extLst>
              <a:ext uri="{FF2B5EF4-FFF2-40B4-BE49-F238E27FC236}">
                <a16:creationId xmlns:a16="http://schemas.microsoft.com/office/drawing/2014/main" id="{6337F6A3-CB35-F37A-A6DA-88C9FF448CC1}"/>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3C4C9290-251F-B1E0-AEAA-710A3CB53E84}"/>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971229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781B6F75-8539-FB15-F03B-E2523D1BB972}"/>
              </a:ext>
            </a:extLst>
          </p:cNvPr>
          <p:cNvSpPr>
            <a:spLocks noGrp="1"/>
          </p:cNvSpPr>
          <p:nvPr>
            <p:ph type="dt" sz="half" idx="10"/>
          </p:nvPr>
        </p:nvSpPr>
        <p:spPr/>
        <p:txBody>
          <a:bodyPr/>
          <a:lstStyle/>
          <a:p>
            <a:fld id="{E8BDA46D-A1A7-4D05-A86A-5A57D57622A5}" type="datetimeFigureOut">
              <a:rPr lang="es-CL" smtClean="0"/>
              <a:t>02-06-2026</a:t>
            </a:fld>
            <a:endParaRPr lang="es-CL"/>
          </a:p>
        </p:txBody>
      </p:sp>
      <p:sp>
        <p:nvSpPr>
          <p:cNvPr id="3" name="Marcador de pie de página 2">
            <a:extLst>
              <a:ext uri="{FF2B5EF4-FFF2-40B4-BE49-F238E27FC236}">
                <a16:creationId xmlns:a16="http://schemas.microsoft.com/office/drawing/2014/main" id="{F8725444-0A64-F2BF-CE6D-C96D6C237478}"/>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B1A95120-3AD7-2633-1852-99868A08E105}"/>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91576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D67FF6-55E8-496C-BCC4-4D7B40336D7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AA28B327-F8C2-0B0D-FCA9-41E590A062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C374743E-45A5-85D0-4052-5B42C3C077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7AA9CE0-4EF9-BCF9-74C2-CFE7CCCA4E61}"/>
              </a:ext>
            </a:extLst>
          </p:cNvPr>
          <p:cNvSpPr>
            <a:spLocks noGrp="1"/>
          </p:cNvSpPr>
          <p:nvPr>
            <p:ph type="dt" sz="half" idx="10"/>
          </p:nvPr>
        </p:nvSpPr>
        <p:spPr/>
        <p:txBody>
          <a:bodyPr/>
          <a:lstStyle/>
          <a:p>
            <a:fld id="{E8BDA46D-A1A7-4D05-A86A-5A57D57622A5}" type="datetimeFigureOut">
              <a:rPr lang="es-CL" smtClean="0"/>
              <a:t>02-06-2026</a:t>
            </a:fld>
            <a:endParaRPr lang="es-CL"/>
          </a:p>
        </p:txBody>
      </p:sp>
      <p:sp>
        <p:nvSpPr>
          <p:cNvPr id="6" name="Marcador de pie de página 5">
            <a:extLst>
              <a:ext uri="{FF2B5EF4-FFF2-40B4-BE49-F238E27FC236}">
                <a16:creationId xmlns:a16="http://schemas.microsoft.com/office/drawing/2014/main" id="{31A8C77C-C8E9-8F00-1622-EC17987D85CA}"/>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9FBA34C7-982A-2E74-0F17-C8063BB65B07}"/>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9446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A231788-80C1-18AA-49B2-00AA49AE72C8}"/>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B19EDF4D-E446-21A3-5193-EA3AA3FD2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C22F1C9E-17FA-6C7E-F214-0530F189A4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81A0B5E-955F-3A5F-84DE-EE873021AD65}"/>
              </a:ext>
            </a:extLst>
          </p:cNvPr>
          <p:cNvSpPr>
            <a:spLocks noGrp="1"/>
          </p:cNvSpPr>
          <p:nvPr>
            <p:ph type="dt" sz="half" idx="10"/>
          </p:nvPr>
        </p:nvSpPr>
        <p:spPr/>
        <p:txBody>
          <a:bodyPr/>
          <a:lstStyle/>
          <a:p>
            <a:fld id="{E8BDA46D-A1A7-4D05-A86A-5A57D57622A5}" type="datetimeFigureOut">
              <a:rPr lang="es-CL" smtClean="0"/>
              <a:t>02-06-2026</a:t>
            </a:fld>
            <a:endParaRPr lang="es-CL"/>
          </a:p>
        </p:txBody>
      </p:sp>
      <p:sp>
        <p:nvSpPr>
          <p:cNvPr id="6" name="Marcador de pie de página 5">
            <a:extLst>
              <a:ext uri="{FF2B5EF4-FFF2-40B4-BE49-F238E27FC236}">
                <a16:creationId xmlns:a16="http://schemas.microsoft.com/office/drawing/2014/main" id="{82FDB288-42E2-730F-3EC2-75CDD0F07093}"/>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459CA278-6D6E-B2A8-B1E4-9F7DA302E9DC}"/>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8316433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856C15-EF0C-C8A8-41F6-840E0E4336C8}"/>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A36D5AC-B824-2DA4-A083-1EEB7768DEA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920E341-3C14-25A1-76F8-8BC7FE23FF28}"/>
              </a:ext>
            </a:extLst>
          </p:cNvPr>
          <p:cNvSpPr>
            <a:spLocks noGrp="1"/>
          </p:cNvSpPr>
          <p:nvPr>
            <p:ph type="dt" sz="half" idx="10"/>
          </p:nvPr>
        </p:nvSpPr>
        <p:spPr/>
        <p:txBody>
          <a:bodyPr/>
          <a:lstStyle/>
          <a:p>
            <a:fld id="{E8BDA46D-A1A7-4D05-A86A-5A57D57622A5}" type="datetimeFigureOut">
              <a:rPr lang="es-CL" smtClean="0"/>
              <a:t>02-06-2026</a:t>
            </a:fld>
            <a:endParaRPr lang="es-CL"/>
          </a:p>
        </p:txBody>
      </p:sp>
      <p:sp>
        <p:nvSpPr>
          <p:cNvPr id="5" name="Marcador de pie de página 4">
            <a:extLst>
              <a:ext uri="{FF2B5EF4-FFF2-40B4-BE49-F238E27FC236}">
                <a16:creationId xmlns:a16="http://schemas.microsoft.com/office/drawing/2014/main" id="{CEC9B56E-2B7B-8C60-811D-12FE70B468E9}"/>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4650FC0E-77B0-E187-7241-8BE9332FF16D}"/>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12029147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F00424F-3FDF-9896-F8DF-EBF93BEF4D4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8350F60B-440F-292F-888A-8EF62AA412C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D14116BF-3104-AF5D-C0A8-E063AF706A11}"/>
              </a:ext>
            </a:extLst>
          </p:cNvPr>
          <p:cNvSpPr>
            <a:spLocks noGrp="1"/>
          </p:cNvSpPr>
          <p:nvPr>
            <p:ph type="dt" sz="half" idx="10"/>
          </p:nvPr>
        </p:nvSpPr>
        <p:spPr/>
        <p:txBody>
          <a:bodyPr/>
          <a:lstStyle/>
          <a:p>
            <a:fld id="{E8BDA46D-A1A7-4D05-A86A-5A57D57622A5}" type="datetimeFigureOut">
              <a:rPr lang="es-CL" smtClean="0"/>
              <a:t>02-06-2026</a:t>
            </a:fld>
            <a:endParaRPr lang="es-CL"/>
          </a:p>
        </p:txBody>
      </p:sp>
      <p:sp>
        <p:nvSpPr>
          <p:cNvPr id="5" name="Marcador de pie de página 4">
            <a:extLst>
              <a:ext uri="{FF2B5EF4-FFF2-40B4-BE49-F238E27FC236}">
                <a16:creationId xmlns:a16="http://schemas.microsoft.com/office/drawing/2014/main" id="{2E8F5DAA-9632-8650-11D1-4852CB9F0A6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01DD27B8-05BD-48E2-3B7C-2DF3A1DBBD5A}"/>
              </a:ext>
            </a:extLst>
          </p:cNvPr>
          <p:cNvSpPr>
            <a:spLocks noGrp="1"/>
          </p:cNvSpPr>
          <p:nvPr>
            <p:ph type="sldNum" sz="quarter" idx="12"/>
          </p:nvPr>
        </p:nvSpPr>
        <p:spPr/>
        <p:txBody>
          <a:bodyPr/>
          <a:lstStyle/>
          <a:p>
            <a:fld id="{5F02DCD1-67CD-4B9C-AF7C-A4846B367CA8}" type="slidenum">
              <a:rPr lang="es-CL" smtClean="0"/>
              <a:t>‹Nº›</a:t>
            </a:fld>
            <a:endParaRPr lang="es-CL"/>
          </a:p>
        </p:txBody>
      </p:sp>
    </p:spTree>
    <p:extLst>
      <p:ext uri="{BB962C8B-B14F-4D97-AF65-F5344CB8AC3E}">
        <p14:creationId xmlns:p14="http://schemas.microsoft.com/office/powerpoint/2010/main" val="25467320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FE1D736-C504-F2D3-4D26-5C0C6D7897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D32A4F1-8C91-29BD-B83A-D5ED13E399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7C91089-CE03-9300-C918-89BA1B7A9A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BDA46D-A1A7-4D05-A86A-5A57D57622A5}" type="datetimeFigureOut">
              <a:rPr lang="es-CL" smtClean="0"/>
              <a:t>02-06-2026</a:t>
            </a:fld>
            <a:endParaRPr lang="es-CL"/>
          </a:p>
        </p:txBody>
      </p:sp>
      <p:sp>
        <p:nvSpPr>
          <p:cNvPr id="5" name="Marcador de pie de página 4">
            <a:extLst>
              <a:ext uri="{FF2B5EF4-FFF2-40B4-BE49-F238E27FC236}">
                <a16:creationId xmlns:a16="http://schemas.microsoft.com/office/drawing/2014/main" id="{FEE5FFC7-CC22-AA3D-8561-D011B9400C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462EE7A9-3E52-92C2-1A3E-C180FB6A61F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02DCD1-67CD-4B9C-AF7C-A4846B367CA8}" type="slidenum">
              <a:rPr lang="es-CL" smtClean="0"/>
              <a:t>‹Nº›</a:t>
            </a:fld>
            <a:endParaRPr lang="es-CL"/>
          </a:p>
        </p:txBody>
      </p:sp>
    </p:spTree>
    <p:extLst>
      <p:ext uri="{BB962C8B-B14F-4D97-AF65-F5344CB8AC3E}">
        <p14:creationId xmlns:p14="http://schemas.microsoft.com/office/powerpoint/2010/main" val="2365602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4C5055-DE28-A84E-9FB5-12A3C43AF46E}"/>
              </a:ext>
            </a:extLst>
          </p:cNvPr>
          <p:cNvSpPr>
            <a:spLocks noGrp="1"/>
          </p:cNvSpPr>
          <p:nvPr>
            <p:ph type="ctrTitle"/>
          </p:nvPr>
        </p:nvSpPr>
        <p:spPr>
          <a:xfrm>
            <a:off x="1524000" y="1569403"/>
            <a:ext cx="9144000" cy="2387600"/>
          </a:xfrm>
        </p:spPr>
        <p:txBody>
          <a:bodyPr/>
          <a:lstStyle/>
          <a:p>
            <a:r>
              <a:rPr lang="es-MX" i="1" dirty="0"/>
              <a:t>Ingeniería de soluciones con AI</a:t>
            </a:r>
            <a:endParaRPr lang="es-CL" i="1" dirty="0"/>
          </a:p>
        </p:txBody>
      </p:sp>
      <p:sp>
        <p:nvSpPr>
          <p:cNvPr id="3" name="Subtítulo 2">
            <a:extLst>
              <a:ext uri="{FF2B5EF4-FFF2-40B4-BE49-F238E27FC236}">
                <a16:creationId xmlns:a16="http://schemas.microsoft.com/office/drawing/2014/main" id="{9C898086-6830-28E7-5F70-A1C13B3A9DBB}"/>
              </a:ext>
            </a:extLst>
          </p:cNvPr>
          <p:cNvSpPr>
            <a:spLocks noGrp="1"/>
          </p:cNvSpPr>
          <p:nvPr>
            <p:ph type="subTitle" idx="1"/>
          </p:nvPr>
        </p:nvSpPr>
        <p:spPr>
          <a:xfrm>
            <a:off x="9763760" y="5788758"/>
            <a:ext cx="2585194" cy="675639"/>
          </a:xfrm>
        </p:spPr>
        <p:txBody>
          <a:bodyPr>
            <a:normAutofit lnSpcReduction="10000"/>
          </a:bodyPr>
          <a:lstStyle/>
          <a:p>
            <a:pPr algn="l"/>
            <a:r>
              <a:rPr lang="es-MX" sz="1800" b="1" i="1" dirty="0"/>
              <a:t>Docente:</a:t>
            </a:r>
          </a:p>
          <a:p>
            <a:pPr algn="l"/>
            <a:r>
              <a:rPr lang="es-MX" sz="1800" i="1" dirty="0"/>
              <a:t>Francisco Macaya</a:t>
            </a:r>
            <a:endParaRPr lang="es-CL" sz="1800" i="1" dirty="0"/>
          </a:p>
        </p:txBody>
      </p:sp>
      <p:pic>
        <p:nvPicPr>
          <p:cNvPr id="1026" name="Picture 2" descr="Duoc UC - Learn Chile">
            <a:extLst>
              <a:ext uri="{FF2B5EF4-FFF2-40B4-BE49-F238E27FC236}">
                <a16:creationId xmlns:a16="http://schemas.microsoft.com/office/drawing/2014/main" id="{EFAFD388-37C4-B6E5-0BD9-7194363299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4" name="Subtítulo 2">
            <a:extLst>
              <a:ext uri="{FF2B5EF4-FFF2-40B4-BE49-F238E27FC236}">
                <a16:creationId xmlns:a16="http://schemas.microsoft.com/office/drawing/2014/main" id="{289FDFC1-9135-D283-EA5A-9264421DCA54}"/>
              </a:ext>
            </a:extLst>
          </p:cNvPr>
          <p:cNvSpPr txBox="1">
            <a:spLocks/>
          </p:cNvSpPr>
          <p:nvPr/>
        </p:nvSpPr>
        <p:spPr>
          <a:xfrm>
            <a:off x="5345302" y="5971981"/>
            <a:ext cx="2585194" cy="675639"/>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MX" sz="1800" i="1" dirty="0"/>
              <a:t>Semestre 2026-1</a:t>
            </a:r>
            <a:endParaRPr lang="es-CL" sz="1800" i="1" dirty="0"/>
          </a:p>
        </p:txBody>
      </p:sp>
    </p:spTree>
    <p:extLst>
      <p:ext uri="{BB962C8B-B14F-4D97-AF65-F5344CB8AC3E}">
        <p14:creationId xmlns:p14="http://schemas.microsoft.com/office/powerpoint/2010/main" val="28177939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B41D0E-5E44-651B-82FF-0DBD9F25EEEE}"/>
              </a:ext>
            </a:extLst>
          </p:cNvPr>
          <p:cNvSpPr>
            <a:spLocks noGrp="1"/>
          </p:cNvSpPr>
          <p:nvPr>
            <p:ph type="title"/>
          </p:nvPr>
        </p:nvSpPr>
        <p:spPr>
          <a:xfrm>
            <a:off x="143819" y="-299832"/>
            <a:ext cx="10797458" cy="2311428"/>
          </a:xfrm>
        </p:spPr>
        <p:txBody>
          <a:bodyPr>
            <a:normAutofit/>
          </a:bodyPr>
          <a:lstStyle/>
          <a:p>
            <a:r>
              <a:rPr lang="es-MX" sz="3600" b="1" i="1" dirty="0"/>
              <a:t>Noticias: </a:t>
            </a:r>
            <a:r>
              <a:rPr lang="es-CL" sz="3600" i="1" dirty="0"/>
              <a:t>Magnifica </a:t>
            </a:r>
            <a:r>
              <a:rPr lang="es-CL" sz="3600" i="1" dirty="0" err="1"/>
              <a:t>Humanitas</a:t>
            </a:r>
            <a:r>
              <a:rPr lang="es-CL" sz="3600" i="1" dirty="0"/>
              <a:t>, reacción del Papa sobre la AI.</a:t>
            </a:r>
            <a:endParaRPr lang="es-CL" i="1" dirty="0"/>
          </a:p>
        </p:txBody>
      </p:sp>
      <p:pic>
        <p:nvPicPr>
          <p:cNvPr id="4" name="Picture 2" descr="Duoc UC - Learn Chile">
            <a:extLst>
              <a:ext uri="{FF2B5EF4-FFF2-40B4-BE49-F238E27FC236}">
                <a16:creationId xmlns:a16="http://schemas.microsoft.com/office/drawing/2014/main" id="{23B967C9-D6BF-8DB2-90D0-DCD6085A05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3" name="Título 1">
            <a:extLst>
              <a:ext uri="{FF2B5EF4-FFF2-40B4-BE49-F238E27FC236}">
                <a16:creationId xmlns:a16="http://schemas.microsoft.com/office/drawing/2014/main" id="{9A58C3FE-B6AF-3F8A-5EF1-66F42AFB529D}"/>
              </a:ext>
            </a:extLst>
          </p:cNvPr>
          <p:cNvSpPr txBox="1">
            <a:spLocks/>
          </p:cNvSpPr>
          <p:nvPr/>
        </p:nvSpPr>
        <p:spPr>
          <a:xfrm>
            <a:off x="-573731" y="6324709"/>
            <a:ext cx="7549374" cy="45411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1600" b="1" i="1" dirty="0"/>
              <a:t>Nota: </a:t>
            </a:r>
            <a:r>
              <a:rPr lang="es-MX" sz="1600" i="1" dirty="0"/>
              <a:t>https://www.thearticle.com/magnifica-humanitas-ai-and-the-pope</a:t>
            </a:r>
            <a:endParaRPr lang="es-CL" sz="1600" i="1" dirty="0"/>
          </a:p>
        </p:txBody>
      </p:sp>
      <p:pic>
        <p:nvPicPr>
          <p:cNvPr id="7" name="Imagen 6">
            <a:extLst>
              <a:ext uri="{FF2B5EF4-FFF2-40B4-BE49-F238E27FC236}">
                <a16:creationId xmlns:a16="http://schemas.microsoft.com/office/drawing/2014/main" id="{1140E4D6-2025-9E87-E940-4CC578917EF8}"/>
              </a:ext>
            </a:extLst>
          </p:cNvPr>
          <p:cNvPicPr>
            <a:picLocks noChangeAspect="1"/>
          </p:cNvPicPr>
          <p:nvPr/>
        </p:nvPicPr>
        <p:blipFill>
          <a:blip r:embed="rId3"/>
          <a:stretch>
            <a:fillRect/>
          </a:stretch>
        </p:blipFill>
        <p:spPr>
          <a:xfrm>
            <a:off x="2296160" y="1169808"/>
            <a:ext cx="6995477" cy="4829671"/>
          </a:xfrm>
          <a:prstGeom prst="rect">
            <a:avLst/>
          </a:prstGeom>
        </p:spPr>
      </p:pic>
    </p:spTree>
    <p:extLst>
      <p:ext uri="{BB962C8B-B14F-4D97-AF65-F5344CB8AC3E}">
        <p14:creationId xmlns:p14="http://schemas.microsoft.com/office/powerpoint/2010/main" val="1734909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E94B9-62E0-2C3B-FE66-B5FE970A2E5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BDDF1FF-FABE-993D-C8CF-8463734A0F87}"/>
              </a:ext>
            </a:extLst>
          </p:cNvPr>
          <p:cNvSpPr>
            <a:spLocks noGrp="1"/>
          </p:cNvSpPr>
          <p:nvPr>
            <p:ph type="title"/>
          </p:nvPr>
        </p:nvSpPr>
        <p:spPr>
          <a:xfrm>
            <a:off x="697271" y="2273286"/>
            <a:ext cx="10797458" cy="2311428"/>
          </a:xfrm>
        </p:spPr>
        <p:txBody>
          <a:bodyPr>
            <a:normAutofit fontScale="90000"/>
          </a:bodyPr>
          <a:lstStyle/>
          <a:p>
            <a:pPr algn="ctr"/>
            <a:r>
              <a:rPr lang="es-MX" b="1" i="1" dirty="0"/>
              <a:t>¿Cuál es la diferencia entre la inteligencia artificial que uso en visual </a:t>
            </a:r>
            <a:r>
              <a:rPr lang="es-MX" b="1" i="1" dirty="0" err="1"/>
              <a:t>studio</a:t>
            </a:r>
            <a:r>
              <a:rPr lang="es-MX" b="1" i="1" dirty="0"/>
              <a:t> </a:t>
            </a:r>
            <a:r>
              <a:rPr lang="es-MX" b="1" i="1" dirty="0" err="1"/>
              <a:t>code</a:t>
            </a:r>
            <a:r>
              <a:rPr lang="es-MX" b="1" i="1" dirty="0"/>
              <a:t> o el </a:t>
            </a:r>
            <a:r>
              <a:rPr lang="es-MX" b="1" i="1" dirty="0" err="1"/>
              <a:t>chatGPT</a:t>
            </a:r>
            <a:r>
              <a:rPr lang="es-MX" b="1" i="1" dirty="0"/>
              <a:t>  y el código de mi agente de la evaluación 2?</a:t>
            </a:r>
            <a:endParaRPr lang="es-CL" b="1" i="1" dirty="0"/>
          </a:p>
        </p:txBody>
      </p:sp>
      <p:pic>
        <p:nvPicPr>
          <p:cNvPr id="4" name="Picture 2" descr="Duoc UC - Learn Chile">
            <a:extLst>
              <a:ext uri="{FF2B5EF4-FFF2-40B4-BE49-F238E27FC236}">
                <a16:creationId xmlns:a16="http://schemas.microsoft.com/office/drawing/2014/main" id="{C5E7DB2B-3DF2-4DED-E6C4-CC47E76ABE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8" name="Título 1">
            <a:extLst>
              <a:ext uri="{FF2B5EF4-FFF2-40B4-BE49-F238E27FC236}">
                <a16:creationId xmlns:a16="http://schemas.microsoft.com/office/drawing/2014/main" id="{0ACEC969-D995-9735-107C-461B46FA8782}"/>
              </a:ext>
            </a:extLst>
          </p:cNvPr>
          <p:cNvSpPr txBox="1">
            <a:spLocks/>
          </p:cNvSpPr>
          <p:nvPr/>
        </p:nvSpPr>
        <p:spPr>
          <a:xfrm>
            <a:off x="4862871" y="726328"/>
            <a:ext cx="10797458" cy="23114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u="sng" dirty="0">
                <a:solidFill>
                  <a:srgbClr val="C00000"/>
                </a:solidFill>
              </a:rPr>
              <a:t>REPASO</a:t>
            </a:r>
            <a:endParaRPr lang="es-CL" b="1" i="1" u="sng" dirty="0">
              <a:solidFill>
                <a:srgbClr val="C00000"/>
              </a:solidFill>
            </a:endParaRPr>
          </a:p>
        </p:txBody>
      </p:sp>
    </p:spTree>
    <p:extLst>
      <p:ext uri="{BB962C8B-B14F-4D97-AF65-F5344CB8AC3E}">
        <p14:creationId xmlns:p14="http://schemas.microsoft.com/office/powerpoint/2010/main" val="2738691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D0908-9BB0-DFEE-E530-CF61C2FB7AA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8493A22-788A-7DA0-3A7D-57D881BC1ACA}"/>
              </a:ext>
            </a:extLst>
          </p:cNvPr>
          <p:cNvSpPr>
            <a:spLocks noGrp="1"/>
          </p:cNvSpPr>
          <p:nvPr>
            <p:ph type="title"/>
          </p:nvPr>
        </p:nvSpPr>
        <p:spPr>
          <a:xfrm>
            <a:off x="2099351" y="1854088"/>
            <a:ext cx="10797458" cy="2311428"/>
          </a:xfrm>
        </p:spPr>
        <p:txBody>
          <a:bodyPr>
            <a:normAutofit/>
          </a:bodyPr>
          <a:lstStyle/>
          <a:p>
            <a:r>
              <a:rPr lang="es-MX" b="1" i="1" dirty="0"/>
              <a:t>¿Qué es un sistema </a:t>
            </a:r>
            <a:r>
              <a:rPr lang="es-MX" b="1" i="1" dirty="0" err="1"/>
              <a:t>multi-agente</a:t>
            </a:r>
            <a:r>
              <a:rPr lang="es-MX" b="1" i="1" dirty="0"/>
              <a:t>?</a:t>
            </a:r>
            <a:endParaRPr lang="es-CL" b="1" i="1" dirty="0"/>
          </a:p>
        </p:txBody>
      </p:sp>
      <p:pic>
        <p:nvPicPr>
          <p:cNvPr id="4" name="Picture 2" descr="Duoc UC - Learn Chile">
            <a:extLst>
              <a:ext uri="{FF2B5EF4-FFF2-40B4-BE49-F238E27FC236}">
                <a16:creationId xmlns:a16="http://schemas.microsoft.com/office/drawing/2014/main" id="{E225DD4F-A551-6ED4-157B-4C2BC98EB2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DF41EFD-5283-D9E1-1FA5-8772FC718D37}"/>
              </a:ext>
            </a:extLst>
          </p:cNvPr>
          <p:cNvSpPr txBox="1"/>
          <p:nvPr/>
        </p:nvSpPr>
        <p:spPr>
          <a:xfrm>
            <a:off x="2268496" y="3520440"/>
            <a:ext cx="9354820" cy="923330"/>
          </a:xfrm>
          <a:prstGeom prst="rect">
            <a:avLst/>
          </a:prstGeom>
          <a:noFill/>
        </p:spPr>
        <p:txBody>
          <a:bodyPr wrap="square">
            <a:spAutoFit/>
          </a:bodyPr>
          <a:lstStyle/>
          <a:p>
            <a:r>
              <a:rPr lang="es-CL" i="1" dirty="0"/>
              <a:t>https://github.com/Foco22/INGENIERIA-DE-SOLUCIONES-CON-INTELIGENCIA-ARTIFICIAL_002D_OLS/tree/main/Experiencia%20de%20Aprendizaje%202%20-%20Desarrollo%20de%20Agente%20Inteligentes%20con%20AI/Clase%202.3</a:t>
            </a:r>
          </a:p>
        </p:txBody>
      </p:sp>
      <p:sp>
        <p:nvSpPr>
          <p:cNvPr id="3" name="Título 1">
            <a:extLst>
              <a:ext uri="{FF2B5EF4-FFF2-40B4-BE49-F238E27FC236}">
                <a16:creationId xmlns:a16="http://schemas.microsoft.com/office/drawing/2014/main" id="{5784726C-3465-66FE-8D84-A0681E575B8B}"/>
              </a:ext>
            </a:extLst>
          </p:cNvPr>
          <p:cNvSpPr txBox="1">
            <a:spLocks/>
          </p:cNvSpPr>
          <p:nvPr/>
        </p:nvSpPr>
        <p:spPr>
          <a:xfrm>
            <a:off x="4822231" y="807021"/>
            <a:ext cx="10797458" cy="23114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u="sng" dirty="0">
                <a:solidFill>
                  <a:srgbClr val="C00000"/>
                </a:solidFill>
              </a:rPr>
              <a:t>REPASO</a:t>
            </a:r>
            <a:endParaRPr lang="es-CL" b="1" i="1" u="sng" dirty="0">
              <a:solidFill>
                <a:srgbClr val="C00000"/>
              </a:solidFill>
            </a:endParaRPr>
          </a:p>
        </p:txBody>
      </p:sp>
    </p:spTree>
    <p:extLst>
      <p:ext uri="{BB962C8B-B14F-4D97-AF65-F5344CB8AC3E}">
        <p14:creationId xmlns:p14="http://schemas.microsoft.com/office/powerpoint/2010/main" val="18447890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24D91-99F5-3359-4630-9DF3B244A63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0AA6D33-D256-9ECB-EB14-ADBADE31C7C2}"/>
              </a:ext>
            </a:extLst>
          </p:cNvPr>
          <p:cNvSpPr>
            <a:spLocks noGrp="1"/>
          </p:cNvSpPr>
          <p:nvPr>
            <p:ph type="title"/>
          </p:nvPr>
        </p:nvSpPr>
        <p:spPr>
          <a:xfrm>
            <a:off x="1713271" y="84006"/>
            <a:ext cx="10797458" cy="2311428"/>
          </a:xfrm>
        </p:spPr>
        <p:txBody>
          <a:bodyPr>
            <a:normAutofit/>
          </a:bodyPr>
          <a:lstStyle/>
          <a:p>
            <a:r>
              <a:rPr lang="es-MX" b="1" i="1" dirty="0"/>
              <a:t>¿Cuál es la diferencia entre AI y ML?</a:t>
            </a:r>
            <a:endParaRPr lang="es-CL" b="1" i="1" dirty="0"/>
          </a:p>
        </p:txBody>
      </p:sp>
      <p:pic>
        <p:nvPicPr>
          <p:cNvPr id="4" name="Picture 2" descr="Duoc UC - Learn Chile">
            <a:extLst>
              <a:ext uri="{FF2B5EF4-FFF2-40B4-BE49-F238E27FC236}">
                <a16:creationId xmlns:a16="http://schemas.microsoft.com/office/drawing/2014/main" id="{5B369855-5D88-A096-E944-14562E0816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The relationship between artificial intelligence and machine learning |  Electronics360">
            <a:extLst>
              <a:ext uri="{FF2B5EF4-FFF2-40B4-BE49-F238E27FC236}">
                <a16:creationId xmlns:a16="http://schemas.microsoft.com/office/drawing/2014/main" id="{5E0C51B1-FB72-3704-7AD2-A7CC5E333D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1120" y="1699577"/>
            <a:ext cx="3945255" cy="3078797"/>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DB9B826B-DAC0-527E-A869-9B6B4285BD38}"/>
              </a:ext>
            </a:extLst>
          </p:cNvPr>
          <p:cNvSpPr txBox="1"/>
          <p:nvPr/>
        </p:nvSpPr>
        <p:spPr>
          <a:xfrm>
            <a:off x="1480820" y="5039975"/>
            <a:ext cx="8597900" cy="923330"/>
          </a:xfrm>
          <a:prstGeom prst="rect">
            <a:avLst/>
          </a:prstGeom>
          <a:noFill/>
        </p:spPr>
        <p:txBody>
          <a:bodyPr wrap="square">
            <a:spAutoFit/>
          </a:bodyPr>
          <a:lstStyle/>
          <a:p>
            <a:pPr algn="ctr"/>
            <a:r>
              <a:rPr lang="en-US" b="0" i="0" dirty="0">
                <a:solidFill>
                  <a:srgbClr val="161616"/>
                </a:solidFill>
                <a:effectLst/>
                <a:latin typeface="IBM Plex Sans" panose="020F0502020204030204" pitchFamily="34" charset="0"/>
              </a:rPr>
              <a:t>Artificial intelligence (AI) is technology that enables computers and machines to simulate human learning, comprehension, problem solving, decision making, creativity and autonomy</a:t>
            </a:r>
            <a:endParaRPr lang="es-CL" dirty="0"/>
          </a:p>
        </p:txBody>
      </p:sp>
      <p:sp>
        <p:nvSpPr>
          <p:cNvPr id="8" name="CuadroTexto 7">
            <a:extLst>
              <a:ext uri="{FF2B5EF4-FFF2-40B4-BE49-F238E27FC236}">
                <a16:creationId xmlns:a16="http://schemas.microsoft.com/office/drawing/2014/main" id="{93511571-CCF3-213E-3075-401CBC5B5ACE}"/>
              </a:ext>
            </a:extLst>
          </p:cNvPr>
          <p:cNvSpPr txBox="1"/>
          <p:nvPr/>
        </p:nvSpPr>
        <p:spPr>
          <a:xfrm>
            <a:off x="3660140" y="6030377"/>
            <a:ext cx="6253480" cy="307777"/>
          </a:xfrm>
          <a:prstGeom prst="rect">
            <a:avLst/>
          </a:prstGeom>
          <a:noFill/>
        </p:spPr>
        <p:txBody>
          <a:bodyPr wrap="square">
            <a:spAutoFit/>
          </a:bodyPr>
          <a:lstStyle/>
          <a:p>
            <a:r>
              <a:rPr lang="es-CL" sz="1400" i="1" dirty="0"/>
              <a:t>https://www.ibm.com/think/topics/artificial-intelligence</a:t>
            </a:r>
          </a:p>
        </p:txBody>
      </p:sp>
      <p:sp>
        <p:nvSpPr>
          <p:cNvPr id="9" name="Título 1">
            <a:extLst>
              <a:ext uri="{FF2B5EF4-FFF2-40B4-BE49-F238E27FC236}">
                <a16:creationId xmlns:a16="http://schemas.microsoft.com/office/drawing/2014/main" id="{3F9F27F4-4E7B-98C9-2324-595040EE2D81}"/>
              </a:ext>
            </a:extLst>
          </p:cNvPr>
          <p:cNvSpPr txBox="1">
            <a:spLocks/>
          </p:cNvSpPr>
          <p:nvPr/>
        </p:nvSpPr>
        <p:spPr>
          <a:xfrm>
            <a:off x="697271" y="1945528"/>
            <a:ext cx="10797458" cy="23114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u="sng" dirty="0">
                <a:solidFill>
                  <a:srgbClr val="C00000"/>
                </a:solidFill>
              </a:rPr>
              <a:t>REPASO</a:t>
            </a:r>
            <a:endParaRPr lang="es-CL" b="1" i="1" u="sng" dirty="0">
              <a:solidFill>
                <a:srgbClr val="C00000"/>
              </a:solidFill>
            </a:endParaRPr>
          </a:p>
        </p:txBody>
      </p:sp>
    </p:spTree>
    <p:extLst>
      <p:ext uri="{BB962C8B-B14F-4D97-AF65-F5344CB8AC3E}">
        <p14:creationId xmlns:p14="http://schemas.microsoft.com/office/powerpoint/2010/main" val="562406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70D7D-4D83-59AA-E282-5181C14B5C9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BA14483-1923-9F56-E32E-89BC21862939}"/>
              </a:ext>
            </a:extLst>
          </p:cNvPr>
          <p:cNvSpPr>
            <a:spLocks noGrp="1"/>
          </p:cNvSpPr>
          <p:nvPr>
            <p:ph type="title"/>
          </p:nvPr>
        </p:nvSpPr>
        <p:spPr>
          <a:xfrm>
            <a:off x="1638382" y="178913"/>
            <a:ext cx="10797458" cy="1577458"/>
          </a:xfrm>
        </p:spPr>
        <p:txBody>
          <a:bodyPr>
            <a:normAutofit/>
          </a:bodyPr>
          <a:lstStyle/>
          <a:p>
            <a:r>
              <a:rPr lang="es-MX" b="1" i="1" dirty="0"/>
              <a:t>¿Cuál arquitectura es más escalable?</a:t>
            </a:r>
            <a:endParaRPr lang="es-CL" b="1" i="1" dirty="0"/>
          </a:p>
        </p:txBody>
      </p:sp>
      <p:pic>
        <p:nvPicPr>
          <p:cNvPr id="4" name="Picture 2" descr="Duoc UC - Learn Chile">
            <a:extLst>
              <a:ext uri="{FF2B5EF4-FFF2-40B4-BE49-F238E27FC236}">
                <a16:creationId xmlns:a16="http://schemas.microsoft.com/office/drawing/2014/main" id="{DAD59B28-48FC-CD5F-ADD0-0D6E9F48E5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LangGraph: Multi-Agent Workflows">
            <a:extLst>
              <a:ext uri="{FF2B5EF4-FFF2-40B4-BE49-F238E27FC236}">
                <a16:creationId xmlns:a16="http://schemas.microsoft.com/office/drawing/2014/main" id="{E47422B3-862A-198D-40F8-8313EB4F38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261" y="2131158"/>
            <a:ext cx="4840243" cy="290576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LangGraph: Multi-Agent Workflows">
            <a:extLst>
              <a:ext uri="{FF2B5EF4-FFF2-40B4-BE49-F238E27FC236}">
                <a16:creationId xmlns:a16="http://schemas.microsoft.com/office/drawing/2014/main" id="{CEB0E4BB-653F-A382-330B-C01DE8DB07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0496" y="2131158"/>
            <a:ext cx="4840243" cy="2905760"/>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25CBB765-FFE0-A00F-46AD-D622BB41CAD2}"/>
              </a:ext>
            </a:extLst>
          </p:cNvPr>
          <p:cNvSpPr txBox="1"/>
          <p:nvPr/>
        </p:nvSpPr>
        <p:spPr>
          <a:xfrm>
            <a:off x="455792" y="5260438"/>
            <a:ext cx="5082540" cy="1323439"/>
          </a:xfrm>
          <a:prstGeom prst="rect">
            <a:avLst/>
          </a:prstGeom>
          <a:noFill/>
        </p:spPr>
        <p:txBody>
          <a:bodyPr wrap="square">
            <a:spAutoFit/>
          </a:bodyPr>
          <a:lstStyle/>
          <a:p>
            <a:pPr algn="ctr"/>
            <a:r>
              <a:rPr lang="es-MX" sz="1600" dirty="0"/>
              <a:t>El agente supervisor decide a qué nodo dirigirse en función de las palabras proporcionadas por el usuario. Por ejemplo, si el usuario utiliza términos como "comprar", "compras", "comprarías" o similares, el supervisor selecciona el Agente A.</a:t>
            </a:r>
            <a:endParaRPr lang="es-CL" sz="1600" dirty="0"/>
          </a:p>
        </p:txBody>
      </p:sp>
      <p:sp>
        <p:nvSpPr>
          <p:cNvPr id="6" name="CuadroTexto 5">
            <a:extLst>
              <a:ext uri="{FF2B5EF4-FFF2-40B4-BE49-F238E27FC236}">
                <a16:creationId xmlns:a16="http://schemas.microsoft.com/office/drawing/2014/main" id="{833EDAB3-1048-AC13-34C0-CDFCE6F51E21}"/>
              </a:ext>
            </a:extLst>
          </p:cNvPr>
          <p:cNvSpPr txBox="1"/>
          <p:nvPr/>
        </p:nvSpPr>
        <p:spPr>
          <a:xfrm>
            <a:off x="6500496" y="5260438"/>
            <a:ext cx="5082540" cy="830997"/>
          </a:xfrm>
          <a:prstGeom prst="rect">
            <a:avLst/>
          </a:prstGeom>
          <a:noFill/>
        </p:spPr>
        <p:txBody>
          <a:bodyPr wrap="square">
            <a:spAutoFit/>
          </a:bodyPr>
          <a:lstStyle/>
          <a:p>
            <a:pPr algn="ctr"/>
            <a:r>
              <a:rPr lang="es-MX" sz="1600" dirty="0"/>
              <a:t>El agente supervisor invoca a un LLM, que en base a un </a:t>
            </a:r>
            <a:r>
              <a:rPr lang="es-MX" sz="1600" dirty="0" err="1"/>
              <a:t>prompt</a:t>
            </a:r>
            <a:r>
              <a:rPr lang="es-MX" sz="1600" dirty="0"/>
              <a:t> de sistema, y una instrucción clara, decide a que agente debe llamar en cada momento.</a:t>
            </a:r>
            <a:endParaRPr lang="es-CL" sz="1600" dirty="0"/>
          </a:p>
        </p:txBody>
      </p:sp>
      <p:sp>
        <p:nvSpPr>
          <p:cNvPr id="7" name="CuadroTexto 6">
            <a:extLst>
              <a:ext uri="{FF2B5EF4-FFF2-40B4-BE49-F238E27FC236}">
                <a16:creationId xmlns:a16="http://schemas.microsoft.com/office/drawing/2014/main" id="{1C54D722-BDF8-EA53-4C97-21F1F5B14EEF}"/>
              </a:ext>
            </a:extLst>
          </p:cNvPr>
          <p:cNvSpPr txBox="1"/>
          <p:nvPr/>
        </p:nvSpPr>
        <p:spPr>
          <a:xfrm>
            <a:off x="-1130480" y="1607938"/>
            <a:ext cx="8597900" cy="523220"/>
          </a:xfrm>
          <a:prstGeom prst="rect">
            <a:avLst/>
          </a:prstGeom>
          <a:noFill/>
        </p:spPr>
        <p:txBody>
          <a:bodyPr wrap="square">
            <a:spAutoFit/>
          </a:bodyPr>
          <a:lstStyle/>
          <a:p>
            <a:pPr algn="ctr"/>
            <a:r>
              <a:rPr lang="en-US" sz="2800" b="1" i="1" dirty="0">
                <a:solidFill>
                  <a:srgbClr val="161616"/>
                </a:solidFill>
                <a:effectLst/>
                <a:latin typeface="IBM Plex Sans" panose="020F0502020204030204" pitchFamily="34" charset="0"/>
              </a:rPr>
              <a:t>Plan A</a:t>
            </a:r>
            <a:endParaRPr lang="es-CL" sz="2800" b="1" i="1" dirty="0"/>
          </a:p>
        </p:txBody>
      </p:sp>
      <p:sp>
        <p:nvSpPr>
          <p:cNvPr id="8" name="CuadroTexto 7">
            <a:extLst>
              <a:ext uri="{FF2B5EF4-FFF2-40B4-BE49-F238E27FC236}">
                <a16:creationId xmlns:a16="http://schemas.microsoft.com/office/drawing/2014/main" id="{29B2FD3D-E882-5BB8-36AC-C5E650659F98}"/>
              </a:ext>
            </a:extLst>
          </p:cNvPr>
          <p:cNvSpPr txBox="1"/>
          <p:nvPr/>
        </p:nvSpPr>
        <p:spPr>
          <a:xfrm>
            <a:off x="4427040" y="1530317"/>
            <a:ext cx="8597900" cy="523220"/>
          </a:xfrm>
          <a:prstGeom prst="rect">
            <a:avLst/>
          </a:prstGeom>
          <a:noFill/>
        </p:spPr>
        <p:txBody>
          <a:bodyPr wrap="square">
            <a:spAutoFit/>
          </a:bodyPr>
          <a:lstStyle/>
          <a:p>
            <a:pPr algn="ctr"/>
            <a:r>
              <a:rPr lang="en-US" sz="2800" b="1" i="1" dirty="0">
                <a:solidFill>
                  <a:srgbClr val="161616"/>
                </a:solidFill>
                <a:effectLst/>
                <a:latin typeface="IBM Plex Sans" panose="020F0502020204030204" pitchFamily="34" charset="0"/>
              </a:rPr>
              <a:t>Plan B</a:t>
            </a:r>
            <a:endParaRPr lang="es-CL" sz="2800" b="1" i="1" dirty="0"/>
          </a:p>
        </p:txBody>
      </p:sp>
      <p:sp>
        <p:nvSpPr>
          <p:cNvPr id="9" name="Título 1">
            <a:extLst>
              <a:ext uri="{FF2B5EF4-FFF2-40B4-BE49-F238E27FC236}">
                <a16:creationId xmlns:a16="http://schemas.microsoft.com/office/drawing/2014/main" id="{54806FD4-E830-CF9F-9C8E-9ACD00767D4B}"/>
              </a:ext>
            </a:extLst>
          </p:cNvPr>
          <p:cNvSpPr txBox="1">
            <a:spLocks/>
          </p:cNvSpPr>
          <p:nvPr/>
        </p:nvSpPr>
        <p:spPr>
          <a:xfrm>
            <a:off x="4857349" y="1530317"/>
            <a:ext cx="10797458" cy="23114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u="sng" dirty="0">
                <a:solidFill>
                  <a:srgbClr val="C00000"/>
                </a:solidFill>
              </a:rPr>
              <a:t>REPASO</a:t>
            </a:r>
            <a:endParaRPr lang="es-CL" b="1" i="1" u="sng" dirty="0">
              <a:solidFill>
                <a:srgbClr val="C00000"/>
              </a:solidFill>
            </a:endParaRPr>
          </a:p>
        </p:txBody>
      </p:sp>
    </p:spTree>
    <p:extLst>
      <p:ext uri="{BB962C8B-B14F-4D97-AF65-F5344CB8AC3E}">
        <p14:creationId xmlns:p14="http://schemas.microsoft.com/office/powerpoint/2010/main" val="2191141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E0BEC-9FFD-4FB0-3F4D-C2A5E32DC68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3E4F395-E937-F30E-C713-9A4DF63BE0EC}"/>
              </a:ext>
            </a:extLst>
          </p:cNvPr>
          <p:cNvSpPr>
            <a:spLocks noGrp="1"/>
          </p:cNvSpPr>
          <p:nvPr>
            <p:ph type="title"/>
          </p:nvPr>
        </p:nvSpPr>
        <p:spPr>
          <a:xfrm>
            <a:off x="987763" y="269132"/>
            <a:ext cx="11882713" cy="1577458"/>
          </a:xfrm>
        </p:spPr>
        <p:txBody>
          <a:bodyPr>
            <a:normAutofit/>
          </a:bodyPr>
          <a:lstStyle/>
          <a:p>
            <a:r>
              <a:rPr lang="es-MX" sz="3600" b="1" i="1" dirty="0"/>
              <a:t>¿Cómo se escribe un </a:t>
            </a:r>
            <a:r>
              <a:rPr lang="es-MX" sz="3600" b="1" i="1" dirty="0" err="1"/>
              <a:t>endpoint</a:t>
            </a:r>
            <a:r>
              <a:rPr lang="es-MX" sz="3600" b="1" i="1" dirty="0"/>
              <a:t> (API) correctamente?</a:t>
            </a:r>
            <a:endParaRPr lang="es-CL" sz="3600" b="1" i="1" dirty="0"/>
          </a:p>
        </p:txBody>
      </p:sp>
      <p:pic>
        <p:nvPicPr>
          <p:cNvPr id="4" name="Picture 2" descr="Duoc UC - Learn Chile">
            <a:extLst>
              <a:ext uri="{FF2B5EF4-FFF2-40B4-BE49-F238E27FC236}">
                <a16:creationId xmlns:a16="http://schemas.microsoft.com/office/drawing/2014/main" id="{0BCED637-4A7E-A42D-F487-41ED2F0473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029378CF-9F10-55CA-EE8B-A96782A31BCC}"/>
              </a:ext>
            </a:extLst>
          </p:cNvPr>
          <p:cNvPicPr>
            <a:picLocks noChangeAspect="1"/>
          </p:cNvPicPr>
          <p:nvPr/>
        </p:nvPicPr>
        <p:blipFill>
          <a:blip r:embed="rId3"/>
          <a:stretch>
            <a:fillRect/>
          </a:stretch>
        </p:blipFill>
        <p:spPr>
          <a:xfrm>
            <a:off x="319860" y="1650871"/>
            <a:ext cx="5969141" cy="4640074"/>
          </a:xfrm>
          <a:prstGeom prst="rect">
            <a:avLst/>
          </a:prstGeom>
        </p:spPr>
      </p:pic>
      <p:pic>
        <p:nvPicPr>
          <p:cNvPr id="12" name="Imagen 11">
            <a:extLst>
              <a:ext uri="{FF2B5EF4-FFF2-40B4-BE49-F238E27FC236}">
                <a16:creationId xmlns:a16="http://schemas.microsoft.com/office/drawing/2014/main" id="{1B135764-EE8F-8EEF-219C-80A21FE02B81}"/>
              </a:ext>
            </a:extLst>
          </p:cNvPr>
          <p:cNvPicPr>
            <a:picLocks noChangeAspect="1"/>
          </p:cNvPicPr>
          <p:nvPr/>
        </p:nvPicPr>
        <p:blipFill>
          <a:blip r:embed="rId4"/>
          <a:stretch>
            <a:fillRect/>
          </a:stretch>
        </p:blipFill>
        <p:spPr>
          <a:xfrm>
            <a:off x="5992138" y="1259840"/>
            <a:ext cx="5880002" cy="5212080"/>
          </a:xfrm>
          <a:prstGeom prst="rect">
            <a:avLst/>
          </a:prstGeom>
        </p:spPr>
      </p:pic>
      <p:sp>
        <p:nvSpPr>
          <p:cNvPr id="13" name="Título 1">
            <a:extLst>
              <a:ext uri="{FF2B5EF4-FFF2-40B4-BE49-F238E27FC236}">
                <a16:creationId xmlns:a16="http://schemas.microsoft.com/office/drawing/2014/main" id="{ADD82E6B-3060-8406-71BC-91192ABBE9CF}"/>
              </a:ext>
            </a:extLst>
          </p:cNvPr>
          <p:cNvSpPr txBox="1">
            <a:spLocks/>
          </p:cNvSpPr>
          <p:nvPr/>
        </p:nvSpPr>
        <p:spPr>
          <a:xfrm>
            <a:off x="4649511" y="-665592"/>
            <a:ext cx="10797458" cy="23114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b="1" i="1" u="sng" dirty="0">
                <a:solidFill>
                  <a:srgbClr val="C00000"/>
                </a:solidFill>
              </a:rPr>
              <a:t>REPASO</a:t>
            </a:r>
            <a:endParaRPr lang="es-CL" b="1" i="1" u="sng" dirty="0">
              <a:solidFill>
                <a:srgbClr val="C00000"/>
              </a:solidFill>
            </a:endParaRPr>
          </a:p>
        </p:txBody>
      </p:sp>
    </p:spTree>
    <p:extLst>
      <p:ext uri="{BB962C8B-B14F-4D97-AF65-F5344CB8AC3E}">
        <p14:creationId xmlns:p14="http://schemas.microsoft.com/office/powerpoint/2010/main" val="1261530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55ACB-8F4C-5F73-DA71-2C3006AAFE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8B57A8E-0D2B-FD8A-F705-C6AEAF65FBBE}"/>
              </a:ext>
            </a:extLst>
          </p:cNvPr>
          <p:cNvSpPr>
            <a:spLocks noGrp="1"/>
          </p:cNvSpPr>
          <p:nvPr>
            <p:ph type="title"/>
          </p:nvPr>
        </p:nvSpPr>
        <p:spPr>
          <a:xfrm>
            <a:off x="695367" y="0"/>
            <a:ext cx="11882713" cy="1577458"/>
          </a:xfrm>
        </p:spPr>
        <p:txBody>
          <a:bodyPr>
            <a:normAutofit/>
          </a:bodyPr>
          <a:lstStyle/>
          <a:p>
            <a:r>
              <a:rPr lang="es-MX" sz="3200" b="1" i="1" dirty="0"/>
              <a:t>Escalabilidad de un sistema: </a:t>
            </a:r>
            <a:r>
              <a:rPr lang="es-MX" sz="3200" i="1" dirty="0"/>
              <a:t>Mas maquinas o mas potencia</a:t>
            </a:r>
            <a:r>
              <a:rPr lang="es-MX" sz="3600" i="1" dirty="0"/>
              <a:t>.</a:t>
            </a:r>
            <a:endParaRPr lang="es-CL" sz="3600" i="1" dirty="0"/>
          </a:p>
        </p:txBody>
      </p:sp>
      <p:pic>
        <p:nvPicPr>
          <p:cNvPr id="4" name="Picture 2" descr="Duoc UC - Learn Chile">
            <a:extLst>
              <a:ext uri="{FF2B5EF4-FFF2-40B4-BE49-F238E27FC236}">
                <a16:creationId xmlns:a16="http://schemas.microsoft.com/office/drawing/2014/main" id="{CB2BF429-E19C-2CA3-71B3-3DCA252BAC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9F1948B0-846E-BFD8-796A-C8F8B629A879}"/>
              </a:ext>
            </a:extLst>
          </p:cNvPr>
          <p:cNvPicPr>
            <a:picLocks noChangeAspect="1"/>
          </p:cNvPicPr>
          <p:nvPr/>
        </p:nvPicPr>
        <p:blipFill>
          <a:blip r:embed="rId3"/>
          <a:stretch>
            <a:fillRect/>
          </a:stretch>
        </p:blipFill>
        <p:spPr>
          <a:xfrm>
            <a:off x="1114329" y="1252847"/>
            <a:ext cx="9800781" cy="5210330"/>
          </a:xfrm>
          <a:prstGeom prst="rect">
            <a:avLst/>
          </a:prstGeom>
        </p:spPr>
      </p:pic>
    </p:spTree>
    <p:extLst>
      <p:ext uri="{BB962C8B-B14F-4D97-AF65-F5344CB8AC3E}">
        <p14:creationId xmlns:p14="http://schemas.microsoft.com/office/powerpoint/2010/main" val="3672981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55B7D-85AB-D9AE-16B0-ECA54207CDC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73219B4-8013-9725-8006-7C5EC0F2ED1D}"/>
              </a:ext>
            </a:extLst>
          </p:cNvPr>
          <p:cNvSpPr>
            <a:spLocks noGrp="1"/>
          </p:cNvSpPr>
          <p:nvPr>
            <p:ph type="title"/>
          </p:nvPr>
        </p:nvSpPr>
        <p:spPr>
          <a:xfrm>
            <a:off x="695367" y="0"/>
            <a:ext cx="11882713" cy="1577458"/>
          </a:xfrm>
        </p:spPr>
        <p:txBody>
          <a:bodyPr>
            <a:normAutofit/>
          </a:bodyPr>
          <a:lstStyle/>
          <a:p>
            <a:r>
              <a:rPr lang="es-MX" sz="3200" b="1" i="1" dirty="0"/>
              <a:t>Ejemplos: </a:t>
            </a:r>
            <a:r>
              <a:rPr lang="es-MX" sz="3200" i="1" dirty="0"/>
              <a:t>Un </a:t>
            </a:r>
            <a:r>
              <a:rPr lang="es-MX" sz="3200" i="1" dirty="0" err="1"/>
              <a:t>start</a:t>
            </a:r>
            <a:r>
              <a:rPr lang="es-MX" sz="3200" i="1" dirty="0"/>
              <a:t>-up, con pocos usuarios, suele ser monolito.</a:t>
            </a:r>
            <a:endParaRPr lang="es-CL" sz="3600" i="1" dirty="0"/>
          </a:p>
        </p:txBody>
      </p:sp>
      <p:pic>
        <p:nvPicPr>
          <p:cNvPr id="4" name="Picture 2" descr="Duoc UC - Learn Chile">
            <a:extLst>
              <a:ext uri="{FF2B5EF4-FFF2-40B4-BE49-F238E27FC236}">
                <a16:creationId xmlns:a16="http://schemas.microsoft.com/office/drawing/2014/main" id="{7CAA7FDD-B0A0-ED5C-A7B6-05A2987BE9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90D24455-CE9D-7209-0D88-1E0F725401CC}"/>
              </a:ext>
            </a:extLst>
          </p:cNvPr>
          <p:cNvPicPr>
            <a:picLocks noChangeAspect="1"/>
          </p:cNvPicPr>
          <p:nvPr/>
        </p:nvPicPr>
        <p:blipFill>
          <a:blip r:embed="rId3"/>
          <a:stretch>
            <a:fillRect/>
          </a:stretch>
        </p:blipFill>
        <p:spPr>
          <a:xfrm>
            <a:off x="1111291" y="1266726"/>
            <a:ext cx="9969417" cy="5103594"/>
          </a:xfrm>
          <a:prstGeom prst="rect">
            <a:avLst/>
          </a:prstGeom>
        </p:spPr>
      </p:pic>
    </p:spTree>
    <p:extLst>
      <p:ext uri="{BB962C8B-B14F-4D97-AF65-F5344CB8AC3E}">
        <p14:creationId xmlns:p14="http://schemas.microsoft.com/office/powerpoint/2010/main" val="2442738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DBDCC-84CE-FB42-129F-5A5CAC8CC24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7BF9F08-C02C-DAFC-5035-6B460420C205}"/>
              </a:ext>
            </a:extLst>
          </p:cNvPr>
          <p:cNvSpPr>
            <a:spLocks noGrp="1"/>
          </p:cNvSpPr>
          <p:nvPr>
            <p:ph type="title"/>
          </p:nvPr>
        </p:nvSpPr>
        <p:spPr>
          <a:xfrm>
            <a:off x="695367" y="0"/>
            <a:ext cx="11882713" cy="1577458"/>
          </a:xfrm>
        </p:spPr>
        <p:txBody>
          <a:bodyPr>
            <a:normAutofit/>
          </a:bodyPr>
          <a:lstStyle/>
          <a:p>
            <a:r>
              <a:rPr lang="es-MX" sz="3200" b="1" i="1" dirty="0"/>
              <a:t>¿Cuánto moverse?: </a:t>
            </a:r>
            <a:r>
              <a:rPr lang="es-MX" sz="3200" i="1" dirty="0"/>
              <a:t>Suele ser una decisión económica</a:t>
            </a:r>
            <a:r>
              <a:rPr lang="es-MX" sz="3200" b="1" i="1" dirty="0"/>
              <a:t>.</a:t>
            </a:r>
            <a:endParaRPr lang="es-CL" sz="3600" i="1" dirty="0"/>
          </a:p>
        </p:txBody>
      </p:sp>
      <p:pic>
        <p:nvPicPr>
          <p:cNvPr id="4" name="Picture 2" descr="Duoc UC - Learn Chile">
            <a:extLst>
              <a:ext uri="{FF2B5EF4-FFF2-40B4-BE49-F238E27FC236}">
                <a16:creationId xmlns:a16="http://schemas.microsoft.com/office/drawing/2014/main" id="{B7EABA84-DB2E-DBB4-12F5-FE71AF49B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5007F36D-6F2D-DFA4-EFDD-27BA71552C50}"/>
              </a:ext>
            </a:extLst>
          </p:cNvPr>
          <p:cNvPicPr>
            <a:picLocks noChangeAspect="1"/>
          </p:cNvPicPr>
          <p:nvPr/>
        </p:nvPicPr>
        <p:blipFill>
          <a:blip r:embed="rId3"/>
          <a:stretch>
            <a:fillRect/>
          </a:stretch>
        </p:blipFill>
        <p:spPr>
          <a:xfrm>
            <a:off x="1135175" y="1302909"/>
            <a:ext cx="9065315" cy="4894691"/>
          </a:xfrm>
          <a:prstGeom prst="rect">
            <a:avLst/>
          </a:prstGeom>
        </p:spPr>
      </p:pic>
    </p:spTree>
    <p:extLst>
      <p:ext uri="{BB962C8B-B14F-4D97-AF65-F5344CB8AC3E}">
        <p14:creationId xmlns:p14="http://schemas.microsoft.com/office/powerpoint/2010/main" val="3172291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210B6-7B08-15BC-40E5-1A3159A913A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636502-371F-4A34-DE6C-E7606001850B}"/>
              </a:ext>
            </a:extLst>
          </p:cNvPr>
          <p:cNvSpPr>
            <a:spLocks noGrp="1"/>
          </p:cNvSpPr>
          <p:nvPr>
            <p:ph type="title"/>
          </p:nvPr>
        </p:nvSpPr>
        <p:spPr>
          <a:xfrm>
            <a:off x="335833" y="67153"/>
            <a:ext cx="10846393" cy="1577458"/>
          </a:xfrm>
        </p:spPr>
        <p:txBody>
          <a:bodyPr>
            <a:normAutofit/>
          </a:bodyPr>
          <a:lstStyle/>
          <a:p>
            <a:r>
              <a:rPr lang="es-MX" sz="3200" b="1" i="1" dirty="0" err="1"/>
              <a:t>Kubernetes</a:t>
            </a:r>
            <a:r>
              <a:rPr lang="es-MX" sz="3200" b="1" i="1" dirty="0"/>
              <a:t>: </a:t>
            </a:r>
            <a:r>
              <a:rPr lang="es-MX" sz="3200" i="1" dirty="0"/>
              <a:t>La solución escalable que soluciona cualquier tipo de problema de conexión entre </a:t>
            </a:r>
            <a:r>
              <a:rPr lang="es-MX" sz="3200" i="1" dirty="0" err="1"/>
              <a:t>VMs</a:t>
            </a:r>
            <a:r>
              <a:rPr lang="es-MX" sz="3200" i="1" dirty="0"/>
              <a:t>.</a:t>
            </a:r>
            <a:endParaRPr lang="es-CL" sz="3600" i="1" dirty="0"/>
          </a:p>
        </p:txBody>
      </p:sp>
      <p:pic>
        <p:nvPicPr>
          <p:cNvPr id="4" name="Picture 2" descr="Duoc UC - Learn Chile">
            <a:extLst>
              <a:ext uri="{FF2B5EF4-FFF2-40B4-BE49-F238E27FC236}">
                <a16:creationId xmlns:a16="http://schemas.microsoft.com/office/drawing/2014/main" id="{263B9E2B-1CC5-D0F4-ED14-63DA5CBD2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0F9C0127-6B2D-B14B-EFB5-4E6221E5F4F3}"/>
              </a:ext>
            </a:extLst>
          </p:cNvPr>
          <p:cNvPicPr>
            <a:picLocks noChangeAspect="1"/>
          </p:cNvPicPr>
          <p:nvPr/>
        </p:nvPicPr>
        <p:blipFill>
          <a:blip r:embed="rId3"/>
          <a:stretch>
            <a:fillRect/>
          </a:stretch>
        </p:blipFill>
        <p:spPr>
          <a:xfrm>
            <a:off x="829740" y="1267919"/>
            <a:ext cx="9858580" cy="4972703"/>
          </a:xfrm>
          <a:prstGeom prst="rect">
            <a:avLst/>
          </a:prstGeom>
        </p:spPr>
      </p:pic>
      <p:sp>
        <p:nvSpPr>
          <p:cNvPr id="7" name="CuadroTexto 6">
            <a:extLst>
              <a:ext uri="{FF2B5EF4-FFF2-40B4-BE49-F238E27FC236}">
                <a16:creationId xmlns:a16="http://schemas.microsoft.com/office/drawing/2014/main" id="{87DBBC29-A4F4-FB79-EF6A-8E36167D842B}"/>
              </a:ext>
            </a:extLst>
          </p:cNvPr>
          <p:cNvSpPr txBox="1"/>
          <p:nvPr/>
        </p:nvSpPr>
        <p:spPr>
          <a:xfrm>
            <a:off x="635826" y="5959850"/>
            <a:ext cx="10726434" cy="830997"/>
          </a:xfrm>
          <a:prstGeom prst="rect">
            <a:avLst/>
          </a:prstGeom>
          <a:noFill/>
        </p:spPr>
        <p:txBody>
          <a:bodyPr wrap="square">
            <a:spAutoFit/>
          </a:bodyPr>
          <a:lstStyle/>
          <a:p>
            <a:pPr algn="ctr"/>
            <a:r>
              <a:rPr lang="es-MX" sz="1600" i="1" dirty="0"/>
              <a:t>Este ramo no es sobre </a:t>
            </a:r>
            <a:r>
              <a:rPr lang="es-MX" sz="1600" i="1" dirty="0" err="1"/>
              <a:t>Kubernetes</a:t>
            </a:r>
            <a:r>
              <a:rPr lang="es-MX" sz="1600" i="1" dirty="0"/>
              <a:t>. No es complicado configurarlo, ya que hoy en día, con GCP, es bastante fácil montar estos servicios, el problema es el costos, y que aplica solo a empresas que tienen un flujo de información alta, no a pequeñas empresas.</a:t>
            </a:r>
            <a:endParaRPr lang="es-CL" sz="1600" i="1" dirty="0"/>
          </a:p>
        </p:txBody>
      </p:sp>
    </p:spTree>
    <p:extLst>
      <p:ext uri="{BB962C8B-B14F-4D97-AF65-F5344CB8AC3E}">
        <p14:creationId xmlns:p14="http://schemas.microsoft.com/office/powerpoint/2010/main" val="195272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8D4BB6-0368-1ECD-542A-ED67BB18FB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7323A2B-764E-7A0A-D003-ACE639374398}"/>
              </a:ext>
            </a:extLst>
          </p:cNvPr>
          <p:cNvSpPr>
            <a:spLocks noGrp="1"/>
          </p:cNvSpPr>
          <p:nvPr>
            <p:ph type="title"/>
          </p:nvPr>
        </p:nvSpPr>
        <p:spPr>
          <a:xfrm>
            <a:off x="335833" y="67153"/>
            <a:ext cx="10846393" cy="1577458"/>
          </a:xfrm>
        </p:spPr>
        <p:txBody>
          <a:bodyPr>
            <a:normAutofit/>
          </a:bodyPr>
          <a:lstStyle/>
          <a:p>
            <a:r>
              <a:rPr lang="es-MX" sz="3200" b="1" i="1" dirty="0"/>
              <a:t>Optimización por modelamiento: </a:t>
            </a:r>
            <a:r>
              <a:rPr lang="es-MX" sz="3200" i="1" dirty="0"/>
              <a:t>Hazlo más pequeño.</a:t>
            </a:r>
            <a:endParaRPr lang="es-CL" sz="3200" i="1" dirty="0"/>
          </a:p>
        </p:txBody>
      </p:sp>
      <p:pic>
        <p:nvPicPr>
          <p:cNvPr id="4" name="Picture 2" descr="Duoc UC - Learn Chile">
            <a:extLst>
              <a:ext uri="{FF2B5EF4-FFF2-40B4-BE49-F238E27FC236}">
                <a16:creationId xmlns:a16="http://schemas.microsoft.com/office/drawing/2014/main" id="{440BFE07-EECF-86B7-FDB3-3054EE7399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esquinas redondeadas 7">
            <a:extLst>
              <a:ext uri="{FF2B5EF4-FFF2-40B4-BE49-F238E27FC236}">
                <a16:creationId xmlns:a16="http://schemas.microsoft.com/office/drawing/2014/main" id="{0F9268A8-EC54-E5F7-5C1B-CFDA83CCB023}"/>
              </a:ext>
            </a:extLst>
          </p:cNvPr>
          <p:cNvSpPr/>
          <p:nvPr/>
        </p:nvSpPr>
        <p:spPr>
          <a:xfrm>
            <a:off x="5293360" y="3002647"/>
            <a:ext cx="914400" cy="344950"/>
          </a:xfrm>
          <a:prstGeom prst="roundRect">
            <a:avLst/>
          </a:prstGeom>
          <a:noFill/>
          <a:ln w="571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CL"/>
          </a:p>
        </p:txBody>
      </p:sp>
      <p:sp>
        <p:nvSpPr>
          <p:cNvPr id="14" name="CuadroTexto 13">
            <a:extLst>
              <a:ext uri="{FF2B5EF4-FFF2-40B4-BE49-F238E27FC236}">
                <a16:creationId xmlns:a16="http://schemas.microsoft.com/office/drawing/2014/main" id="{252B91FE-485C-6FE0-35AD-FC3072ECE5F5}"/>
              </a:ext>
            </a:extLst>
          </p:cNvPr>
          <p:cNvSpPr txBox="1"/>
          <p:nvPr/>
        </p:nvSpPr>
        <p:spPr>
          <a:xfrm>
            <a:off x="648310" y="5947828"/>
            <a:ext cx="10726434" cy="338554"/>
          </a:xfrm>
          <a:prstGeom prst="rect">
            <a:avLst/>
          </a:prstGeom>
          <a:noFill/>
        </p:spPr>
        <p:txBody>
          <a:bodyPr wrap="square">
            <a:spAutoFit/>
          </a:bodyPr>
          <a:lstStyle/>
          <a:p>
            <a:r>
              <a:rPr lang="es-MX" sz="1600" b="1" i="1" dirty="0"/>
              <a:t>Nota</a:t>
            </a:r>
            <a:r>
              <a:rPr lang="es-MX" sz="1600" i="1" dirty="0"/>
              <a:t>: https://www.linkedin.com/pulse/fine-tuning-quantization-distillation-three-very-ways-alvin-kabwama-i47zc/.</a:t>
            </a:r>
            <a:endParaRPr lang="es-CL" sz="1600" i="1" dirty="0"/>
          </a:p>
        </p:txBody>
      </p:sp>
      <p:pic>
        <p:nvPicPr>
          <p:cNvPr id="5" name="Imagen 4">
            <a:extLst>
              <a:ext uri="{FF2B5EF4-FFF2-40B4-BE49-F238E27FC236}">
                <a16:creationId xmlns:a16="http://schemas.microsoft.com/office/drawing/2014/main" id="{E46E5EA7-2236-378D-17AB-00CDEAA1B5C8}"/>
              </a:ext>
            </a:extLst>
          </p:cNvPr>
          <p:cNvPicPr>
            <a:picLocks noChangeAspect="1"/>
          </p:cNvPicPr>
          <p:nvPr/>
        </p:nvPicPr>
        <p:blipFill>
          <a:blip r:embed="rId4"/>
          <a:stretch>
            <a:fillRect/>
          </a:stretch>
        </p:blipFill>
        <p:spPr>
          <a:xfrm>
            <a:off x="2184858" y="1391494"/>
            <a:ext cx="7653337" cy="4310674"/>
          </a:xfrm>
          <a:prstGeom prst="rect">
            <a:avLst/>
          </a:prstGeom>
        </p:spPr>
      </p:pic>
    </p:spTree>
    <p:extLst>
      <p:ext uri="{BB962C8B-B14F-4D97-AF65-F5344CB8AC3E}">
        <p14:creationId xmlns:p14="http://schemas.microsoft.com/office/powerpoint/2010/main" val="962375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19BDF3-DC2C-F255-B374-22972D27084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D5CAD86-B9EF-2F69-D4F5-4779B37157DC}"/>
              </a:ext>
            </a:extLst>
          </p:cNvPr>
          <p:cNvSpPr>
            <a:spLocks noGrp="1"/>
          </p:cNvSpPr>
          <p:nvPr>
            <p:ph type="title"/>
          </p:nvPr>
        </p:nvSpPr>
        <p:spPr>
          <a:xfrm>
            <a:off x="335833" y="67153"/>
            <a:ext cx="10846393" cy="1577458"/>
          </a:xfrm>
        </p:spPr>
        <p:txBody>
          <a:bodyPr>
            <a:normAutofit/>
          </a:bodyPr>
          <a:lstStyle/>
          <a:p>
            <a:r>
              <a:rPr lang="es-MX" sz="3200" b="1" i="1" dirty="0"/>
              <a:t>Optimización por inferencia de servicio: </a:t>
            </a:r>
            <a:r>
              <a:rPr lang="es-MX" sz="3200" i="1" dirty="0"/>
              <a:t>GPU más eficiente.</a:t>
            </a:r>
            <a:endParaRPr lang="es-CL" sz="3200" i="1" dirty="0"/>
          </a:p>
        </p:txBody>
      </p:sp>
      <p:pic>
        <p:nvPicPr>
          <p:cNvPr id="4" name="Picture 2" descr="Duoc UC - Learn Chile">
            <a:extLst>
              <a:ext uri="{FF2B5EF4-FFF2-40B4-BE49-F238E27FC236}">
                <a16:creationId xmlns:a16="http://schemas.microsoft.com/office/drawing/2014/main" id="{7B4B2BC7-49B7-178A-924F-D81B82771C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esquinas redondeadas 7">
            <a:extLst>
              <a:ext uri="{FF2B5EF4-FFF2-40B4-BE49-F238E27FC236}">
                <a16:creationId xmlns:a16="http://schemas.microsoft.com/office/drawing/2014/main" id="{A776A299-C7B6-EA83-504E-54FC5F199ED6}"/>
              </a:ext>
            </a:extLst>
          </p:cNvPr>
          <p:cNvSpPr/>
          <p:nvPr/>
        </p:nvSpPr>
        <p:spPr>
          <a:xfrm>
            <a:off x="5293360" y="3002647"/>
            <a:ext cx="914400" cy="344950"/>
          </a:xfrm>
          <a:prstGeom prst="roundRect">
            <a:avLst/>
          </a:prstGeom>
          <a:noFill/>
          <a:ln w="571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CL"/>
          </a:p>
        </p:txBody>
      </p:sp>
      <p:pic>
        <p:nvPicPr>
          <p:cNvPr id="13" name="Imagen 12">
            <a:extLst>
              <a:ext uri="{FF2B5EF4-FFF2-40B4-BE49-F238E27FC236}">
                <a16:creationId xmlns:a16="http://schemas.microsoft.com/office/drawing/2014/main" id="{AFFFBAF1-D6F3-DC32-F83D-0213EEE3141E}"/>
              </a:ext>
            </a:extLst>
          </p:cNvPr>
          <p:cNvPicPr>
            <a:picLocks noChangeAspect="1"/>
          </p:cNvPicPr>
          <p:nvPr/>
        </p:nvPicPr>
        <p:blipFill>
          <a:blip r:embed="rId4"/>
          <a:stretch>
            <a:fillRect/>
          </a:stretch>
        </p:blipFill>
        <p:spPr>
          <a:xfrm>
            <a:off x="929016" y="1321561"/>
            <a:ext cx="10557488" cy="4160587"/>
          </a:xfrm>
          <a:prstGeom prst="rect">
            <a:avLst/>
          </a:prstGeom>
        </p:spPr>
      </p:pic>
      <p:sp>
        <p:nvSpPr>
          <p:cNvPr id="14" name="CuadroTexto 13">
            <a:extLst>
              <a:ext uri="{FF2B5EF4-FFF2-40B4-BE49-F238E27FC236}">
                <a16:creationId xmlns:a16="http://schemas.microsoft.com/office/drawing/2014/main" id="{E45922AA-E5A1-9128-EA4E-DDED92FE110D}"/>
              </a:ext>
            </a:extLst>
          </p:cNvPr>
          <p:cNvSpPr txBox="1"/>
          <p:nvPr/>
        </p:nvSpPr>
        <p:spPr>
          <a:xfrm>
            <a:off x="648310" y="5947828"/>
            <a:ext cx="10726434" cy="707886"/>
          </a:xfrm>
          <a:prstGeom prst="rect">
            <a:avLst/>
          </a:prstGeom>
          <a:noFill/>
        </p:spPr>
        <p:txBody>
          <a:bodyPr wrap="square">
            <a:spAutoFit/>
          </a:bodyPr>
          <a:lstStyle/>
          <a:p>
            <a:pPr algn="ctr"/>
            <a:r>
              <a:rPr lang="es-MX" sz="2000" i="1" dirty="0" err="1"/>
              <a:t>Requests</a:t>
            </a:r>
            <a:r>
              <a:rPr lang="es-MX" sz="2000" i="1" dirty="0"/>
              <a:t> esperan como en un Bus en </a:t>
            </a:r>
            <a:r>
              <a:rPr lang="es-MX" sz="2000" b="1" i="1" dirty="0" err="1"/>
              <a:t>Static</a:t>
            </a:r>
            <a:r>
              <a:rPr lang="es-MX" sz="2000" b="1" i="1" dirty="0"/>
              <a:t> </a:t>
            </a:r>
            <a:r>
              <a:rPr lang="es-MX" sz="2000" b="1" i="1" dirty="0" err="1"/>
              <a:t>batching</a:t>
            </a:r>
            <a:r>
              <a:rPr lang="es-MX" sz="2000" i="1" dirty="0"/>
              <a:t>, y en </a:t>
            </a:r>
            <a:r>
              <a:rPr lang="es-MX" sz="2000" b="1" i="1" dirty="0"/>
              <a:t>Dynamic </a:t>
            </a:r>
            <a:r>
              <a:rPr lang="es-MX" sz="2000" b="1" i="1" dirty="0" err="1"/>
              <a:t>batching</a:t>
            </a:r>
            <a:r>
              <a:rPr lang="es-MX" sz="2000" i="1" dirty="0"/>
              <a:t>, esperan como en un bus, o hasta un cierto tiempo.</a:t>
            </a:r>
            <a:endParaRPr lang="es-CL" sz="2000" i="1" dirty="0"/>
          </a:p>
        </p:txBody>
      </p:sp>
    </p:spTree>
    <p:extLst>
      <p:ext uri="{BB962C8B-B14F-4D97-AF65-F5344CB8AC3E}">
        <p14:creationId xmlns:p14="http://schemas.microsoft.com/office/powerpoint/2010/main" val="3051198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BE6D9-B7E1-E08B-95E6-6DE0D78FB9C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258F70E-8DBA-398D-E16F-3B36EF69839E}"/>
              </a:ext>
            </a:extLst>
          </p:cNvPr>
          <p:cNvSpPr>
            <a:spLocks noGrp="1"/>
          </p:cNvSpPr>
          <p:nvPr>
            <p:ph type="title"/>
          </p:nvPr>
        </p:nvSpPr>
        <p:spPr>
          <a:xfrm>
            <a:off x="335833" y="67153"/>
            <a:ext cx="10846393" cy="1577458"/>
          </a:xfrm>
        </p:spPr>
        <p:txBody>
          <a:bodyPr>
            <a:normAutofit/>
          </a:bodyPr>
          <a:lstStyle/>
          <a:p>
            <a:r>
              <a:rPr lang="es-MX" sz="3200" b="1" i="1" dirty="0" err="1"/>
              <a:t>Prompt</a:t>
            </a:r>
            <a:r>
              <a:rPr lang="es-MX" sz="3200" b="1" i="1" dirty="0"/>
              <a:t> </a:t>
            </a:r>
            <a:r>
              <a:rPr lang="es-MX" sz="3200" b="1" i="1" dirty="0" err="1"/>
              <a:t>caching</a:t>
            </a:r>
            <a:r>
              <a:rPr lang="es-MX" sz="3200" b="1" i="1" dirty="0"/>
              <a:t>: </a:t>
            </a:r>
            <a:r>
              <a:rPr lang="es-MX" sz="3200" i="1" dirty="0"/>
              <a:t>No</a:t>
            </a:r>
            <a:r>
              <a:rPr lang="es-MX" sz="3200" b="1" i="1" dirty="0"/>
              <a:t> </a:t>
            </a:r>
            <a:r>
              <a:rPr lang="es-MX" sz="3200" i="1" dirty="0"/>
              <a:t>te repitas a ti mismo.</a:t>
            </a:r>
            <a:endParaRPr lang="es-CL" sz="3200" i="1" dirty="0"/>
          </a:p>
        </p:txBody>
      </p:sp>
      <p:pic>
        <p:nvPicPr>
          <p:cNvPr id="4" name="Picture 2" descr="Duoc UC - Learn Chile">
            <a:extLst>
              <a:ext uri="{FF2B5EF4-FFF2-40B4-BE49-F238E27FC236}">
                <a16:creationId xmlns:a16="http://schemas.microsoft.com/office/drawing/2014/main" id="{D5B3823E-A13C-24DE-4904-E8DD2A93A1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esquinas redondeadas 7">
            <a:extLst>
              <a:ext uri="{FF2B5EF4-FFF2-40B4-BE49-F238E27FC236}">
                <a16:creationId xmlns:a16="http://schemas.microsoft.com/office/drawing/2014/main" id="{55F843E6-3E7F-6949-6058-544F3DB0981C}"/>
              </a:ext>
            </a:extLst>
          </p:cNvPr>
          <p:cNvSpPr/>
          <p:nvPr/>
        </p:nvSpPr>
        <p:spPr>
          <a:xfrm>
            <a:off x="5293360" y="3002647"/>
            <a:ext cx="914400" cy="344950"/>
          </a:xfrm>
          <a:prstGeom prst="roundRect">
            <a:avLst/>
          </a:prstGeom>
          <a:noFill/>
          <a:ln w="571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CL"/>
          </a:p>
        </p:txBody>
      </p:sp>
      <p:sp>
        <p:nvSpPr>
          <p:cNvPr id="14" name="CuadroTexto 13">
            <a:extLst>
              <a:ext uri="{FF2B5EF4-FFF2-40B4-BE49-F238E27FC236}">
                <a16:creationId xmlns:a16="http://schemas.microsoft.com/office/drawing/2014/main" id="{EC8E2BAB-A89A-BBA4-F850-B8DEF1847F53}"/>
              </a:ext>
            </a:extLst>
          </p:cNvPr>
          <p:cNvSpPr txBox="1"/>
          <p:nvPr/>
        </p:nvSpPr>
        <p:spPr>
          <a:xfrm>
            <a:off x="648310" y="5631170"/>
            <a:ext cx="10726434" cy="707886"/>
          </a:xfrm>
          <a:prstGeom prst="rect">
            <a:avLst/>
          </a:prstGeom>
          <a:noFill/>
        </p:spPr>
        <p:txBody>
          <a:bodyPr wrap="square">
            <a:spAutoFit/>
          </a:bodyPr>
          <a:lstStyle/>
          <a:p>
            <a:pPr algn="ctr"/>
            <a:r>
              <a:rPr lang="es-MX" sz="2000" i="1" dirty="0" err="1"/>
              <a:t>Prompt</a:t>
            </a:r>
            <a:r>
              <a:rPr lang="es-MX" sz="2000" i="1" dirty="0"/>
              <a:t> </a:t>
            </a:r>
            <a:r>
              <a:rPr lang="es-MX" sz="2000" i="1" dirty="0" err="1"/>
              <a:t>caching</a:t>
            </a:r>
            <a:r>
              <a:rPr lang="es-MX" sz="2000" i="1" dirty="0"/>
              <a:t> esta disponible por los proveedores de </a:t>
            </a:r>
            <a:r>
              <a:rPr lang="es-MX" sz="2000" i="1" dirty="0" err="1"/>
              <a:t>APIs</a:t>
            </a:r>
            <a:r>
              <a:rPr lang="es-MX" sz="2000" i="1" dirty="0"/>
              <a:t> de </a:t>
            </a:r>
            <a:r>
              <a:rPr lang="es-MX" sz="2000" i="1" dirty="0" err="1"/>
              <a:t>LLMs</a:t>
            </a:r>
            <a:r>
              <a:rPr lang="es-MX" sz="2000" i="1" dirty="0"/>
              <a:t>, y es una buena forma de optimizar costos.</a:t>
            </a:r>
            <a:endParaRPr lang="es-CL" sz="2000" i="1" dirty="0"/>
          </a:p>
        </p:txBody>
      </p:sp>
      <p:pic>
        <p:nvPicPr>
          <p:cNvPr id="16" name="Imagen 15">
            <a:extLst>
              <a:ext uri="{FF2B5EF4-FFF2-40B4-BE49-F238E27FC236}">
                <a16:creationId xmlns:a16="http://schemas.microsoft.com/office/drawing/2014/main" id="{74BABB9B-8FAE-31B7-0858-9187EDF6FBE7}"/>
              </a:ext>
            </a:extLst>
          </p:cNvPr>
          <p:cNvPicPr>
            <a:picLocks noChangeAspect="1"/>
          </p:cNvPicPr>
          <p:nvPr/>
        </p:nvPicPr>
        <p:blipFill>
          <a:blip r:embed="rId4"/>
          <a:stretch>
            <a:fillRect/>
          </a:stretch>
        </p:blipFill>
        <p:spPr>
          <a:xfrm>
            <a:off x="263022" y="1416778"/>
            <a:ext cx="5496007" cy="3516688"/>
          </a:xfrm>
          <a:prstGeom prst="rect">
            <a:avLst/>
          </a:prstGeom>
        </p:spPr>
      </p:pic>
      <p:pic>
        <p:nvPicPr>
          <p:cNvPr id="18" name="Imagen 17">
            <a:extLst>
              <a:ext uri="{FF2B5EF4-FFF2-40B4-BE49-F238E27FC236}">
                <a16:creationId xmlns:a16="http://schemas.microsoft.com/office/drawing/2014/main" id="{A5B0319F-7E43-4476-C80F-EA94D19217F3}"/>
              </a:ext>
            </a:extLst>
          </p:cNvPr>
          <p:cNvPicPr>
            <a:picLocks noChangeAspect="1"/>
          </p:cNvPicPr>
          <p:nvPr/>
        </p:nvPicPr>
        <p:blipFill>
          <a:blip r:embed="rId5"/>
          <a:stretch>
            <a:fillRect/>
          </a:stretch>
        </p:blipFill>
        <p:spPr>
          <a:xfrm>
            <a:off x="5750560" y="1644611"/>
            <a:ext cx="5988358" cy="3375740"/>
          </a:xfrm>
          <a:prstGeom prst="rect">
            <a:avLst/>
          </a:prstGeom>
        </p:spPr>
      </p:pic>
    </p:spTree>
    <p:extLst>
      <p:ext uri="{BB962C8B-B14F-4D97-AF65-F5344CB8AC3E}">
        <p14:creationId xmlns:p14="http://schemas.microsoft.com/office/powerpoint/2010/main" val="848995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B9C1B-8EF6-B55A-EE5E-6D59A8FDE4B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9048FB6-76E1-6D98-9686-F75B09235F9E}"/>
              </a:ext>
            </a:extLst>
          </p:cNvPr>
          <p:cNvSpPr>
            <a:spLocks noGrp="1"/>
          </p:cNvSpPr>
          <p:nvPr>
            <p:ph type="title"/>
          </p:nvPr>
        </p:nvSpPr>
        <p:spPr>
          <a:xfrm>
            <a:off x="335833" y="67153"/>
            <a:ext cx="10846393" cy="1577458"/>
          </a:xfrm>
        </p:spPr>
        <p:txBody>
          <a:bodyPr>
            <a:normAutofit/>
          </a:bodyPr>
          <a:lstStyle/>
          <a:p>
            <a:r>
              <a:rPr lang="es-MX" sz="3200" b="1" i="1" dirty="0"/>
              <a:t>Oxford </a:t>
            </a:r>
            <a:r>
              <a:rPr lang="es-MX" sz="3200" b="1" i="1" dirty="0" err="1"/>
              <a:t>Tech</a:t>
            </a:r>
            <a:r>
              <a:rPr lang="es-MX" sz="3200" b="1" i="1" dirty="0"/>
              <a:t> </a:t>
            </a:r>
            <a:r>
              <a:rPr lang="es-MX" sz="3200" b="1" i="1" dirty="0" err="1"/>
              <a:t>Week</a:t>
            </a:r>
            <a:r>
              <a:rPr lang="es-MX" sz="3200" b="1" i="1" dirty="0"/>
              <a:t>: </a:t>
            </a:r>
            <a:r>
              <a:rPr lang="es-MX" sz="3200" i="1" dirty="0"/>
              <a:t> Agentes, </a:t>
            </a:r>
            <a:r>
              <a:rPr lang="es-MX" sz="3200" i="1" dirty="0" err="1"/>
              <a:t>Iot</a:t>
            </a:r>
            <a:r>
              <a:rPr lang="es-MX" sz="3200" i="1" dirty="0"/>
              <a:t> y personas.</a:t>
            </a:r>
            <a:endParaRPr lang="es-CL" sz="3200" i="1" dirty="0"/>
          </a:p>
        </p:txBody>
      </p:sp>
      <p:pic>
        <p:nvPicPr>
          <p:cNvPr id="4" name="Picture 2" descr="Duoc UC - Learn Chile">
            <a:extLst>
              <a:ext uri="{FF2B5EF4-FFF2-40B4-BE49-F238E27FC236}">
                <a16:creationId xmlns:a16="http://schemas.microsoft.com/office/drawing/2014/main" id="{8399B515-A3A5-91B5-F9FA-7557AB18BD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35913" y="30480"/>
            <a:ext cx="974807" cy="825402"/>
          </a:xfrm>
          <a:prstGeom prst="rect">
            <a:avLst/>
          </a:prstGeom>
          <a:noFill/>
          <a:extLst>
            <a:ext uri="{909E8E84-426E-40DD-AFC4-6F175D3DCCD1}">
              <a14:hiddenFill xmlns:a14="http://schemas.microsoft.com/office/drawing/2010/main">
                <a:solidFill>
                  <a:srgbClr val="FFFFFF"/>
                </a:solidFill>
              </a14:hiddenFill>
            </a:ext>
          </a:extLst>
        </p:spPr>
      </p:pic>
      <p:pic>
        <p:nvPicPr>
          <p:cNvPr id="5" name="Imagen 4">
            <a:extLst>
              <a:ext uri="{FF2B5EF4-FFF2-40B4-BE49-F238E27FC236}">
                <a16:creationId xmlns:a16="http://schemas.microsoft.com/office/drawing/2014/main" id="{83DD6003-6302-F46F-DF2B-C2BE1F7FDA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0309" y="3836526"/>
            <a:ext cx="2893087" cy="2169815"/>
          </a:xfrm>
          <a:prstGeom prst="rect">
            <a:avLst/>
          </a:prstGeom>
        </p:spPr>
      </p:pic>
      <p:pic>
        <p:nvPicPr>
          <p:cNvPr id="7" name="Imagen 6">
            <a:extLst>
              <a:ext uri="{FF2B5EF4-FFF2-40B4-BE49-F238E27FC236}">
                <a16:creationId xmlns:a16="http://schemas.microsoft.com/office/drawing/2014/main" id="{D454C7CD-CFAA-CBA0-4F9A-2D86571EF0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06849" y="1355350"/>
            <a:ext cx="1460009" cy="2179975"/>
          </a:xfrm>
          <a:prstGeom prst="rect">
            <a:avLst/>
          </a:prstGeom>
        </p:spPr>
      </p:pic>
      <p:pic>
        <p:nvPicPr>
          <p:cNvPr id="10" name="Imagen 9">
            <a:extLst>
              <a:ext uri="{FF2B5EF4-FFF2-40B4-BE49-F238E27FC236}">
                <a16:creationId xmlns:a16="http://schemas.microsoft.com/office/drawing/2014/main" id="{8DDDEC37-FDE6-A2D5-2FF2-3A218D9AB9F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643061" y="2119180"/>
            <a:ext cx="3492852" cy="2619639"/>
          </a:xfrm>
          <a:prstGeom prst="rect">
            <a:avLst/>
          </a:prstGeom>
        </p:spPr>
      </p:pic>
      <p:pic>
        <p:nvPicPr>
          <p:cNvPr id="12" name="Imagen 11">
            <a:extLst>
              <a:ext uri="{FF2B5EF4-FFF2-40B4-BE49-F238E27FC236}">
                <a16:creationId xmlns:a16="http://schemas.microsoft.com/office/drawing/2014/main" id="{824F5E2C-C6C7-3F2B-8A7E-0A29C2AFDDD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3884" y="1765438"/>
            <a:ext cx="3492852" cy="2619639"/>
          </a:xfrm>
          <a:prstGeom prst="rect">
            <a:avLst/>
          </a:prstGeom>
        </p:spPr>
      </p:pic>
    </p:spTree>
    <p:extLst>
      <p:ext uri="{BB962C8B-B14F-4D97-AF65-F5344CB8AC3E}">
        <p14:creationId xmlns:p14="http://schemas.microsoft.com/office/powerpoint/2010/main" val="177787538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3366</TotalTime>
  <Words>2122</Words>
  <Application>Microsoft Office PowerPoint</Application>
  <PresentationFormat>Panorámica</PresentationFormat>
  <Paragraphs>59</Paragraphs>
  <Slides>15</Slides>
  <Notes>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Arial</vt:lpstr>
      <vt:lpstr>Calibri</vt:lpstr>
      <vt:lpstr>Calibri Light</vt:lpstr>
      <vt:lpstr>IBM Plex Sans</vt:lpstr>
      <vt:lpstr>Tema de Office</vt:lpstr>
      <vt:lpstr>Ingeniería de soluciones con AI</vt:lpstr>
      <vt:lpstr>Noticias: Magnifica Humanitas, reacción del Papa sobre la AI.</vt:lpstr>
      <vt:lpstr>¿Cuál es la diferencia entre la inteligencia artificial que uso en visual studio code o el chatGPT  y el código de mi agente de la evaluación 2?</vt:lpstr>
      <vt:lpstr>¿Qué es un sistema multi-agente?</vt:lpstr>
      <vt:lpstr>¿Cuál es la diferencia entre AI y ML?</vt:lpstr>
      <vt:lpstr>¿Cuál arquitectura es más escalable?</vt:lpstr>
      <vt:lpstr>¿Cómo se escribe un endpoint (API) correctamente?</vt:lpstr>
      <vt:lpstr>Escalabilidad de un sistema: Mas maquinas o mas potencia.</vt:lpstr>
      <vt:lpstr>Ejemplos: Un start-up, con pocos usuarios, suele ser monolito.</vt:lpstr>
      <vt:lpstr>¿Cuánto moverse?: Suele ser una decisión económica.</vt:lpstr>
      <vt:lpstr>Kubernetes: La solución escalable que soluciona cualquier tipo de problema de conexión entre VMs.</vt:lpstr>
      <vt:lpstr>Optimización por modelamiento: Hazlo más pequeño.</vt:lpstr>
      <vt:lpstr>Optimización por inferencia de servicio: GPU más eficiente.</vt:lpstr>
      <vt:lpstr>Prompt caching: No te repitas a ti mismo.</vt:lpstr>
      <vt:lpstr>Oxford Tech Week:  Agentes, Iot y personas.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Lenovo</dc:creator>
  <cp:lastModifiedBy>Lenovo</cp:lastModifiedBy>
  <cp:revision>31</cp:revision>
  <dcterms:created xsi:type="dcterms:W3CDTF">2026-03-06T13:35:57Z</dcterms:created>
  <dcterms:modified xsi:type="dcterms:W3CDTF">2026-06-02T15:39:12Z</dcterms:modified>
</cp:coreProperties>
</file>