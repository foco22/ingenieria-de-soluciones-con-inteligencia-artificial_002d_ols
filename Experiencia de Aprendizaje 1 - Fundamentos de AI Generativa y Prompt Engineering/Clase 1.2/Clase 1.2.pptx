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6" r:id="rId3"/>
    <p:sldId id="287" r:id="rId4"/>
    <p:sldId id="288" r:id="rId5"/>
    <p:sldId id="267" r:id="rId6"/>
    <p:sldId id="283" r:id="rId7"/>
    <p:sldId id="284" r:id="rId8"/>
    <p:sldId id="270" r:id="rId9"/>
    <p:sldId id="275" r:id="rId10"/>
    <p:sldId id="285" r:id="rId11"/>
    <p:sldId id="289" r:id="rId12"/>
    <p:sldId id="290" r:id="rId13"/>
    <p:sldId id="286" r:id="rId14"/>
    <p:sldId id="280" r:id="rId15"/>
    <p:sldId id="268" r:id="rId16"/>
    <p:sldId id="269" r:id="rId17"/>
    <p:sldId id="271" r:id="rId18"/>
    <p:sldId id="272" r:id="rId19"/>
    <p:sldId id="273" r:id="rId20"/>
    <p:sldId id="292" r:id="rId21"/>
    <p:sldId id="274" r:id="rId22"/>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7" autoAdjust="0"/>
    <p:restoredTop sz="92905" autoAdjust="0"/>
  </p:normalViewPr>
  <p:slideViewPr>
    <p:cSldViewPr snapToGrid="0">
      <p:cViewPr varScale="1">
        <p:scale>
          <a:sx n="59" d="100"/>
          <a:sy n="59" d="100"/>
        </p:scale>
        <p:origin x="102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DCB0C-69E9-4911-980B-989A824EA717}" type="datetimeFigureOut">
              <a:rPr lang="es-CL" smtClean="0"/>
              <a:t>18-08-2026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7F482-7FF7-4DD4-AE91-ACA70D5B43D5}" type="slidenum">
              <a:rPr lang="es-CL" smtClean="0"/>
              <a:t>‹Nº›</a:t>
            </a:fld>
            <a:endParaRPr lang="es-CL"/>
          </a:p>
        </p:txBody>
      </p:sp>
    </p:spTree>
    <p:extLst>
      <p:ext uri="{BB962C8B-B14F-4D97-AF65-F5344CB8AC3E}">
        <p14:creationId xmlns:p14="http://schemas.microsoft.com/office/powerpoint/2010/main" val="2209796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555FB-9B8D-E6C3-416A-F714DBC3A4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C50C1E2-958A-3046-34D2-25C6822B3E59}"/>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C9C06334-4EDD-C461-183A-88902DA50586}"/>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7AE24F31-F167-700F-3512-DB54C6ACCCF8}"/>
              </a:ext>
            </a:extLst>
          </p:cNvPr>
          <p:cNvSpPr>
            <a:spLocks noGrp="1"/>
          </p:cNvSpPr>
          <p:nvPr>
            <p:ph type="sldNum" sz="quarter" idx="5"/>
          </p:nvPr>
        </p:nvSpPr>
        <p:spPr/>
        <p:txBody>
          <a:bodyPr/>
          <a:lstStyle/>
          <a:p>
            <a:fld id="{2107F482-7FF7-4DD4-AE91-ACA70D5B43D5}" type="slidenum">
              <a:rPr lang="es-CL" smtClean="0"/>
              <a:t>13</a:t>
            </a:fld>
            <a:endParaRPr lang="es-CL"/>
          </a:p>
        </p:txBody>
      </p:sp>
    </p:spTree>
    <p:extLst>
      <p:ext uri="{BB962C8B-B14F-4D97-AF65-F5344CB8AC3E}">
        <p14:creationId xmlns:p14="http://schemas.microsoft.com/office/powerpoint/2010/main" val="185095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2107F482-7FF7-4DD4-AE91-ACA70D5B43D5}" type="slidenum">
              <a:rPr lang="es-CL" smtClean="0"/>
              <a:t>16</a:t>
            </a:fld>
            <a:endParaRPr lang="es-CL"/>
          </a:p>
        </p:txBody>
      </p:sp>
    </p:spTree>
    <p:extLst>
      <p:ext uri="{BB962C8B-B14F-4D97-AF65-F5344CB8AC3E}">
        <p14:creationId xmlns:p14="http://schemas.microsoft.com/office/powerpoint/2010/main" val="1577230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69646-783F-2ADE-93F4-C84400C0911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9F72E4C-E81B-0EA1-DA7A-2DBF3EC386C6}"/>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0BE03872-D8E6-E590-D66A-EDA103A9FC8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E1AB0C6D-38CA-DE9D-F17E-85E0FB78C04F}"/>
              </a:ext>
            </a:extLst>
          </p:cNvPr>
          <p:cNvSpPr>
            <a:spLocks noGrp="1"/>
          </p:cNvSpPr>
          <p:nvPr>
            <p:ph type="sldNum" sz="quarter" idx="5"/>
          </p:nvPr>
        </p:nvSpPr>
        <p:spPr/>
        <p:txBody>
          <a:bodyPr/>
          <a:lstStyle/>
          <a:p>
            <a:fld id="{2107F482-7FF7-4DD4-AE91-ACA70D5B43D5}" type="slidenum">
              <a:rPr lang="es-CL" smtClean="0"/>
              <a:t>17</a:t>
            </a:fld>
            <a:endParaRPr lang="es-CL"/>
          </a:p>
        </p:txBody>
      </p:sp>
    </p:spTree>
    <p:extLst>
      <p:ext uri="{BB962C8B-B14F-4D97-AF65-F5344CB8AC3E}">
        <p14:creationId xmlns:p14="http://schemas.microsoft.com/office/powerpoint/2010/main" val="3882353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4A66D-5C72-220E-A5B3-0A5AA4792A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8815F3-77FE-F972-730F-0A51D79F36F2}"/>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93615D61-1257-526C-DDBF-89B5FE88ADA5}"/>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0439C01-EB8A-6060-305B-4DC2AC01EBA6}"/>
              </a:ext>
            </a:extLst>
          </p:cNvPr>
          <p:cNvSpPr>
            <a:spLocks noGrp="1"/>
          </p:cNvSpPr>
          <p:nvPr>
            <p:ph type="sldNum" sz="quarter" idx="5"/>
          </p:nvPr>
        </p:nvSpPr>
        <p:spPr/>
        <p:txBody>
          <a:bodyPr/>
          <a:lstStyle/>
          <a:p>
            <a:fld id="{2107F482-7FF7-4DD4-AE91-ACA70D5B43D5}" type="slidenum">
              <a:rPr lang="es-CL" smtClean="0"/>
              <a:t>18</a:t>
            </a:fld>
            <a:endParaRPr lang="es-CL"/>
          </a:p>
        </p:txBody>
      </p:sp>
    </p:spTree>
    <p:extLst>
      <p:ext uri="{BB962C8B-B14F-4D97-AF65-F5344CB8AC3E}">
        <p14:creationId xmlns:p14="http://schemas.microsoft.com/office/powerpoint/2010/main" val="16324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77F09-2CEE-134E-D77D-A9C91303BD0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7C29A37-AF18-232E-292F-B7EE3593E35E}"/>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EB9816B6-E7FA-70BD-3CFD-8A36D91FB531}"/>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B845DDCA-8C6A-4606-D024-8FFC7CFD1ABB}"/>
              </a:ext>
            </a:extLst>
          </p:cNvPr>
          <p:cNvSpPr>
            <a:spLocks noGrp="1"/>
          </p:cNvSpPr>
          <p:nvPr>
            <p:ph type="sldNum" sz="quarter" idx="5"/>
          </p:nvPr>
        </p:nvSpPr>
        <p:spPr/>
        <p:txBody>
          <a:bodyPr/>
          <a:lstStyle/>
          <a:p>
            <a:fld id="{2107F482-7FF7-4DD4-AE91-ACA70D5B43D5}" type="slidenum">
              <a:rPr lang="es-CL" smtClean="0"/>
              <a:t>19</a:t>
            </a:fld>
            <a:endParaRPr lang="es-CL"/>
          </a:p>
        </p:txBody>
      </p:sp>
    </p:spTree>
    <p:extLst>
      <p:ext uri="{BB962C8B-B14F-4D97-AF65-F5344CB8AC3E}">
        <p14:creationId xmlns:p14="http://schemas.microsoft.com/office/powerpoint/2010/main" val="2061102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C7A1-1699-BDE6-CE96-0EA09BE7BC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710426-0613-EF47-7497-CA050C371DBF}"/>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1F0F0864-9C28-04DA-20B1-1386F866C03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BE0EDD7-BA89-02B9-3227-DC599208803F}"/>
              </a:ext>
            </a:extLst>
          </p:cNvPr>
          <p:cNvSpPr>
            <a:spLocks noGrp="1"/>
          </p:cNvSpPr>
          <p:nvPr>
            <p:ph type="sldNum" sz="quarter" idx="5"/>
          </p:nvPr>
        </p:nvSpPr>
        <p:spPr/>
        <p:txBody>
          <a:bodyPr/>
          <a:lstStyle/>
          <a:p>
            <a:fld id="{2107F482-7FF7-4DD4-AE91-ACA70D5B43D5}" type="slidenum">
              <a:rPr lang="es-CL" smtClean="0"/>
              <a:t>20</a:t>
            </a:fld>
            <a:endParaRPr lang="es-CL"/>
          </a:p>
        </p:txBody>
      </p:sp>
    </p:spTree>
    <p:extLst>
      <p:ext uri="{BB962C8B-B14F-4D97-AF65-F5344CB8AC3E}">
        <p14:creationId xmlns:p14="http://schemas.microsoft.com/office/powerpoint/2010/main" val="349263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1937C-1FAB-0A38-8FC7-D65557A0742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B3CBCA-642F-CFE1-02EF-9BC594EA6700}"/>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485A6867-27B3-A90A-6B9C-B318F76F0044}"/>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978FED1-35A7-123A-CEDC-E08A19BA1BB9}"/>
              </a:ext>
            </a:extLst>
          </p:cNvPr>
          <p:cNvSpPr>
            <a:spLocks noGrp="1"/>
          </p:cNvSpPr>
          <p:nvPr>
            <p:ph type="sldNum" sz="quarter" idx="5"/>
          </p:nvPr>
        </p:nvSpPr>
        <p:spPr/>
        <p:txBody>
          <a:bodyPr/>
          <a:lstStyle/>
          <a:p>
            <a:fld id="{2107F482-7FF7-4DD4-AE91-ACA70D5B43D5}" type="slidenum">
              <a:rPr lang="es-CL" smtClean="0"/>
              <a:t>21</a:t>
            </a:fld>
            <a:endParaRPr lang="es-CL"/>
          </a:p>
        </p:txBody>
      </p:sp>
    </p:spTree>
    <p:extLst>
      <p:ext uri="{BB962C8B-B14F-4D97-AF65-F5344CB8AC3E}">
        <p14:creationId xmlns:p14="http://schemas.microsoft.com/office/powerpoint/2010/main" val="4037984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1CEB3-5675-98F6-5555-EE13E992A56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07ADF84-13F9-5B39-43F1-14E7D8EA0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49FA3DF8-0758-BF8A-9304-ECC31709A5D7}"/>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5" name="Marcador de pie de página 4">
            <a:extLst>
              <a:ext uri="{FF2B5EF4-FFF2-40B4-BE49-F238E27FC236}">
                <a16:creationId xmlns:a16="http://schemas.microsoft.com/office/drawing/2014/main" id="{E7A8AD70-F127-7BA6-5921-BCF78459803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5809D2E-C8C8-DAE5-342D-7ACCCAC6D7F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404280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2BA7-F473-4377-62A9-34C365181649}"/>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2876B6C-F6ED-E8B4-6256-B671D382415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E376944-86DF-A06F-F26C-EEAE33302DCB}"/>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5" name="Marcador de pie de página 4">
            <a:extLst>
              <a:ext uri="{FF2B5EF4-FFF2-40B4-BE49-F238E27FC236}">
                <a16:creationId xmlns:a16="http://schemas.microsoft.com/office/drawing/2014/main" id="{8842D504-2579-A803-D017-38F414D8F92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44F6F1-3475-DF5A-171D-90C0A6361F33}"/>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71958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9EE0DC-FE41-207B-B5D4-12044E8D9B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65E523B-DBFD-D95C-BDA2-AF438B18FA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00A689A-2C60-C5ED-1F57-27748FB82FCF}"/>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5" name="Marcador de pie de página 4">
            <a:extLst>
              <a:ext uri="{FF2B5EF4-FFF2-40B4-BE49-F238E27FC236}">
                <a16:creationId xmlns:a16="http://schemas.microsoft.com/office/drawing/2014/main" id="{18E6A1D8-E528-4BB5-3D0E-DD599C20DD1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22BCB4D-49C6-4998-F409-6029A291DE8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04070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1A91A-3147-1537-3F76-79772FA4154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3C01651-05BC-1EC6-A58E-575D048EC2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55082018-B822-A183-DA4B-1C3D16A49C4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6F26C75-9BEB-D6DB-5431-6309AC889347}"/>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6" name="Marcador de pie de página 5">
            <a:extLst>
              <a:ext uri="{FF2B5EF4-FFF2-40B4-BE49-F238E27FC236}">
                <a16:creationId xmlns:a16="http://schemas.microsoft.com/office/drawing/2014/main" id="{D071B78F-8C40-BEB7-3CA1-D48366C1C4D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7D4D4F6-B884-C893-0AE7-0BD236FC0A3F}"/>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19688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28DA5D-9DAA-85F9-8663-3F4CFE4F13B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6CA55E1-B5F5-EAF9-B7FE-D45D79747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121A24-CF2D-161C-0F6E-E25010C9830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20F6704-DF9F-D96E-863C-22E02CAD6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8E114D-20FF-505F-3AC7-DFA59AC8F4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321214F7-5555-5155-7348-E210F99F0EF8}"/>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8" name="Marcador de pie de página 7">
            <a:extLst>
              <a:ext uri="{FF2B5EF4-FFF2-40B4-BE49-F238E27FC236}">
                <a16:creationId xmlns:a16="http://schemas.microsoft.com/office/drawing/2014/main" id="{C2C5D59F-5FAC-9631-CDC3-84D27C41472A}"/>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321995D8-D632-D10E-8AFF-26E5C8098BB9}"/>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7127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870B8-34B8-37DC-89DB-47FC09CC5D8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B0F1EB3-E9A9-3C8D-7E75-A95C59BF31B0}"/>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4" name="Marcador de pie de página 3">
            <a:extLst>
              <a:ext uri="{FF2B5EF4-FFF2-40B4-BE49-F238E27FC236}">
                <a16:creationId xmlns:a16="http://schemas.microsoft.com/office/drawing/2014/main" id="{6337F6A3-CB35-F37A-A6DA-88C9FF448C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C4C9290-251F-B1E0-AEAA-710A3CB53E84}"/>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971229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81B6F75-8539-FB15-F03B-E2523D1BB972}"/>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3" name="Marcador de pie de página 2">
            <a:extLst>
              <a:ext uri="{FF2B5EF4-FFF2-40B4-BE49-F238E27FC236}">
                <a16:creationId xmlns:a16="http://schemas.microsoft.com/office/drawing/2014/main" id="{F8725444-0A64-F2BF-CE6D-C96D6C2374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1A95120-3AD7-2633-1852-99868A08E105}"/>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9157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67FF6-55E8-496C-BCC4-4D7B40336D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28B327-F8C2-0B0D-FCA9-41E590A06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374743E-45A5-85D0-4052-5B42C3C07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AA9CE0-4EF9-BCF9-74C2-CFE7CCCA4E61}"/>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6" name="Marcador de pie de página 5">
            <a:extLst>
              <a:ext uri="{FF2B5EF4-FFF2-40B4-BE49-F238E27FC236}">
                <a16:creationId xmlns:a16="http://schemas.microsoft.com/office/drawing/2014/main" id="{31A8C77C-C8E9-8F00-1622-EC17987D85C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BA34C7-982A-2E74-0F17-C8063BB65B0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944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31788-80C1-18AA-49B2-00AA49AE72C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19EDF4D-E446-21A3-5193-EA3AA3FD2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C22F1C9E-17FA-6C7E-F214-0530F189A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1A0B5E-955F-3A5F-84DE-EE873021AD65}"/>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6" name="Marcador de pie de página 5">
            <a:extLst>
              <a:ext uri="{FF2B5EF4-FFF2-40B4-BE49-F238E27FC236}">
                <a16:creationId xmlns:a16="http://schemas.microsoft.com/office/drawing/2014/main" id="{82FDB288-42E2-730F-3EC2-75CDD0F0709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59CA278-6D6E-B2A8-B1E4-9F7DA302E9D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83164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56C15-EF0C-C8A8-41F6-840E0E4336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36D5AC-B824-2DA4-A083-1EEB7768DE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920E341-3C14-25A1-76F8-8BC7FE23FF28}"/>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5" name="Marcador de pie de página 4">
            <a:extLst>
              <a:ext uri="{FF2B5EF4-FFF2-40B4-BE49-F238E27FC236}">
                <a16:creationId xmlns:a16="http://schemas.microsoft.com/office/drawing/2014/main" id="{CEC9B56E-2B7B-8C60-811D-12FE70B468E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50FC0E-77B0-E187-7241-8BE9332FF16D}"/>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202914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00424F-3FDF-9896-F8DF-EBF93BEF4D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350F60B-440F-292F-888A-8EF62AA412C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116BF-3104-AF5D-C0A8-E063AF706A11}"/>
              </a:ext>
            </a:extLst>
          </p:cNvPr>
          <p:cNvSpPr>
            <a:spLocks noGrp="1"/>
          </p:cNvSpPr>
          <p:nvPr>
            <p:ph type="dt" sz="half" idx="10"/>
          </p:nvPr>
        </p:nvSpPr>
        <p:spPr/>
        <p:txBody>
          <a:bodyPr/>
          <a:lstStyle/>
          <a:p>
            <a:fld id="{E8BDA46D-A1A7-4D05-A86A-5A57D57622A5}" type="datetimeFigureOut">
              <a:rPr lang="es-CL" smtClean="0"/>
              <a:t>18-08-2026</a:t>
            </a:fld>
            <a:endParaRPr lang="es-CL"/>
          </a:p>
        </p:txBody>
      </p:sp>
      <p:sp>
        <p:nvSpPr>
          <p:cNvPr id="5" name="Marcador de pie de página 4">
            <a:extLst>
              <a:ext uri="{FF2B5EF4-FFF2-40B4-BE49-F238E27FC236}">
                <a16:creationId xmlns:a16="http://schemas.microsoft.com/office/drawing/2014/main" id="{2E8F5DAA-9632-8650-11D1-4852CB9F0A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1DD27B8-05BD-48E2-3B7C-2DF3A1DBBD5A}"/>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54673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E1D736-C504-F2D3-4D26-5C0C6D789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D32A4F1-8C91-29BD-B83A-D5ED13E399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7C91089-CE03-9300-C918-89BA1B7A9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DA46D-A1A7-4D05-A86A-5A57D57622A5}" type="datetimeFigureOut">
              <a:rPr lang="es-CL" smtClean="0"/>
              <a:t>18-08-2026</a:t>
            </a:fld>
            <a:endParaRPr lang="es-CL"/>
          </a:p>
        </p:txBody>
      </p:sp>
      <p:sp>
        <p:nvSpPr>
          <p:cNvPr id="5" name="Marcador de pie de página 4">
            <a:extLst>
              <a:ext uri="{FF2B5EF4-FFF2-40B4-BE49-F238E27FC236}">
                <a16:creationId xmlns:a16="http://schemas.microsoft.com/office/drawing/2014/main" id="{FEE5FFC7-CC22-AA3D-8561-D011B9400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462EE7A9-3E52-92C2-1A3E-C180FB6A61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2DCD1-67CD-4B9C-AF7C-A4846B367CA8}" type="slidenum">
              <a:rPr lang="es-CL" smtClean="0"/>
              <a:t>‹Nº›</a:t>
            </a:fld>
            <a:endParaRPr lang="es-CL"/>
          </a:p>
        </p:txBody>
      </p:sp>
    </p:spTree>
    <p:extLst>
      <p:ext uri="{BB962C8B-B14F-4D97-AF65-F5344CB8AC3E}">
        <p14:creationId xmlns:p14="http://schemas.microsoft.com/office/powerpoint/2010/main" val="2365602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C5055-DE28-A84E-9FB5-12A3C43AF46E}"/>
              </a:ext>
            </a:extLst>
          </p:cNvPr>
          <p:cNvSpPr>
            <a:spLocks noGrp="1"/>
          </p:cNvSpPr>
          <p:nvPr>
            <p:ph type="ctrTitle"/>
          </p:nvPr>
        </p:nvSpPr>
        <p:spPr>
          <a:xfrm>
            <a:off x="1524000" y="1569403"/>
            <a:ext cx="9144000" cy="2387600"/>
          </a:xfrm>
        </p:spPr>
        <p:txBody>
          <a:bodyPr/>
          <a:lstStyle/>
          <a:p>
            <a:r>
              <a:rPr lang="es-MX" i="1" dirty="0"/>
              <a:t>Ingeniería de soluciones con AI</a:t>
            </a:r>
            <a:endParaRPr lang="es-CL" i="1" dirty="0"/>
          </a:p>
        </p:txBody>
      </p:sp>
      <p:sp>
        <p:nvSpPr>
          <p:cNvPr id="3" name="Subtítulo 2">
            <a:extLst>
              <a:ext uri="{FF2B5EF4-FFF2-40B4-BE49-F238E27FC236}">
                <a16:creationId xmlns:a16="http://schemas.microsoft.com/office/drawing/2014/main" id="{9C898086-6830-28E7-5F70-A1C13B3A9DBB}"/>
              </a:ext>
            </a:extLst>
          </p:cNvPr>
          <p:cNvSpPr>
            <a:spLocks noGrp="1"/>
          </p:cNvSpPr>
          <p:nvPr>
            <p:ph type="subTitle" idx="1"/>
          </p:nvPr>
        </p:nvSpPr>
        <p:spPr>
          <a:xfrm>
            <a:off x="9763760" y="5788758"/>
            <a:ext cx="2585194" cy="675639"/>
          </a:xfrm>
        </p:spPr>
        <p:txBody>
          <a:bodyPr>
            <a:normAutofit lnSpcReduction="10000"/>
          </a:bodyPr>
          <a:lstStyle/>
          <a:p>
            <a:pPr algn="l"/>
            <a:r>
              <a:rPr lang="es-MX" sz="1800" b="1" i="1" dirty="0"/>
              <a:t>Docente:</a:t>
            </a:r>
          </a:p>
          <a:p>
            <a:pPr algn="l"/>
            <a:r>
              <a:rPr lang="es-MX" sz="1800" i="1" dirty="0"/>
              <a:t>Francisco Macaya</a:t>
            </a:r>
            <a:endParaRPr lang="es-CL" sz="1800" i="1" dirty="0"/>
          </a:p>
        </p:txBody>
      </p:sp>
      <p:pic>
        <p:nvPicPr>
          <p:cNvPr id="1026" name="Picture 2" descr="Duoc UC - Learn Chile">
            <a:extLst>
              <a:ext uri="{FF2B5EF4-FFF2-40B4-BE49-F238E27FC236}">
                <a16:creationId xmlns:a16="http://schemas.microsoft.com/office/drawing/2014/main" id="{EFAFD388-37C4-B6E5-0BD9-719436329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4" name="Subtítulo 2">
            <a:extLst>
              <a:ext uri="{FF2B5EF4-FFF2-40B4-BE49-F238E27FC236}">
                <a16:creationId xmlns:a16="http://schemas.microsoft.com/office/drawing/2014/main" id="{289FDFC1-9135-D283-EA5A-9264421DCA54}"/>
              </a:ext>
            </a:extLst>
          </p:cNvPr>
          <p:cNvSpPr txBox="1">
            <a:spLocks/>
          </p:cNvSpPr>
          <p:nvPr/>
        </p:nvSpPr>
        <p:spPr>
          <a:xfrm>
            <a:off x="5345302" y="5971981"/>
            <a:ext cx="2585194" cy="6756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i="1" dirty="0"/>
              <a:t>Semestre 2026-2</a:t>
            </a:r>
            <a:endParaRPr lang="es-CL" sz="1800" i="1" dirty="0"/>
          </a:p>
        </p:txBody>
      </p:sp>
    </p:spTree>
    <p:extLst>
      <p:ext uri="{BB962C8B-B14F-4D97-AF65-F5344CB8AC3E}">
        <p14:creationId xmlns:p14="http://schemas.microsoft.com/office/powerpoint/2010/main" val="2817793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156E4-CA9F-D506-B0D1-EEE348E0C9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2EDB48-DD50-4819-B34A-4BE67304E529}"/>
              </a:ext>
            </a:extLst>
          </p:cNvPr>
          <p:cNvSpPr>
            <a:spLocks noGrp="1"/>
          </p:cNvSpPr>
          <p:nvPr>
            <p:ph type="title"/>
          </p:nvPr>
        </p:nvSpPr>
        <p:spPr>
          <a:xfrm>
            <a:off x="620313" y="193100"/>
            <a:ext cx="10515600" cy="1325563"/>
          </a:xfrm>
        </p:spPr>
        <p:txBody>
          <a:bodyPr>
            <a:noAutofit/>
          </a:bodyPr>
          <a:lstStyle/>
          <a:p>
            <a:r>
              <a:rPr lang="es-MX" sz="3600" b="1" i="1" dirty="0"/>
              <a:t>Noticias: </a:t>
            </a:r>
            <a:r>
              <a:rPr lang="es-MX" sz="3600" i="1" dirty="0"/>
              <a:t>Yann </a:t>
            </a:r>
            <a:r>
              <a:rPr lang="es-MX" sz="3600" i="1" dirty="0" err="1"/>
              <a:t>LeCun</a:t>
            </a:r>
            <a:r>
              <a:rPr lang="es-MX" sz="3600" i="1" dirty="0"/>
              <a:t>, pionero en AI, reclama que los </a:t>
            </a:r>
            <a:r>
              <a:rPr lang="es-MX" sz="3600" i="1" dirty="0" err="1"/>
              <a:t>LLMs</a:t>
            </a:r>
            <a:r>
              <a:rPr lang="es-MX" sz="3600" i="1" dirty="0"/>
              <a:t> no son capaces de entender el mundo físico.</a:t>
            </a:r>
            <a:endParaRPr lang="es-CL" sz="3600" i="1" dirty="0"/>
          </a:p>
        </p:txBody>
      </p:sp>
      <p:pic>
        <p:nvPicPr>
          <p:cNvPr id="4" name="Picture 2" descr="Duoc UC - Learn Chile">
            <a:extLst>
              <a:ext uri="{FF2B5EF4-FFF2-40B4-BE49-F238E27FC236}">
                <a16:creationId xmlns:a16="http://schemas.microsoft.com/office/drawing/2014/main" id="{1201A8FD-C688-8C94-3C88-C8750E71A9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93DF0326-9135-76DA-7228-1FFF075BD56C}"/>
              </a:ext>
            </a:extLst>
          </p:cNvPr>
          <p:cNvSpPr txBox="1"/>
          <p:nvPr/>
        </p:nvSpPr>
        <p:spPr>
          <a:xfrm>
            <a:off x="503358" y="6291699"/>
            <a:ext cx="7604321" cy="276999"/>
          </a:xfrm>
          <a:prstGeom prst="rect">
            <a:avLst/>
          </a:prstGeom>
          <a:noFill/>
        </p:spPr>
        <p:txBody>
          <a:bodyPr wrap="square">
            <a:spAutoFit/>
          </a:bodyPr>
          <a:lstStyle/>
          <a:p>
            <a:r>
              <a:rPr lang="es-CL" sz="1200" b="1" i="1" dirty="0"/>
              <a:t>Nota:</a:t>
            </a:r>
            <a:r>
              <a:rPr lang="es-CL" sz="1200" dirty="0"/>
              <a:t> https://www.wired.com/story/yann-lecun-raises-dollar1-billion-to-build-ai-that-understands-the-physical-world/</a:t>
            </a:r>
          </a:p>
        </p:txBody>
      </p:sp>
      <p:pic>
        <p:nvPicPr>
          <p:cNvPr id="7" name="Imagen 6">
            <a:extLst>
              <a:ext uri="{FF2B5EF4-FFF2-40B4-BE49-F238E27FC236}">
                <a16:creationId xmlns:a16="http://schemas.microsoft.com/office/drawing/2014/main" id="{6FC4493D-8108-57B2-6D72-E3D0C0B44B04}"/>
              </a:ext>
            </a:extLst>
          </p:cNvPr>
          <p:cNvPicPr>
            <a:picLocks noChangeAspect="1"/>
          </p:cNvPicPr>
          <p:nvPr/>
        </p:nvPicPr>
        <p:blipFill>
          <a:blip r:embed="rId3"/>
          <a:stretch>
            <a:fillRect/>
          </a:stretch>
        </p:blipFill>
        <p:spPr>
          <a:xfrm>
            <a:off x="729848" y="1610468"/>
            <a:ext cx="10958794" cy="4681231"/>
          </a:xfrm>
          <a:prstGeom prst="rect">
            <a:avLst/>
          </a:prstGeom>
        </p:spPr>
      </p:pic>
    </p:spTree>
    <p:extLst>
      <p:ext uri="{BB962C8B-B14F-4D97-AF65-F5344CB8AC3E}">
        <p14:creationId xmlns:p14="http://schemas.microsoft.com/office/powerpoint/2010/main" val="888093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1AEF2-75E6-0366-DD3E-FED8A360FBE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BB0FE27-C5C0-C624-770E-B35F1E4EB893}"/>
              </a:ext>
            </a:extLst>
          </p:cNvPr>
          <p:cNvSpPr>
            <a:spLocks noGrp="1"/>
          </p:cNvSpPr>
          <p:nvPr>
            <p:ph type="title"/>
          </p:nvPr>
        </p:nvSpPr>
        <p:spPr>
          <a:xfrm>
            <a:off x="620313" y="193100"/>
            <a:ext cx="10515600" cy="1325563"/>
          </a:xfrm>
        </p:spPr>
        <p:txBody>
          <a:bodyPr>
            <a:noAutofit/>
          </a:bodyPr>
          <a:lstStyle/>
          <a:p>
            <a:r>
              <a:rPr lang="es-MX" sz="3600" b="1" i="1" dirty="0"/>
              <a:t>Noticias: </a:t>
            </a:r>
            <a:r>
              <a:rPr lang="es-MX" sz="3600" i="1" dirty="0" err="1"/>
              <a:t>World</a:t>
            </a:r>
            <a:r>
              <a:rPr lang="es-MX" sz="3600" i="1" dirty="0"/>
              <a:t> </a:t>
            </a:r>
            <a:r>
              <a:rPr lang="es-MX" sz="3600" i="1" dirty="0" err="1"/>
              <a:t>Models</a:t>
            </a:r>
            <a:r>
              <a:rPr lang="es-MX" sz="3600" i="1" dirty="0"/>
              <a:t>, la forma para entender el mundo.</a:t>
            </a:r>
            <a:endParaRPr lang="es-CL" sz="3600" i="1" dirty="0"/>
          </a:p>
        </p:txBody>
      </p:sp>
      <p:pic>
        <p:nvPicPr>
          <p:cNvPr id="4" name="Picture 2" descr="Duoc UC - Learn Chile">
            <a:extLst>
              <a:ext uri="{FF2B5EF4-FFF2-40B4-BE49-F238E27FC236}">
                <a16:creationId xmlns:a16="http://schemas.microsoft.com/office/drawing/2014/main" id="{87E7D134-7ECB-4142-AB8B-F154A2BE05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222AE019-7322-B94C-9C02-8C85BA93E042}"/>
              </a:ext>
            </a:extLst>
          </p:cNvPr>
          <p:cNvSpPr txBox="1"/>
          <p:nvPr/>
        </p:nvSpPr>
        <p:spPr>
          <a:xfrm>
            <a:off x="503358" y="6291699"/>
            <a:ext cx="7604321" cy="276999"/>
          </a:xfrm>
          <a:prstGeom prst="rect">
            <a:avLst/>
          </a:prstGeom>
          <a:noFill/>
        </p:spPr>
        <p:txBody>
          <a:bodyPr wrap="square">
            <a:spAutoFit/>
          </a:bodyPr>
          <a:lstStyle/>
          <a:p>
            <a:r>
              <a:rPr lang="es-CL" sz="1200" b="1" i="1" dirty="0"/>
              <a:t>Nota:</a:t>
            </a:r>
            <a:r>
              <a:rPr lang="es-CL" sz="1200" dirty="0"/>
              <a:t> https://openreview.net/forum?id=klU4737opt</a:t>
            </a:r>
          </a:p>
        </p:txBody>
      </p:sp>
      <p:pic>
        <p:nvPicPr>
          <p:cNvPr id="5" name="Imagen 4">
            <a:extLst>
              <a:ext uri="{FF2B5EF4-FFF2-40B4-BE49-F238E27FC236}">
                <a16:creationId xmlns:a16="http://schemas.microsoft.com/office/drawing/2014/main" id="{CBD955AE-141E-A901-2608-F605953A410D}"/>
              </a:ext>
            </a:extLst>
          </p:cNvPr>
          <p:cNvPicPr>
            <a:picLocks noChangeAspect="1"/>
          </p:cNvPicPr>
          <p:nvPr/>
        </p:nvPicPr>
        <p:blipFill>
          <a:blip r:embed="rId3"/>
          <a:stretch>
            <a:fillRect/>
          </a:stretch>
        </p:blipFill>
        <p:spPr>
          <a:xfrm>
            <a:off x="620313" y="1582914"/>
            <a:ext cx="6669888" cy="4097017"/>
          </a:xfrm>
          <a:prstGeom prst="rect">
            <a:avLst/>
          </a:prstGeom>
        </p:spPr>
      </p:pic>
      <p:pic>
        <p:nvPicPr>
          <p:cNvPr id="9" name="Imagen 8">
            <a:extLst>
              <a:ext uri="{FF2B5EF4-FFF2-40B4-BE49-F238E27FC236}">
                <a16:creationId xmlns:a16="http://schemas.microsoft.com/office/drawing/2014/main" id="{4D5FB72A-0A51-B398-6D35-080610EDC33B}"/>
              </a:ext>
            </a:extLst>
          </p:cNvPr>
          <p:cNvPicPr>
            <a:picLocks noChangeAspect="1"/>
          </p:cNvPicPr>
          <p:nvPr/>
        </p:nvPicPr>
        <p:blipFill>
          <a:blip r:embed="rId4"/>
          <a:stretch>
            <a:fillRect/>
          </a:stretch>
        </p:blipFill>
        <p:spPr>
          <a:xfrm>
            <a:off x="7225129" y="1381153"/>
            <a:ext cx="4615148" cy="2047847"/>
          </a:xfrm>
          <a:prstGeom prst="rect">
            <a:avLst/>
          </a:prstGeom>
        </p:spPr>
      </p:pic>
      <p:pic>
        <p:nvPicPr>
          <p:cNvPr id="11" name="Imagen 10">
            <a:extLst>
              <a:ext uri="{FF2B5EF4-FFF2-40B4-BE49-F238E27FC236}">
                <a16:creationId xmlns:a16="http://schemas.microsoft.com/office/drawing/2014/main" id="{B2A5D2FA-89B6-0EC0-9FB3-A560E1DD7335}"/>
              </a:ext>
            </a:extLst>
          </p:cNvPr>
          <p:cNvPicPr>
            <a:picLocks noChangeAspect="1"/>
          </p:cNvPicPr>
          <p:nvPr/>
        </p:nvPicPr>
        <p:blipFill>
          <a:blip r:embed="rId5"/>
          <a:stretch>
            <a:fillRect/>
          </a:stretch>
        </p:blipFill>
        <p:spPr>
          <a:xfrm>
            <a:off x="7445528" y="3631423"/>
            <a:ext cx="4424101" cy="2309497"/>
          </a:xfrm>
          <a:prstGeom prst="rect">
            <a:avLst/>
          </a:prstGeom>
        </p:spPr>
      </p:pic>
    </p:spTree>
    <p:extLst>
      <p:ext uri="{BB962C8B-B14F-4D97-AF65-F5344CB8AC3E}">
        <p14:creationId xmlns:p14="http://schemas.microsoft.com/office/powerpoint/2010/main" val="3312062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C54F8-E719-FE80-7B27-BE9C8FD2C0C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7D7A6A-A5AC-35F8-BAE5-0247D8740509}"/>
              </a:ext>
            </a:extLst>
          </p:cNvPr>
          <p:cNvSpPr>
            <a:spLocks noGrp="1"/>
          </p:cNvSpPr>
          <p:nvPr>
            <p:ph type="title"/>
          </p:nvPr>
        </p:nvSpPr>
        <p:spPr>
          <a:xfrm>
            <a:off x="620313" y="193100"/>
            <a:ext cx="10515600" cy="1325563"/>
          </a:xfrm>
        </p:spPr>
        <p:txBody>
          <a:bodyPr>
            <a:noAutofit/>
          </a:bodyPr>
          <a:lstStyle/>
          <a:p>
            <a:r>
              <a:rPr lang="es-MX" sz="3600" b="1" i="1" dirty="0"/>
              <a:t>Noticias: </a:t>
            </a:r>
            <a:r>
              <a:rPr lang="es-MX" sz="3600" i="1" dirty="0" err="1"/>
              <a:t>DashAI</a:t>
            </a:r>
            <a:r>
              <a:rPr lang="es-MX" sz="3600" i="1" dirty="0"/>
              <a:t>, la plataforma chilena de AI.</a:t>
            </a:r>
            <a:endParaRPr lang="es-CL" sz="3600" i="1" dirty="0"/>
          </a:p>
        </p:txBody>
      </p:sp>
      <p:pic>
        <p:nvPicPr>
          <p:cNvPr id="4" name="Picture 2" descr="Duoc UC - Learn Chile">
            <a:extLst>
              <a:ext uri="{FF2B5EF4-FFF2-40B4-BE49-F238E27FC236}">
                <a16:creationId xmlns:a16="http://schemas.microsoft.com/office/drawing/2014/main" id="{7AC54625-B6F6-7A5C-8747-F8B7487B1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E3BD4A9E-8F69-7130-E3B0-4F88154BF59A}"/>
              </a:ext>
            </a:extLst>
          </p:cNvPr>
          <p:cNvSpPr txBox="1"/>
          <p:nvPr/>
        </p:nvSpPr>
        <p:spPr>
          <a:xfrm>
            <a:off x="503358" y="6291699"/>
            <a:ext cx="7604321" cy="276999"/>
          </a:xfrm>
          <a:prstGeom prst="rect">
            <a:avLst/>
          </a:prstGeom>
          <a:noFill/>
        </p:spPr>
        <p:txBody>
          <a:bodyPr wrap="square">
            <a:spAutoFit/>
          </a:bodyPr>
          <a:lstStyle/>
          <a:p>
            <a:r>
              <a:rPr lang="es-CL" sz="1200" b="1" i="1" dirty="0"/>
              <a:t>Nota:</a:t>
            </a:r>
            <a:r>
              <a:rPr lang="es-CL" sz="1200" dirty="0"/>
              <a:t> https://www.youtube.com/watch?v=guFF97F0Ctc&amp;t=2639s</a:t>
            </a:r>
          </a:p>
        </p:txBody>
      </p:sp>
      <p:pic>
        <p:nvPicPr>
          <p:cNvPr id="7" name="Imagen 6">
            <a:extLst>
              <a:ext uri="{FF2B5EF4-FFF2-40B4-BE49-F238E27FC236}">
                <a16:creationId xmlns:a16="http://schemas.microsoft.com/office/drawing/2014/main" id="{44BEF8F5-5DAD-8285-04DA-E6068731125C}"/>
              </a:ext>
            </a:extLst>
          </p:cNvPr>
          <p:cNvPicPr>
            <a:picLocks noChangeAspect="1"/>
          </p:cNvPicPr>
          <p:nvPr/>
        </p:nvPicPr>
        <p:blipFill>
          <a:blip r:embed="rId3"/>
          <a:stretch>
            <a:fillRect/>
          </a:stretch>
        </p:blipFill>
        <p:spPr>
          <a:xfrm>
            <a:off x="503358" y="1521291"/>
            <a:ext cx="5413966" cy="3968989"/>
          </a:xfrm>
          <a:prstGeom prst="rect">
            <a:avLst/>
          </a:prstGeom>
        </p:spPr>
      </p:pic>
      <p:pic>
        <p:nvPicPr>
          <p:cNvPr id="10" name="Imagen 9">
            <a:extLst>
              <a:ext uri="{FF2B5EF4-FFF2-40B4-BE49-F238E27FC236}">
                <a16:creationId xmlns:a16="http://schemas.microsoft.com/office/drawing/2014/main" id="{ED3EB2AD-9D43-893E-4860-A58DDFFDECE3}"/>
              </a:ext>
            </a:extLst>
          </p:cNvPr>
          <p:cNvPicPr>
            <a:picLocks noChangeAspect="1"/>
          </p:cNvPicPr>
          <p:nvPr/>
        </p:nvPicPr>
        <p:blipFill>
          <a:blip r:embed="rId4"/>
          <a:stretch>
            <a:fillRect/>
          </a:stretch>
        </p:blipFill>
        <p:spPr>
          <a:xfrm>
            <a:off x="6072170" y="1350507"/>
            <a:ext cx="5616471" cy="4278412"/>
          </a:xfrm>
          <a:prstGeom prst="rect">
            <a:avLst/>
          </a:prstGeom>
        </p:spPr>
      </p:pic>
    </p:spTree>
    <p:extLst>
      <p:ext uri="{BB962C8B-B14F-4D97-AF65-F5344CB8AC3E}">
        <p14:creationId xmlns:p14="http://schemas.microsoft.com/office/powerpoint/2010/main" val="3036911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308BD-6591-3817-0522-CCA60F585C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A84A0F-F196-EF93-7722-5C7C746DA66E}"/>
              </a:ext>
            </a:extLst>
          </p:cNvPr>
          <p:cNvSpPr>
            <a:spLocks noGrp="1"/>
          </p:cNvSpPr>
          <p:nvPr>
            <p:ph type="title"/>
          </p:nvPr>
        </p:nvSpPr>
        <p:spPr>
          <a:xfrm>
            <a:off x="620313" y="193100"/>
            <a:ext cx="10515600" cy="1325563"/>
          </a:xfrm>
        </p:spPr>
        <p:txBody>
          <a:bodyPr>
            <a:noAutofit/>
          </a:bodyPr>
          <a:lstStyle/>
          <a:p>
            <a:r>
              <a:rPr lang="es-MX" sz="3600" b="1" i="1" dirty="0"/>
              <a:t>Clase 1.2: </a:t>
            </a:r>
            <a:r>
              <a:rPr lang="es-MX" sz="3600" i="1" dirty="0"/>
              <a:t>Técnicas de </a:t>
            </a:r>
            <a:r>
              <a:rPr lang="es-CL" sz="3600" i="1" dirty="0" err="1"/>
              <a:t>Prompt</a:t>
            </a:r>
            <a:r>
              <a:rPr lang="es-CL" sz="3600" i="1" dirty="0"/>
              <a:t> </a:t>
            </a:r>
            <a:r>
              <a:rPr lang="es-CL" sz="3600" i="1" dirty="0" err="1"/>
              <a:t>Engineering</a:t>
            </a:r>
            <a:endParaRPr lang="es-CL" sz="3600" i="1" dirty="0"/>
          </a:p>
        </p:txBody>
      </p:sp>
      <p:pic>
        <p:nvPicPr>
          <p:cNvPr id="4" name="Picture 2" descr="Duoc UC - Learn Chile">
            <a:extLst>
              <a:ext uri="{FF2B5EF4-FFF2-40B4-BE49-F238E27FC236}">
                <a16:creationId xmlns:a16="http://schemas.microsoft.com/office/drawing/2014/main" id="{C70F39DB-595B-4BED-DADD-2EE9AF2AA8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B34375E6-C820-EAEA-A2C4-2EEA9664306D}"/>
              </a:ext>
            </a:extLst>
          </p:cNvPr>
          <p:cNvSpPr txBox="1">
            <a:spLocks/>
          </p:cNvSpPr>
          <p:nvPr/>
        </p:nvSpPr>
        <p:spPr>
          <a:xfrm>
            <a:off x="762553" y="1349744"/>
            <a:ext cx="10515600" cy="43842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t>Se cubrirán los siguientes tópicos en la clase:</a:t>
            </a:r>
          </a:p>
          <a:p>
            <a:pPr marL="457200" indent="-457200">
              <a:buFont typeface="Arial" panose="020B0604020202020204" pitchFamily="34" charset="0"/>
              <a:buChar char="•"/>
            </a:pPr>
            <a:r>
              <a:rPr lang="es-MX" sz="2800" dirty="0"/>
              <a:t>Zero-</a:t>
            </a:r>
            <a:r>
              <a:rPr lang="es-MX" sz="2800" dirty="0" err="1"/>
              <a:t>shot</a:t>
            </a:r>
            <a:r>
              <a:rPr lang="es-MX" sz="2800" dirty="0"/>
              <a:t>.</a:t>
            </a:r>
          </a:p>
          <a:p>
            <a:pPr marL="457200" indent="-457200">
              <a:buFont typeface="Arial" panose="020B0604020202020204" pitchFamily="34" charset="0"/>
              <a:buChar char="•"/>
            </a:pPr>
            <a:r>
              <a:rPr lang="es-MX" sz="2800" dirty="0" err="1"/>
              <a:t>Few-shot</a:t>
            </a:r>
            <a:r>
              <a:rPr lang="es-MX" sz="2800" dirty="0"/>
              <a:t> </a:t>
            </a:r>
            <a:r>
              <a:rPr lang="es-MX" sz="2800" dirty="0" err="1"/>
              <a:t>learning</a:t>
            </a:r>
            <a:r>
              <a:rPr lang="es-MX" sz="2800" dirty="0"/>
              <a:t>.</a:t>
            </a:r>
          </a:p>
          <a:p>
            <a:pPr marL="457200" indent="-457200">
              <a:buFont typeface="Arial" panose="020B0604020202020204" pitchFamily="34" charset="0"/>
              <a:buChar char="•"/>
            </a:pPr>
            <a:r>
              <a:rPr lang="es-MX" sz="2800" dirty="0" err="1"/>
              <a:t>Chain-of-thought</a:t>
            </a:r>
            <a:r>
              <a:rPr lang="es-MX" sz="2800" dirty="0"/>
              <a:t>.</a:t>
            </a:r>
          </a:p>
          <a:p>
            <a:pPr marL="457200" indent="-457200">
              <a:buFont typeface="Arial" panose="020B0604020202020204" pitchFamily="34" charset="0"/>
              <a:buChar char="•"/>
            </a:pPr>
            <a:r>
              <a:rPr lang="es-MX" sz="2800" dirty="0" err="1"/>
              <a:t>Prompts</a:t>
            </a:r>
            <a:r>
              <a:rPr lang="es-MX" sz="2800" dirty="0"/>
              <a:t> Especializados.</a:t>
            </a:r>
          </a:p>
          <a:p>
            <a:pPr marL="457200" indent="-457200">
              <a:buFont typeface="Arial" panose="020B0604020202020204" pitchFamily="34" charset="0"/>
              <a:buChar char="•"/>
            </a:pPr>
            <a:endParaRPr lang="es-MX" sz="2800" dirty="0"/>
          </a:p>
          <a:p>
            <a:r>
              <a:rPr lang="es-MX" sz="2800" dirty="0"/>
              <a:t>No obstante, esta clase </a:t>
            </a:r>
            <a:r>
              <a:rPr lang="es-MX" sz="2800" b="1" i="1" u="sng" dirty="0"/>
              <a:t>no cubrirá </a:t>
            </a:r>
            <a:r>
              <a:rPr lang="es-MX" sz="2800" dirty="0"/>
              <a:t>los siguientes tópicos:</a:t>
            </a:r>
          </a:p>
          <a:p>
            <a:pPr marL="457200" indent="-457200">
              <a:buFont typeface="Arial" panose="020B0604020202020204" pitchFamily="34" charset="0"/>
              <a:buChar char="•"/>
            </a:pPr>
            <a:r>
              <a:rPr lang="es-MX" sz="2800" dirty="0"/>
              <a:t>fine-</a:t>
            </a:r>
            <a:r>
              <a:rPr lang="es-MX" sz="2800" dirty="0" err="1"/>
              <a:t>tunning</a:t>
            </a:r>
            <a:r>
              <a:rPr lang="es-MX" sz="2800" dirty="0"/>
              <a:t>.</a:t>
            </a:r>
          </a:p>
          <a:p>
            <a:pPr marL="457200" indent="-457200">
              <a:buFont typeface="Arial" panose="020B0604020202020204" pitchFamily="34" charset="0"/>
              <a:buChar char="•"/>
            </a:pPr>
            <a:r>
              <a:rPr lang="es-MX" sz="2800" dirty="0"/>
              <a:t>RAG.</a:t>
            </a:r>
          </a:p>
          <a:p>
            <a:endParaRPr lang="es-CL" sz="3600" i="1" dirty="0"/>
          </a:p>
        </p:txBody>
      </p:sp>
    </p:spTree>
    <p:extLst>
      <p:ext uri="{BB962C8B-B14F-4D97-AF65-F5344CB8AC3E}">
        <p14:creationId xmlns:p14="http://schemas.microsoft.com/office/powerpoint/2010/main" val="3163005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9ED0E-F8B6-BECA-055E-F89143B030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2CFC42-A4EA-B840-37D0-8D1BB2B8A6C8}"/>
              </a:ext>
            </a:extLst>
          </p:cNvPr>
          <p:cNvSpPr>
            <a:spLocks noGrp="1"/>
          </p:cNvSpPr>
          <p:nvPr>
            <p:ph type="title"/>
          </p:nvPr>
        </p:nvSpPr>
        <p:spPr>
          <a:xfrm>
            <a:off x="467913" y="113696"/>
            <a:ext cx="10515600" cy="1325563"/>
          </a:xfrm>
        </p:spPr>
        <p:txBody>
          <a:bodyPr>
            <a:noAutofit/>
          </a:bodyPr>
          <a:lstStyle/>
          <a:p>
            <a:r>
              <a:rPr lang="es-CL" b="1" i="1" dirty="0"/>
              <a:t>Reminder:</a:t>
            </a:r>
            <a:r>
              <a:rPr lang="es-CL" dirty="0"/>
              <a:t> </a:t>
            </a:r>
            <a:r>
              <a:rPr lang="es-CL" sz="3600" i="1" dirty="0"/>
              <a:t>Que hemos visto hasta ahora…</a:t>
            </a:r>
          </a:p>
        </p:txBody>
      </p:sp>
      <p:pic>
        <p:nvPicPr>
          <p:cNvPr id="4" name="Picture 2" descr="Duoc UC - Learn Chile">
            <a:extLst>
              <a:ext uri="{FF2B5EF4-FFF2-40B4-BE49-F238E27FC236}">
                <a16:creationId xmlns:a16="http://schemas.microsoft.com/office/drawing/2014/main" id="{52555913-07F9-9178-83D0-341E967AC1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85A5714F-54DF-8691-28CB-BF6B6910530F}"/>
              </a:ext>
            </a:extLst>
          </p:cNvPr>
          <p:cNvSpPr txBox="1"/>
          <p:nvPr/>
        </p:nvSpPr>
        <p:spPr>
          <a:xfrm>
            <a:off x="620313" y="6357123"/>
            <a:ext cx="6096000" cy="307777"/>
          </a:xfrm>
          <a:prstGeom prst="rect">
            <a:avLst/>
          </a:prstGeom>
          <a:noFill/>
        </p:spPr>
        <p:txBody>
          <a:bodyPr wrap="square">
            <a:spAutoFit/>
          </a:bodyPr>
          <a:lstStyle/>
          <a:p>
            <a:r>
              <a:rPr lang="es-CL" sz="1400" b="1" i="1" dirty="0"/>
              <a:t>Nota</a:t>
            </a:r>
            <a:r>
              <a:rPr lang="es-CL" sz="1400" dirty="0"/>
              <a:t>: https://arxiv.org/pdf/2509.04664</a:t>
            </a:r>
          </a:p>
        </p:txBody>
      </p:sp>
      <p:sp>
        <p:nvSpPr>
          <p:cNvPr id="3" name="Rectángulo: esquinas redondeadas 2">
            <a:extLst>
              <a:ext uri="{FF2B5EF4-FFF2-40B4-BE49-F238E27FC236}">
                <a16:creationId xmlns:a16="http://schemas.microsoft.com/office/drawing/2014/main" id="{481E169B-F00E-72AD-FB82-E54857197CE2}"/>
              </a:ext>
            </a:extLst>
          </p:cNvPr>
          <p:cNvSpPr/>
          <p:nvPr/>
        </p:nvSpPr>
        <p:spPr>
          <a:xfrm>
            <a:off x="4571999" y="2448041"/>
            <a:ext cx="2640460" cy="1612595"/>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err="1">
                <a:solidFill>
                  <a:schemeClr val="tx1"/>
                </a:solidFill>
              </a:rPr>
              <a:t>LLMs</a:t>
            </a:r>
            <a:endParaRPr lang="es-CL" dirty="0">
              <a:solidFill>
                <a:schemeClr val="tx1"/>
              </a:solidFill>
            </a:endParaRPr>
          </a:p>
        </p:txBody>
      </p:sp>
      <p:cxnSp>
        <p:nvCxnSpPr>
          <p:cNvPr id="7" name="Conector recto de flecha 6">
            <a:extLst>
              <a:ext uri="{FF2B5EF4-FFF2-40B4-BE49-F238E27FC236}">
                <a16:creationId xmlns:a16="http://schemas.microsoft.com/office/drawing/2014/main" id="{3F1DFB0F-C11B-7ECE-2138-D762EA475E53}"/>
              </a:ext>
            </a:extLst>
          </p:cNvPr>
          <p:cNvCxnSpPr>
            <a:cxnSpLocks/>
          </p:cNvCxnSpPr>
          <p:nvPr/>
        </p:nvCxnSpPr>
        <p:spPr>
          <a:xfrm>
            <a:off x="2703816" y="2085353"/>
            <a:ext cx="1868183" cy="11689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F516BD4A-0F95-577E-D0D1-58A2323AFD18}"/>
              </a:ext>
            </a:extLst>
          </p:cNvPr>
          <p:cNvCxnSpPr>
            <a:cxnSpLocks/>
          </p:cNvCxnSpPr>
          <p:nvPr/>
        </p:nvCxnSpPr>
        <p:spPr>
          <a:xfrm flipV="1">
            <a:off x="2703816" y="3285161"/>
            <a:ext cx="1868183" cy="11353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E21BFC83-7B68-6433-E9B4-0201A3DBAB7A}"/>
              </a:ext>
            </a:extLst>
          </p:cNvPr>
          <p:cNvCxnSpPr>
            <a:cxnSpLocks/>
            <a:stCxn id="3" idx="3"/>
          </p:cNvCxnSpPr>
          <p:nvPr/>
        </p:nvCxnSpPr>
        <p:spPr>
          <a:xfrm>
            <a:off x="7212459" y="3254339"/>
            <a:ext cx="196236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62E2D3B5-6BB2-493A-0860-90574EABC06A}"/>
              </a:ext>
            </a:extLst>
          </p:cNvPr>
          <p:cNvSpPr txBox="1"/>
          <p:nvPr/>
        </p:nvSpPr>
        <p:spPr>
          <a:xfrm>
            <a:off x="467913" y="1685198"/>
            <a:ext cx="2301410" cy="2031325"/>
          </a:xfrm>
          <a:prstGeom prst="rect">
            <a:avLst/>
          </a:prstGeom>
          <a:noFill/>
        </p:spPr>
        <p:txBody>
          <a:bodyPr wrap="square" rtlCol="0">
            <a:spAutoFit/>
          </a:bodyPr>
          <a:lstStyle/>
          <a:p>
            <a:r>
              <a:rPr lang="es-MX" i="1" dirty="0"/>
              <a:t>Los </a:t>
            </a:r>
            <a:r>
              <a:rPr lang="es-MX" i="1" dirty="0" err="1"/>
              <a:t>LLMs</a:t>
            </a:r>
            <a:r>
              <a:rPr lang="es-MX" i="1" dirty="0"/>
              <a:t> tiene una estructura de mensajes:</a:t>
            </a:r>
          </a:p>
          <a:p>
            <a:r>
              <a:rPr lang="es-MX" b="1" i="1" dirty="0"/>
              <a:t>-</a:t>
            </a:r>
            <a:r>
              <a:rPr lang="es-MX" b="1" i="1" dirty="0" err="1"/>
              <a:t>Prompt</a:t>
            </a:r>
            <a:r>
              <a:rPr lang="es-MX" b="1" i="1" dirty="0"/>
              <a:t> de Sistema</a:t>
            </a:r>
          </a:p>
          <a:p>
            <a:r>
              <a:rPr lang="es-MX" b="1" i="1" dirty="0"/>
              <a:t>-Human </a:t>
            </a:r>
            <a:r>
              <a:rPr lang="es-MX" b="1" i="1" dirty="0" err="1"/>
              <a:t>Message</a:t>
            </a:r>
            <a:endParaRPr lang="es-MX" b="1" i="1" dirty="0"/>
          </a:p>
          <a:p>
            <a:r>
              <a:rPr lang="es-MX" b="1" i="1" dirty="0"/>
              <a:t>-</a:t>
            </a:r>
            <a:r>
              <a:rPr lang="es-MX" b="1" i="1" dirty="0" err="1"/>
              <a:t>Asistent</a:t>
            </a:r>
            <a:r>
              <a:rPr lang="es-MX" b="1" i="1" dirty="0"/>
              <a:t> </a:t>
            </a:r>
            <a:r>
              <a:rPr lang="es-MX" b="1" i="1" dirty="0" err="1"/>
              <a:t>Message</a:t>
            </a:r>
            <a:endParaRPr lang="es-MX" b="1" i="1" dirty="0"/>
          </a:p>
          <a:p>
            <a:r>
              <a:rPr lang="es-MX" i="1" dirty="0"/>
              <a:t> </a:t>
            </a:r>
            <a:endParaRPr lang="es-CL" i="1" dirty="0"/>
          </a:p>
        </p:txBody>
      </p:sp>
      <p:sp>
        <p:nvSpPr>
          <p:cNvPr id="19" name="CuadroTexto 18">
            <a:extLst>
              <a:ext uri="{FF2B5EF4-FFF2-40B4-BE49-F238E27FC236}">
                <a16:creationId xmlns:a16="http://schemas.microsoft.com/office/drawing/2014/main" id="{3B18933A-DBE1-FF87-0F38-CEDCEFDB3FF0}"/>
              </a:ext>
            </a:extLst>
          </p:cNvPr>
          <p:cNvSpPr txBox="1"/>
          <p:nvPr/>
        </p:nvSpPr>
        <p:spPr>
          <a:xfrm>
            <a:off x="328137" y="3972473"/>
            <a:ext cx="2515455" cy="1200329"/>
          </a:xfrm>
          <a:prstGeom prst="rect">
            <a:avLst/>
          </a:prstGeom>
          <a:noFill/>
        </p:spPr>
        <p:txBody>
          <a:bodyPr wrap="square" rtlCol="0">
            <a:spAutoFit/>
          </a:bodyPr>
          <a:lstStyle/>
          <a:p>
            <a:r>
              <a:rPr lang="es-MX" i="1" dirty="0"/>
              <a:t>Los </a:t>
            </a:r>
            <a:r>
              <a:rPr lang="es-MX" i="1" dirty="0" err="1"/>
              <a:t>LLMs</a:t>
            </a:r>
            <a:r>
              <a:rPr lang="es-MX" i="1" dirty="0"/>
              <a:t> tiene una parámetros de entrada</a:t>
            </a:r>
          </a:p>
          <a:p>
            <a:r>
              <a:rPr lang="es-MX" i="1" dirty="0"/>
              <a:t>-</a:t>
            </a:r>
            <a:r>
              <a:rPr lang="es-MX" i="1" dirty="0" err="1"/>
              <a:t>Tempuratura</a:t>
            </a:r>
            <a:endParaRPr lang="es-MX" i="1" dirty="0"/>
          </a:p>
          <a:p>
            <a:r>
              <a:rPr lang="es-MX" i="1" dirty="0"/>
              <a:t>-Max token</a:t>
            </a:r>
          </a:p>
        </p:txBody>
      </p:sp>
      <p:sp>
        <p:nvSpPr>
          <p:cNvPr id="20" name="CuadroTexto 19">
            <a:extLst>
              <a:ext uri="{FF2B5EF4-FFF2-40B4-BE49-F238E27FC236}">
                <a16:creationId xmlns:a16="http://schemas.microsoft.com/office/drawing/2014/main" id="{ED0E1BD5-D542-3F51-A9E0-C1EBF0D742B1}"/>
              </a:ext>
            </a:extLst>
          </p:cNvPr>
          <p:cNvSpPr txBox="1"/>
          <p:nvPr/>
        </p:nvSpPr>
        <p:spPr>
          <a:xfrm>
            <a:off x="9321906" y="2389140"/>
            <a:ext cx="2301410" cy="2308324"/>
          </a:xfrm>
          <a:prstGeom prst="rect">
            <a:avLst/>
          </a:prstGeom>
          <a:noFill/>
        </p:spPr>
        <p:txBody>
          <a:bodyPr wrap="square" rtlCol="0">
            <a:spAutoFit/>
          </a:bodyPr>
          <a:lstStyle/>
          <a:p>
            <a:r>
              <a:rPr lang="es-MX" i="1" dirty="0"/>
              <a:t>Los </a:t>
            </a:r>
            <a:r>
              <a:rPr lang="es-MX" i="1" dirty="0" err="1"/>
              <a:t>LLMs</a:t>
            </a:r>
            <a:r>
              <a:rPr lang="es-MX" i="1" dirty="0"/>
              <a:t> entregan los siguiente output:</a:t>
            </a:r>
          </a:p>
          <a:p>
            <a:r>
              <a:rPr lang="es-MX" i="1" dirty="0"/>
              <a:t>- Texto generado (response/</a:t>
            </a:r>
            <a:r>
              <a:rPr lang="es-MX" i="1" dirty="0" err="1"/>
              <a:t>completion</a:t>
            </a:r>
            <a:r>
              <a:rPr lang="es-MX" i="1" dirty="0"/>
              <a:t>)</a:t>
            </a:r>
          </a:p>
          <a:p>
            <a:r>
              <a:rPr lang="es-MX" i="1" dirty="0"/>
              <a:t>- </a:t>
            </a:r>
            <a:r>
              <a:rPr lang="es-MX" i="1" dirty="0" err="1"/>
              <a:t>Usage_prompt</a:t>
            </a:r>
            <a:r>
              <a:rPr lang="es-MX" i="1" dirty="0"/>
              <a:t> (</a:t>
            </a:r>
          </a:p>
          <a:p>
            <a:r>
              <a:rPr lang="es-MX" i="1" dirty="0" err="1"/>
              <a:t>Prompt</a:t>
            </a:r>
            <a:r>
              <a:rPr lang="es-MX" i="1" dirty="0"/>
              <a:t>, </a:t>
            </a:r>
            <a:r>
              <a:rPr lang="es-MX" i="1" dirty="0" err="1"/>
              <a:t>completion</a:t>
            </a:r>
            <a:r>
              <a:rPr lang="es-MX" i="1" dirty="0"/>
              <a:t> and total tokens)</a:t>
            </a:r>
          </a:p>
          <a:p>
            <a:r>
              <a:rPr lang="es-MX" i="1" dirty="0"/>
              <a:t>- </a:t>
            </a:r>
            <a:r>
              <a:rPr lang="es-MX" i="1" dirty="0" err="1"/>
              <a:t>Finished</a:t>
            </a:r>
            <a:r>
              <a:rPr lang="es-MX" i="1" dirty="0"/>
              <a:t> </a:t>
            </a:r>
            <a:r>
              <a:rPr lang="es-MX" i="1" dirty="0" err="1"/>
              <a:t>reason</a:t>
            </a:r>
            <a:r>
              <a:rPr lang="es-MX" i="1" dirty="0"/>
              <a:t>.</a:t>
            </a:r>
          </a:p>
        </p:txBody>
      </p:sp>
    </p:spTree>
    <p:extLst>
      <p:ext uri="{BB962C8B-B14F-4D97-AF65-F5344CB8AC3E}">
        <p14:creationId xmlns:p14="http://schemas.microsoft.com/office/powerpoint/2010/main" val="4270404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A64D0-9D25-0F5B-463E-2C59EFEDB2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6FC0AFF-BF81-7614-B2DC-CBD76E91925F}"/>
              </a:ext>
            </a:extLst>
          </p:cNvPr>
          <p:cNvSpPr>
            <a:spLocks noGrp="1"/>
          </p:cNvSpPr>
          <p:nvPr>
            <p:ph type="title"/>
          </p:nvPr>
        </p:nvSpPr>
        <p:spPr>
          <a:xfrm>
            <a:off x="467913" y="113696"/>
            <a:ext cx="10515600" cy="1325563"/>
          </a:xfrm>
        </p:spPr>
        <p:txBody>
          <a:bodyPr>
            <a:noAutofit/>
          </a:bodyPr>
          <a:lstStyle/>
          <a:p>
            <a:r>
              <a:rPr lang="es-CL" b="1" i="1" dirty="0"/>
              <a:t>Reminder:</a:t>
            </a:r>
            <a:r>
              <a:rPr lang="es-CL" dirty="0"/>
              <a:t> </a:t>
            </a:r>
            <a:r>
              <a:rPr lang="es-CL" sz="3600" i="1" dirty="0"/>
              <a:t>Que hemos visto hasta ahora…</a:t>
            </a:r>
          </a:p>
        </p:txBody>
      </p:sp>
      <p:pic>
        <p:nvPicPr>
          <p:cNvPr id="4" name="Picture 2" descr="Duoc UC - Learn Chile">
            <a:extLst>
              <a:ext uri="{FF2B5EF4-FFF2-40B4-BE49-F238E27FC236}">
                <a16:creationId xmlns:a16="http://schemas.microsoft.com/office/drawing/2014/main" id="{77BA5057-F796-7C0D-775A-278C7B578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esquinas redondeadas 2">
            <a:extLst>
              <a:ext uri="{FF2B5EF4-FFF2-40B4-BE49-F238E27FC236}">
                <a16:creationId xmlns:a16="http://schemas.microsoft.com/office/drawing/2014/main" id="{30D6B4F4-73E0-017D-2EA2-6E32745F8FF6}"/>
              </a:ext>
            </a:extLst>
          </p:cNvPr>
          <p:cNvSpPr/>
          <p:nvPr/>
        </p:nvSpPr>
        <p:spPr>
          <a:xfrm>
            <a:off x="4571999" y="2448041"/>
            <a:ext cx="2640460" cy="1612595"/>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err="1">
                <a:solidFill>
                  <a:schemeClr val="tx1"/>
                </a:solidFill>
              </a:rPr>
              <a:t>LLMs</a:t>
            </a:r>
            <a:endParaRPr lang="es-CL" dirty="0">
              <a:solidFill>
                <a:schemeClr val="tx1"/>
              </a:solidFill>
            </a:endParaRPr>
          </a:p>
        </p:txBody>
      </p:sp>
      <p:cxnSp>
        <p:nvCxnSpPr>
          <p:cNvPr id="7" name="Conector recto de flecha 6">
            <a:extLst>
              <a:ext uri="{FF2B5EF4-FFF2-40B4-BE49-F238E27FC236}">
                <a16:creationId xmlns:a16="http://schemas.microsoft.com/office/drawing/2014/main" id="{468DD948-8DAF-CB43-3A1D-5DE2E95BFDE9}"/>
              </a:ext>
            </a:extLst>
          </p:cNvPr>
          <p:cNvCxnSpPr>
            <a:cxnSpLocks/>
          </p:cNvCxnSpPr>
          <p:nvPr/>
        </p:nvCxnSpPr>
        <p:spPr>
          <a:xfrm>
            <a:off x="2703816" y="2085353"/>
            <a:ext cx="1868183" cy="11689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79FE218D-2E71-8FFF-EA51-CFC35ED2F7A6}"/>
              </a:ext>
            </a:extLst>
          </p:cNvPr>
          <p:cNvCxnSpPr>
            <a:cxnSpLocks/>
          </p:cNvCxnSpPr>
          <p:nvPr/>
        </p:nvCxnSpPr>
        <p:spPr>
          <a:xfrm flipV="1">
            <a:off x="2703816" y="3285161"/>
            <a:ext cx="1868183" cy="11353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21908C19-72D6-0562-F6A3-C4DF386ADAFA}"/>
              </a:ext>
            </a:extLst>
          </p:cNvPr>
          <p:cNvCxnSpPr>
            <a:cxnSpLocks/>
            <a:stCxn id="3" idx="3"/>
          </p:cNvCxnSpPr>
          <p:nvPr/>
        </p:nvCxnSpPr>
        <p:spPr>
          <a:xfrm>
            <a:off x="7212459" y="3254339"/>
            <a:ext cx="145893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2CDD96F5-3D6A-FE31-D0A9-4056EB1849F9}"/>
              </a:ext>
            </a:extLst>
          </p:cNvPr>
          <p:cNvSpPr txBox="1"/>
          <p:nvPr/>
        </p:nvSpPr>
        <p:spPr>
          <a:xfrm>
            <a:off x="467913" y="1685198"/>
            <a:ext cx="2301410" cy="2308324"/>
          </a:xfrm>
          <a:prstGeom prst="rect">
            <a:avLst/>
          </a:prstGeom>
          <a:noFill/>
        </p:spPr>
        <p:txBody>
          <a:bodyPr wrap="square" rtlCol="0">
            <a:spAutoFit/>
          </a:bodyPr>
          <a:lstStyle/>
          <a:p>
            <a:r>
              <a:rPr lang="es-MX" dirty="0"/>
              <a:t>Los </a:t>
            </a:r>
            <a:r>
              <a:rPr lang="es-MX" dirty="0" err="1"/>
              <a:t>LLMs</a:t>
            </a:r>
            <a:r>
              <a:rPr lang="es-MX" dirty="0"/>
              <a:t> tienen una estructura de mensajes, compuesta por:</a:t>
            </a:r>
          </a:p>
          <a:p>
            <a:r>
              <a:rPr lang="es-MX" dirty="0"/>
              <a:t>-</a:t>
            </a:r>
            <a:r>
              <a:rPr lang="es-MX" dirty="0" err="1"/>
              <a:t>Prompt</a:t>
            </a:r>
            <a:r>
              <a:rPr lang="es-MX" dirty="0"/>
              <a:t> de sistema</a:t>
            </a:r>
          </a:p>
          <a:p>
            <a:r>
              <a:rPr lang="es-MX" dirty="0"/>
              <a:t>-Human </a:t>
            </a:r>
            <a:r>
              <a:rPr lang="es-MX" dirty="0" err="1"/>
              <a:t>message</a:t>
            </a:r>
            <a:endParaRPr lang="es-MX" dirty="0"/>
          </a:p>
          <a:p>
            <a:r>
              <a:rPr lang="es-MX" dirty="0"/>
              <a:t>-</a:t>
            </a:r>
            <a:r>
              <a:rPr lang="es-MX" dirty="0" err="1"/>
              <a:t>Assistant</a:t>
            </a:r>
            <a:r>
              <a:rPr lang="es-MX" dirty="0"/>
              <a:t> </a:t>
            </a:r>
            <a:r>
              <a:rPr lang="es-MX" dirty="0" err="1"/>
              <a:t>message</a:t>
            </a:r>
            <a:endParaRPr lang="es-MX" dirty="0"/>
          </a:p>
          <a:p>
            <a:r>
              <a:rPr lang="es-MX" i="1" dirty="0"/>
              <a:t> </a:t>
            </a:r>
            <a:endParaRPr lang="es-CL" i="1" dirty="0"/>
          </a:p>
        </p:txBody>
      </p:sp>
      <p:sp>
        <p:nvSpPr>
          <p:cNvPr id="19" name="CuadroTexto 18">
            <a:extLst>
              <a:ext uri="{FF2B5EF4-FFF2-40B4-BE49-F238E27FC236}">
                <a16:creationId xmlns:a16="http://schemas.microsoft.com/office/drawing/2014/main" id="{FB423E46-49D6-7D5B-BC8E-106BDC4846CC}"/>
              </a:ext>
            </a:extLst>
          </p:cNvPr>
          <p:cNvSpPr txBox="1"/>
          <p:nvPr/>
        </p:nvSpPr>
        <p:spPr>
          <a:xfrm>
            <a:off x="328137" y="3972473"/>
            <a:ext cx="2515455" cy="2031325"/>
          </a:xfrm>
          <a:prstGeom prst="rect">
            <a:avLst/>
          </a:prstGeom>
          <a:noFill/>
        </p:spPr>
        <p:txBody>
          <a:bodyPr wrap="square" rtlCol="0">
            <a:spAutoFit/>
          </a:bodyPr>
          <a:lstStyle/>
          <a:p>
            <a:r>
              <a:rPr lang="es-MX" dirty="0"/>
              <a:t>Los </a:t>
            </a:r>
            <a:r>
              <a:rPr lang="es-MX" dirty="0" err="1"/>
              <a:t>LLMs</a:t>
            </a:r>
            <a:r>
              <a:rPr lang="es-MX" dirty="0"/>
              <a:t> tienen parámetros de entrada, entre los que se encuentran:</a:t>
            </a:r>
          </a:p>
          <a:p>
            <a:r>
              <a:rPr lang="es-CL" dirty="0"/>
              <a:t>- Temperatura</a:t>
            </a:r>
          </a:p>
          <a:p>
            <a:r>
              <a:rPr lang="es-CL" dirty="0"/>
              <a:t>- Max tokens</a:t>
            </a:r>
          </a:p>
          <a:p>
            <a:endParaRPr lang="es-MX" i="1" dirty="0"/>
          </a:p>
        </p:txBody>
      </p:sp>
      <p:sp>
        <p:nvSpPr>
          <p:cNvPr id="20" name="CuadroTexto 19">
            <a:extLst>
              <a:ext uri="{FF2B5EF4-FFF2-40B4-BE49-F238E27FC236}">
                <a16:creationId xmlns:a16="http://schemas.microsoft.com/office/drawing/2014/main" id="{6F50EC0A-7182-88DB-F435-9F58F64A56CD}"/>
              </a:ext>
            </a:extLst>
          </p:cNvPr>
          <p:cNvSpPr txBox="1"/>
          <p:nvPr/>
        </p:nvSpPr>
        <p:spPr>
          <a:xfrm>
            <a:off x="8728336" y="2273290"/>
            <a:ext cx="3463664" cy="2862322"/>
          </a:xfrm>
          <a:prstGeom prst="rect">
            <a:avLst/>
          </a:prstGeom>
          <a:noFill/>
        </p:spPr>
        <p:txBody>
          <a:bodyPr wrap="square" rtlCol="0">
            <a:spAutoFit/>
          </a:bodyPr>
          <a:lstStyle/>
          <a:p>
            <a:r>
              <a:rPr lang="es-MX" dirty="0"/>
              <a:t>Los </a:t>
            </a:r>
            <a:r>
              <a:rPr lang="es-MX" dirty="0" err="1"/>
              <a:t>LLMs</a:t>
            </a:r>
            <a:r>
              <a:rPr lang="es-MX" dirty="0"/>
              <a:t> entregan los siguientes outputs:</a:t>
            </a:r>
          </a:p>
          <a:p>
            <a:r>
              <a:rPr lang="es-MX" dirty="0"/>
              <a:t>1-) Texto generado (response/</a:t>
            </a:r>
            <a:r>
              <a:rPr lang="es-MX" dirty="0" err="1"/>
              <a:t>completion</a:t>
            </a:r>
            <a:r>
              <a:rPr lang="es-MX" dirty="0"/>
              <a:t>)</a:t>
            </a:r>
          </a:p>
          <a:p>
            <a:r>
              <a:rPr lang="es-MX" dirty="0"/>
              <a:t>2)-</a:t>
            </a:r>
            <a:r>
              <a:rPr lang="es-CL" dirty="0"/>
              <a:t> </a:t>
            </a:r>
            <a:r>
              <a:rPr lang="es-CL" dirty="0" err="1"/>
              <a:t>Usage</a:t>
            </a:r>
            <a:r>
              <a:rPr lang="es-CL" dirty="0"/>
              <a:t> </a:t>
            </a:r>
            <a:r>
              <a:rPr lang="es-CL" dirty="0" err="1"/>
              <a:t>prompt</a:t>
            </a:r>
            <a:r>
              <a:rPr lang="es-CL" dirty="0"/>
              <a:t>: incluye </a:t>
            </a:r>
            <a:r>
              <a:rPr lang="es-CL" dirty="0" err="1"/>
              <a:t>prompt</a:t>
            </a:r>
            <a:r>
              <a:rPr lang="es-CL" dirty="0"/>
              <a:t> tokens, </a:t>
            </a:r>
            <a:r>
              <a:rPr lang="es-CL" dirty="0" err="1"/>
              <a:t>completion</a:t>
            </a:r>
            <a:r>
              <a:rPr lang="es-CL" dirty="0"/>
              <a:t> tokens y total tokens.</a:t>
            </a:r>
          </a:p>
          <a:p>
            <a:r>
              <a:rPr lang="es-MX" dirty="0"/>
              <a:t>- </a:t>
            </a:r>
            <a:r>
              <a:rPr lang="es-MX" dirty="0" err="1"/>
              <a:t>Finish</a:t>
            </a:r>
            <a:r>
              <a:rPr lang="es-MX" dirty="0"/>
              <a:t> </a:t>
            </a:r>
            <a:r>
              <a:rPr lang="es-MX" dirty="0" err="1"/>
              <a:t>reason</a:t>
            </a:r>
            <a:r>
              <a:rPr lang="es-MX" dirty="0"/>
              <a:t>: indica la razón por la cual el modelo terminó de generar la respuesta.</a:t>
            </a:r>
          </a:p>
        </p:txBody>
      </p:sp>
      <p:cxnSp>
        <p:nvCxnSpPr>
          <p:cNvPr id="5" name="Conector recto de flecha 4">
            <a:extLst>
              <a:ext uri="{FF2B5EF4-FFF2-40B4-BE49-F238E27FC236}">
                <a16:creationId xmlns:a16="http://schemas.microsoft.com/office/drawing/2014/main" id="{C533743C-4340-4DC6-C7EB-827C0B035B76}"/>
              </a:ext>
            </a:extLst>
          </p:cNvPr>
          <p:cNvCxnSpPr>
            <a:cxnSpLocks/>
          </p:cNvCxnSpPr>
          <p:nvPr/>
        </p:nvCxnSpPr>
        <p:spPr>
          <a:xfrm flipV="1">
            <a:off x="2519956" y="1801947"/>
            <a:ext cx="1661626" cy="942687"/>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9AD4E7EA-482B-13F3-B669-3D3D1DA7E9F4}"/>
              </a:ext>
            </a:extLst>
          </p:cNvPr>
          <p:cNvSpPr txBox="1"/>
          <p:nvPr/>
        </p:nvSpPr>
        <p:spPr>
          <a:xfrm>
            <a:off x="4181582" y="1569004"/>
            <a:ext cx="6097712" cy="369332"/>
          </a:xfrm>
          <a:prstGeom prst="rect">
            <a:avLst/>
          </a:prstGeom>
          <a:noFill/>
        </p:spPr>
        <p:txBody>
          <a:bodyPr wrap="square">
            <a:spAutoFit/>
          </a:bodyPr>
          <a:lstStyle/>
          <a:p>
            <a:r>
              <a:rPr lang="es-CL" sz="1800" b="1" i="1" dirty="0" err="1">
                <a:solidFill>
                  <a:schemeClr val="accent1"/>
                </a:solidFill>
              </a:rPr>
              <a:t>Prompt</a:t>
            </a:r>
            <a:r>
              <a:rPr lang="es-CL" sz="1800" b="1" i="1" dirty="0">
                <a:solidFill>
                  <a:schemeClr val="accent1"/>
                </a:solidFill>
              </a:rPr>
              <a:t> </a:t>
            </a:r>
            <a:r>
              <a:rPr lang="es-CL" sz="1800" b="1" i="1" dirty="0" err="1">
                <a:solidFill>
                  <a:schemeClr val="accent1"/>
                </a:solidFill>
              </a:rPr>
              <a:t>Engineering</a:t>
            </a:r>
            <a:r>
              <a:rPr lang="es-CL" sz="1800" b="1" i="1" dirty="0">
                <a:solidFill>
                  <a:schemeClr val="accent1"/>
                </a:solidFill>
              </a:rPr>
              <a:t>: Estructurar la llamada. </a:t>
            </a:r>
            <a:endParaRPr lang="es-CL" dirty="0">
              <a:solidFill>
                <a:schemeClr val="accent1"/>
              </a:solidFill>
            </a:endParaRPr>
          </a:p>
        </p:txBody>
      </p:sp>
      <p:cxnSp>
        <p:nvCxnSpPr>
          <p:cNvPr id="6" name="Conector recto de flecha 5">
            <a:extLst>
              <a:ext uri="{FF2B5EF4-FFF2-40B4-BE49-F238E27FC236}">
                <a16:creationId xmlns:a16="http://schemas.microsoft.com/office/drawing/2014/main" id="{BA5D3405-C41D-4D98-5E19-F6DA120F7543}"/>
              </a:ext>
            </a:extLst>
          </p:cNvPr>
          <p:cNvCxnSpPr>
            <a:cxnSpLocks/>
          </p:cNvCxnSpPr>
          <p:nvPr/>
        </p:nvCxnSpPr>
        <p:spPr>
          <a:xfrm>
            <a:off x="5892229" y="4060636"/>
            <a:ext cx="0" cy="92749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2F93415B-B9AB-5F62-148B-9386A22F0B63}"/>
              </a:ext>
            </a:extLst>
          </p:cNvPr>
          <p:cNvSpPr txBox="1"/>
          <p:nvPr/>
        </p:nvSpPr>
        <p:spPr>
          <a:xfrm>
            <a:off x="3809364" y="4988135"/>
            <a:ext cx="4389413" cy="646331"/>
          </a:xfrm>
          <a:prstGeom prst="rect">
            <a:avLst/>
          </a:prstGeom>
          <a:noFill/>
        </p:spPr>
        <p:txBody>
          <a:bodyPr wrap="square" rtlCol="0">
            <a:spAutoFit/>
          </a:bodyPr>
          <a:lstStyle/>
          <a:p>
            <a:r>
              <a:rPr lang="es-MX" dirty="0"/>
              <a:t>Los proveedores más conocidos de </a:t>
            </a:r>
            <a:r>
              <a:rPr lang="es-MX" dirty="0" err="1"/>
              <a:t>LLMs</a:t>
            </a:r>
            <a:r>
              <a:rPr lang="es-MX" dirty="0"/>
              <a:t> son </a:t>
            </a:r>
            <a:r>
              <a:rPr lang="es-MX" b="1" dirty="0"/>
              <a:t>Meta, </a:t>
            </a:r>
            <a:r>
              <a:rPr lang="es-MX" b="1" dirty="0" err="1"/>
              <a:t>OpenAI</a:t>
            </a:r>
            <a:r>
              <a:rPr lang="es-MX" b="1" dirty="0"/>
              <a:t>, </a:t>
            </a:r>
            <a:r>
              <a:rPr lang="es-MX" b="1" dirty="0" err="1"/>
              <a:t>Anthropic</a:t>
            </a:r>
            <a:r>
              <a:rPr lang="es-MX" b="1" i="1" dirty="0"/>
              <a:t>, </a:t>
            </a:r>
            <a:r>
              <a:rPr lang="es-MX" b="1" dirty="0"/>
              <a:t>Google</a:t>
            </a:r>
          </a:p>
        </p:txBody>
      </p:sp>
    </p:spTree>
    <p:extLst>
      <p:ext uri="{BB962C8B-B14F-4D97-AF65-F5344CB8AC3E}">
        <p14:creationId xmlns:p14="http://schemas.microsoft.com/office/powerpoint/2010/main" val="2604394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D39E2-9FF2-6A1E-1922-F99FF4B6CB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079CF08-BB9D-142B-F583-41A6E9F9066F}"/>
              </a:ext>
            </a:extLst>
          </p:cNvPr>
          <p:cNvSpPr>
            <a:spLocks noGrp="1"/>
          </p:cNvSpPr>
          <p:nvPr>
            <p:ph type="title"/>
          </p:nvPr>
        </p:nvSpPr>
        <p:spPr>
          <a:xfrm>
            <a:off x="620313" y="193100"/>
            <a:ext cx="10515600" cy="1325563"/>
          </a:xfrm>
        </p:spPr>
        <p:txBody>
          <a:bodyPr>
            <a:noAutofit/>
          </a:bodyPr>
          <a:lstStyle/>
          <a:p>
            <a:r>
              <a:rPr lang="es-MX" sz="3600" b="1" i="1" dirty="0" err="1"/>
              <a:t>Why</a:t>
            </a:r>
            <a:r>
              <a:rPr lang="es-MX" sz="3600" b="1" i="1" dirty="0"/>
              <a:t>: </a:t>
            </a:r>
            <a:r>
              <a:rPr lang="es-MX" sz="3600" i="1" dirty="0"/>
              <a:t>¿Por qué los </a:t>
            </a:r>
            <a:r>
              <a:rPr lang="es-MX" sz="3600" i="1" dirty="0" err="1"/>
              <a:t>LLMs</a:t>
            </a:r>
            <a:r>
              <a:rPr lang="es-MX" sz="3600" i="1" dirty="0"/>
              <a:t> no me responden como quiero?</a:t>
            </a:r>
            <a:endParaRPr lang="es-CL" sz="3600" i="1" dirty="0"/>
          </a:p>
        </p:txBody>
      </p:sp>
      <p:pic>
        <p:nvPicPr>
          <p:cNvPr id="4" name="Picture 2" descr="Duoc UC - Learn Chile">
            <a:extLst>
              <a:ext uri="{FF2B5EF4-FFF2-40B4-BE49-F238E27FC236}">
                <a16:creationId xmlns:a16="http://schemas.microsoft.com/office/drawing/2014/main" id="{E640CBAF-E7ED-BECE-3438-38C6361434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F126CCDA-81A2-57FF-10E7-339F8BF3C342}"/>
              </a:ext>
            </a:extLst>
          </p:cNvPr>
          <p:cNvPicPr>
            <a:picLocks noChangeAspect="1"/>
          </p:cNvPicPr>
          <p:nvPr/>
        </p:nvPicPr>
        <p:blipFill>
          <a:blip r:embed="rId3"/>
          <a:stretch>
            <a:fillRect/>
          </a:stretch>
        </p:blipFill>
        <p:spPr>
          <a:xfrm>
            <a:off x="1670579" y="1518663"/>
            <a:ext cx="4095961" cy="4273770"/>
          </a:xfrm>
          <a:prstGeom prst="rect">
            <a:avLst/>
          </a:prstGeom>
        </p:spPr>
      </p:pic>
      <p:sp>
        <p:nvSpPr>
          <p:cNvPr id="8" name="Título 1">
            <a:extLst>
              <a:ext uri="{FF2B5EF4-FFF2-40B4-BE49-F238E27FC236}">
                <a16:creationId xmlns:a16="http://schemas.microsoft.com/office/drawing/2014/main" id="{BA241361-22FB-2CAF-6A41-558EAD3FC1CD}"/>
              </a:ext>
            </a:extLst>
          </p:cNvPr>
          <p:cNvSpPr txBox="1">
            <a:spLocks/>
          </p:cNvSpPr>
          <p:nvPr/>
        </p:nvSpPr>
        <p:spPr>
          <a:xfrm>
            <a:off x="6325152" y="1355148"/>
            <a:ext cx="5298164" cy="47703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sz="2400" dirty="0"/>
              <a:t>Los modelos de lenguaje son entrenados con toda la información del internet, y tiene una fecha de corte de entrenamiento (“</a:t>
            </a:r>
            <a:r>
              <a:rPr lang="es-CL" sz="2400" dirty="0" err="1"/>
              <a:t>cut</a:t>
            </a:r>
            <a:r>
              <a:rPr lang="es-CL" sz="2400" dirty="0"/>
              <a:t>-off”).  </a:t>
            </a:r>
          </a:p>
          <a:p>
            <a:endParaRPr lang="es-CL" sz="2400" dirty="0"/>
          </a:p>
          <a:p>
            <a:pPr marL="342900" indent="-342900">
              <a:buFont typeface="Arial" panose="020B0604020202020204" pitchFamily="34" charset="0"/>
              <a:buChar char="•"/>
            </a:pPr>
            <a:r>
              <a:rPr lang="es-CL" sz="2400" dirty="0"/>
              <a:t>Los </a:t>
            </a:r>
            <a:r>
              <a:rPr lang="es-CL" sz="2400" dirty="0" err="1"/>
              <a:t>LLMs</a:t>
            </a:r>
            <a:r>
              <a:rPr lang="es-CL" sz="2400" dirty="0"/>
              <a:t> son generalistas. </a:t>
            </a:r>
          </a:p>
          <a:p>
            <a:pPr marL="342900" indent="-342900">
              <a:buFont typeface="Arial" panose="020B0604020202020204" pitchFamily="34" charset="0"/>
              <a:buChar char="•"/>
            </a:pPr>
            <a:r>
              <a:rPr lang="es-CL" sz="2400" dirty="0"/>
              <a:t>Tienen una fecha de corte.</a:t>
            </a:r>
          </a:p>
          <a:p>
            <a:pPr marL="342900" indent="-342900">
              <a:buFont typeface="Arial" panose="020B0604020202020204" pitchFamily="34" charset="0"/>
              <a:buChar char="•"/>
            </a:pPr>
            <a:r>
              <a:rPr lang="es-CL" sz="2400" dirty="0"/>
              <a:t>Se construyen en base a datos públicos, no privados.</a:t>
            </a:r>
          </a:p>
          <a:p>
            <a:endParaRPr lang="es-CL" sz="2400" dirty="0"/>
          </a:p>
          <a:p>
            <a:r>
              <a:rPr lang="es-CL" sz="2400" dirty="0"/>
              <a:t>Hay técnicas para resolver estos </a:t>
            </a:r>
            <a:r>
              <a:rPr lang="es-CL" sz="2400" b="1" i="1" dirty="0"/>
              <a:t>problemas.</a:t>
            </a:r>
          </a:p>
          <a:p>
            <a:endParaRPr lang="es-CL" sz="2400" i="1" dirty="0"/>
          </a:p>
        </p:txBody>
      </p:sp>
    </p:spTree>
    <p:extLst>
      <p:ext uri="{BB962C8B-B14F-4D97-AF65-F5344CB8AC3E}">
        <p14:creationId xmlns:p14="http://schemas.microsoft.com/office/powerpoint/2010/main" val="914722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EBBEE-0EEA-D3BB-8336-78BD3BF36E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811CD5-E2F0-0C7B-0469-9F67F6F32625}"/>
              </a:ext>
            </a:extLst>
          </p:cNvPr>
          <p:cNvSpPr>
            <a:spLocks noGrp="1"/>
          </p:cNvSpPr>
          <p:nvPr>
            <p:ph type="title"/>
          </p:nvPr>
        </p:nvSpPr>
        <p:spPr>
          <a:xfrm>
            <a:off x="467913" y="113696"/>
            <a:ext cx="10515600" cy="1325563"/>
          </a:xfrm>
        </p:spPr>
        <p:txBody>
          <a:bodyPr>
            <a:noAutofit/>
          </a:bodyPr>
          <a:lstStyle/>
          <a:p>
            <a:r>
              <a:rPr lang="es-CL" sz="3600" b="1" i="1" dirty="0" err="1"/>
              <a:t>Hallucinate</a:t>
            </a:r>
            <a:r>
              <a:rPr lang="es-CL" sz="3600" i="1" dirty="0"/>
              <a:t>: El talón de Aquiles de los </a:t>
            </a:r>
            <a:r>
              <a:rPr lang="es-CL" sz="3600" i="1" dirty="0" err="1"/>
              <a:t>LLMs</a:t>
            </a:r>
            <a:r>
              <a:rPr lang="es-CL" sz="3600" i="1" dirty="0"/>
              <a:t>.</a:t>
            </a:r>
          </a:p>
        </p:txBody>
      </p:sp>
      <p:pic>
        <p:nvPicPr>
          <p:cNvPr id="4" name="Picture 2" descr="Duoc UC - Learn Chile">
            <a:extLst>
              <a:ext uri="{FF2B5EF4-FFF2-40B4-BE49-F238E27FC236}">
                <a16:creationId xmlns:a16="http://schemas.microsoft.com/office/drawing/2014/main" id="{AFF229DD-BF71-3CB6-1424-6EDCC25B4D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B9C8188E-B197-9277-DC7A-EE5834C1A0F4}"/>
              </a:ext>
            </a:extLst>
          </p:cNvPr>
          <p:cNvPicPr>
            <a:picLocks noChangeAspect="1"/>
          </p:cNvPicPr>
          <p:nvPr/>
        </p:nvPicPr>
        <p:blipFill>
          <a:blip r:embed="rId3"/>
          <a:stretch>
            <a:fillRect/>
          </a:stretch>
        </p:blipFill>
        <p:spPr>
          <a:xfrm>
            <a:off x="546335" y="1439259"/>
            <a:ext cx="7361114" cy="4301391"/>
          </a:xfrm>
          <a:prstGeom prst="rect">
            <a:avLst/>
          </a:prstGeom>
        </p:spPr>
      </p:pic>
      <p:sp>
        <p:nvSpPr>
          <p:cNvPr id="9" name="CuadroTexto 8">
            <a:extLst>
              <a:ext uri="{FF2B5EF4-FFF2-40B4-BE49-F238E27FC236}">
                <a16:creationId xmlns:a16="http://schemas.microsoft.com/office/drawing/2014/main" id="{26056470-B727-A2D1-B079-B71906FC5623}"/>
              </a:ext>
            </a:extLst>
          </p:cNvPr>
          <p:cNvSpPr txBox="1"/>
          <p:nvPr/>
        </p:nvSpPr>
        <p:spPr>
          <a:xfrm>
            <a:off x="467913" y="6262530"/>
            <a:ext cx="6096000" cy="307777"/>
          </a:xfrm>
          <a:prstGeom prst="rect">
            <a:avLst/>
          </a:prstGeom>
          <a:noFill/>
        </p:spPr>
        <p:txBody>
          <a:bodyPr wrap="square">
            <a:spAutoFit/>
          </a:bodyPr>
          <a:lstStyle/>
          <a:p>
            <a:r>
              <a:rPr lang="es-CL" sz="1400" b="1" i="1" dirty="0"/>
              <a:t>Nota</a:t>
            </a:r>
            <a:r>
              <a:rPr lang="es-CL" sz="1400" dirty="0"/>
              <a:t>: https://arxiv.org/pdf/2509.04664</a:t>
            </a:r>
          </a:p>
        </p:txBody>
      </p:sp>
      <p:sp>
        <p:nvSpPr>
          <p:cNvPr id="3" name="CuadroTexto 2">
            <a:extLst>
              <a:ext uri="{FF2B5EF4-FFF2-40B4-BE49-F238E27FC236}">
                <a16:creationId xmlns:a16="http://schemas.microsoft.com/office/drawing/2014/main" id="{79C20964-55CA-8499-9EB0-C6921877DE24}"/>
              </a:ext>
            </a:extLst>
          </p:cNvPr>
          <p:cNvSpPr txBox="1"/>
          <p:nvPr/>
        </p:nvSpPr>
        <p:spPr>
          <a:xfrm>
            <a:off x="7548213" y="1865735"/>
            <a:ext cx="3794537" cy="3970318"/>
          </a:xfrm>
          <a:prstGeom prst="rect">
            <a:avLst/>
          </a:prstGeom>
          <a:noFill/>
        </p:spPr>
        <p:txBody>
          <a:bodyPr wrap="square" rtlCol="0">
            <a:spAutoFit/>
          </a:bodyPr>
          <a:lstStyle/>
          <a:p>
            <a:r>
              <a:rPr lang="es-MX" dirty="0">
                <a:latin typeface="+mj-lt"/>
              </a:rPr>
              <a:t>Las alucinaciones son originadas como errores en la clasificación binaria durante el entrenamiento de los modelos. Si las declaraciones incorrectas no son distinguidas de los hechos, entonces las alucinaciones de los modelos son perpetuadas a través del proceso de entrenamiento. </a:t>
            </a:r>
          </a:p>
          <a:p>
            <a:endParaRPr lang="es-MX" dirty="0">
              <a:latin typeface="+mj-lt"/>
            </a:endParaRPr>
          </a:p>
          <a:p>
            <a:endParaRPr lang="es-MX" dirty="0">
              <a:latin typeface="+mj-lt"/>
            </a:endParaRPr>
          </a:p>
          <a:p>
            <a:r>
              <a:rPr lang="es-MX" dirty="0">
                <a:latin typeface="+mj-lt"/>
              </a:rPr>
              <a:t>Mucho </a:t>
            </a:r>
            <a:r>
              <a:rPr lang="es-MX" dirty="0" err="1">
                <a:latin typeface="+mj-lt"/>
              </a:rPr>
              <a:t>LLMs</a:t>
            </a:r>
            <a:r>
              <a:rPr lang="es-MX" dirty="0">
                <a:latin typeface="+mj-lt"/>
              </a:rPr>
              <a:t> son optimizados para ser buenos </a:t>
            </a:r>
            <a:r>
              <a:rPr lang="es-MX" dirty="0" err="1">
                <a:latin typeface="+mj-lt"/>
              </a:rPr>
              <a:t>testeadores</a:t>
            </a:r>
            <a:r>
              <a:rPr lang="es-MX" dirty="0">
                <a:latin typeface="+mj-lt"/>
              </a:rPr>
              <a:t>, y adivinar, lo que mejora el rendimiento de las métricas de testeos.  </a:t>
            </a:r>
            <a:r>
              <a:rPr lang="es-MX" dirty="0"/>
              <a:t> </a:t>
            </a:r>
          </a:p>
        </p:txBody>
      </p:sp>
    </p:spTree>
    <p:extLst>
      <p:ext uri="{BB962C8B-B14F-4D97-AF65-F5344CB8AC3E}">
        <p14:creationId xmlns:p14="http://schemas.microsoft.com/office/powerpoint/2010/main" val="2649512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6E331-2129-3033-4809-19C077828F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EF6433-4A5C-19A2-13DC-0115A5AFF347}"/>
              </a:ext>
            </a:extLst>
          </p:cNvPr>
          <p:cNvSpPr>
            <a:spLocks noGrp="1"/>
          </p:cNvSpPr>
          <p:nvPr>
            <p:ph type="title"/>
          </p:nvPr>
        </p:nvSpPr>
        <p:spPr>
          <a:xfrm>
            <a:off x="267879" y="-20891"/>
            <a:ext cx="10515600" cy="1325563"/>
          </a:xfrm>
        </p:spPr>
        <p:txBody>
          <a:bodyPr>
            <a:noAutofit/>
          </a:bodyPr>
          <a:lstStyle/>
          <a:p>
            <a:r>
              <a:rPr lang="es-CL" sz="3600" b="1" i="1" dirty="0"/>
              <a:t>0’REILLY</a:t>
            </a:r>
            <a:r>
              <a:rPr lang="es-CL" sz="3600" i="1" dirty="0"/>
              <a:t>: AI </a:t>
            </a:r>
            <a:r>
              <a:rPr lang="es-CL" sz="3600" i="1" dirty="0" err="1"/>
              <a:t>Engineering</a:t>
            </a:r>
            <a:endParaRPr lang="es-CL" sz="3600" i="1" dirty="0"/>
          </a:p>
        </p:txBody>
      </p:sp>
      <p:pic>
        <p:nvPicPr>
          <p:cNvPr id="4" name="Picture 2" descr="Duoc UC - Learn Chile">
            <a:extLst>
              <a:ext uri="{FF2B5EF4-FFF2-40B4-BE49-F238E27FC236}">
                <a16:creationId xmlns:a16="http://schemas.microsoft.com/office/drawing/2014/main" id="{FF21B870-861B-6C99-D69A-DBBFDF2E87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extLst>
              <a:ext uri="{FF2B5EF4-FFF2-40B4-BE49-F238E27FC236}">
                <a16:creationId xmlns:a16="http://schemas.microsoft.com/office/drawing/2014/main" id="{C7DC5221-9EB1-43DE-6A27-44C2C30319D1}"/>
              </a:ext>
            </a:extLst>
          </p:cNvPr>
          <p:cNvPicPr>
            <a:picLocks noChangeAspect="1"/>
          </p:cNvPicPr>
          <p:nvPr/>
        </p:nvPicPr>
        <p:blipFill>
          <a:blip r:embed="rId3"/>
          <a:stretch>
            <a:fillRect/>
          </a:stretch>
        </p:blipFill>
        <p:spPr>
          <a:xfrm>
            <a:off x="3928639" y="855882"/>
            <a:ext cx="4334721" cy="5304773"/>
          </a:xfrm>
          <a:prstGeom prst="rect">
            <a:avLst/>
          </a:prstGeom>
        </p:spPr>
      </p:pic>
      <p:sp>
        <p:nvSpPr>
          <p:cNvPr id="15" name="CuadroTexto 14">
            <a:extLst>
              <a:ext uri="{FF2B5EF4-FFF2-40B4-BE49-F238E27FC236}">
                <a16:creationId xmlns:a16="http://schemas.microsoft.com/office/drawing/2014/main" id="{908D9413-0AB0-5D14-6E8B-7F130DC2AC00}"/>
              </a:ext>
            </a:extLst>
          </p:cNvPr>
          <p:cNvSpPr txBox="1"/>
          <p:nvPr/>
        </p:nvSpPr>
        <p:spPr>
          <a:xfrm>
            <a:off x="2409266" y="6250820"/>
            <a:ext cx="7801283" cy="369332"/>
          </a:xfrm>
          <a:prstGeom prst="rect">
            <a:avLst/>
          </a:prstGeom>
          <a:noFill/>
        </p:spPr>
        <p:txBody>
          <a:bodyPr wrap="square">
            <a:spAutoFit/>
          </a:bodyPr>
          <a:lstStyle/>
          <a:p>
            <a:r>
              <a:rPr lang="en-US" dirty="0"/>
              <a:t>“</a:t>
            </a:r>
            <a:r>
              <a:rPr lang="en-US" i="1" dirty="0"/>
              <a:t>Anyone can communicate, but not everyone can communicate effectively</a:t>
            </a:r>
            <a:r>
              <a:rPr lang="en-US" dirty="0"/>
              <a:t>”.</a:t>
            </a:r>
            <a:endParaRPr lang="es-CL" sz="1800" b="1" i="1" dirty="0"/>
          </a:p>
        </p:txBody>
      </p:sp>
    </p:spTree>
    <p:extLst>
      <p:ext uri="{BB962C8B-B14F-4D97-AF65-F5344CB8AC3E}">
        <p14:creationId xmlns:p14="http://schemas.microsoft.com/office/powerpoint/2010/main" val="2803331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6A7645E-C81F-C69C-0743-4B00355D8551}"/>
              </a:ext>
            </a:extLst>
          </p:cNvPr>
          <p:cNvSpPr txBox="1"/>
          <p:nvPr/>
        </p:nvSpPr>
        <p:spPr>
          <a:xfrm>
            <a:off x="1045028" y="1076236"/>
            <a:ext cx="7663543" cy="1569660"/>
          </a:xfrm>
          <a:prstGeom prst="rect">
            <a:avLst/>
          </a:prstGeom>
          <a:noFill/>
        </p:spPr>
        <p:txBody>
          <a:bodyPr wrap="square">
            <a:spAutoFit/>
          </a:bodyPr>
          <a:lstStyle/>
          <a:p>
            <a:r>
              <a:rPr lang="en-US" sz="3200" b="1" i="1" dirty="0">
                <a:solidFill>
                  <a:srgbClr val="141413"/>
                </a:solidFill>
                <a:effectLst/>
                <a:latin typeface="anthropicSerif"/>
              </a:rPr>
              <a:t>Prompt engineering </a:t>
            </a:r>
            <a:r>
              <a:rPr lang="en-US" sz="3200" b="0" i="1" dirty="0">
                <a:solidFill>
                  <a:srgbClr val="141413"/>
                </a:solidFill>
                <a:effectLst/>
                <a:latin typeface="anthropicSerif"/>
              </a:rPr>
              <a:t>refers to methods for writing and organizing LLM instructions for optimal outcomes</a:t>
            </a:r>
            <a:endParaRPr lang="es-CL" sz="3200" i="1" dirty="0"/>
          </a:p>
        </p:txBody>
      </p:sp>
      <p:pic>
        <p:nvPicPr>
          <p:cNvPr id="6" name="Picture 2" descr="Duoc UC - Learn Chile">
            <a:extLst>
              <a:ext uri="{FF2B5EF4-FFF2-40B4-BE49-F238E27FC236}">
                <a16:creationId xmlns:a16="http://schemas.microsoft.com/office/drawing/2014/main" id="{7F1083C9-9486-1191-DCA5-0ED67B402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33811279-DF3B-90AF-0196-79E72A484D5C}"/>
              </a:ext>
            </a:extLst>
          </p:cNvPr>
          <p:cNvSpPr txBox="1"/>
          <p:nvPr/>
        </p:nvSpPr>
        <p:spPr>
          <a:xfrm>
            <a:off x="3524344" y="3102429"/>
            <a:ext cx="8033657" cy="2554545"/>
          </a:xfrm>
          <a:prstGeom prst="rect">
            <a:avLst/>
          </a:prstGeom>
          <a:noFill/>
        </p:spPr>
        <p:txBody>
          <a:bodyPr wrap="square">
            <a:spAutoFit/>
          </a:bodyPr>
          <a:lstStyle/>
          <a:p>
            <a:r>
              <a:rPr lang="en-US" sz="3200" b="1" i="1" dirty="0">
                <a:solidFill>
                  <a:srgbClr val="141413"/>
                </a:solidFill>
                <a:latin typeface="anthropicSerif"/>
              </a:rPr>
              <a:t>Context engineering </a:t>
            </a:r>
            <a:r>
              <a:rPr lang="en-US" sz="3200" i="1" dirty="0">
                <a:solidFill>
                  <a:srgbClr val="141413"/>
                </a:solidFill>
                <a:latin typeface="anthropicSerif"/>
              </a:rPr>
              <a:t>refers to the set of strategies for curating and maintaining the optimal set of tokens (information) during LLM inference, including all the other information that may land there outside of the prompts</a:t>
            </a:r>
            <a:r>
              <a:rPr lang="en-US" b="0" i="0" dirty="0">
                <a:solidFill>
                  <a:srgbClr val="141413"/>
                </a:solidFill>
                <a:effectLst/>
                <a:latin typeface="anthropicSerif"/>
              </a:rPr>
              <a:t>.</a:t>
            </a:r>
            <a:endParaRPr lang="es-CL" dirty="0"/>
          </a:p>
        </p:txBody>
      </p:sp>
      <p:sp>
        <p:nvSpPr>
          <p:cNvPr id="9" name="CuadroTexto 8">
            <a:extLst>
              <a:ext uri="{FF2B5EF4-FFF2-40B4-BE49-F238E27FC236}">
                <a16:creationId xmlns:a16="http://schemas.microsoft.com/office/drawing/2014/main" id="{1D204F08-36FB-7F4A-2675-BB7ED0A9297B}"/>
              </a:ext>
            </a:extLst>
          </p:cNvPr>
          <p:cNvSpPr txBox="1"/>
          <p:nvPr/>
        </p:nvSpPr>
        <p:spPr>
          <a:xfrm>
            <a:off x="467912" y="6262530"/>
            <a:ext cx="6781973" cy="307777"/>
          </a:xfrm>
          <a:prstGeom prst="rect">
            <a:avLst/>
          </a:prstGeom>
          <a:noFill/>
        </p:spPr>
        <p:txBody>
          <a:bodyPr wrap="square">
            <a:spAutoFit/>
          </a:bodyPr>
          <a:lstStyle/>
          <a:p>
            <a:r>
              <a:rPr lang="es-CL" sz="1400" b="1" i="1" dirty="0"/>
              <a:t>Nota</a:t>
            </a:r>
            <a:r>
              <a:rPr lang="es-CL" sz="1400" dirty="0"/>
              <a:t>: https://www.anthropic.com/engineering/effective-context-engineering-for-ai-agents</a:t>
            </a:r>
          </a:p>
        </p:txBody>
      </p:sp>
    </p:spTree>
    <p:extLst>
      <p:ext uri="{BB962C8B-B14F-4D97-AF65-F5344CB8AC3E}">
        <p14:creationId xmlns:p14="http://schemas.microsoft.com/office/powerpoint/2010/main" val="3704890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B52FFFA-FC24-A27B-6E7C-8B589D908567}"/>
              </a:ext>
            </a:extLst>
          </p:cNvPr>
          <p:cNvPicPr>
            <a:picLocks noChangeAspect="1"/>
          </p:cNvPicPr>
          <p:nvPr/>
        </p:nvPicPr>
        <p:blipFill>
          <a:blip r:embed="rId2"/>
          <a:stretch>
            <a:fillRect/>
          </a:stretch>
        </p:blipFill>
        <p:spPr>
          <a:xfrm>
            <a:off x="650836" y="1439560"/>
            <a:ext cx="6285992" cy="4474645"/>
          </a:xfrm>
          <a:prstGeom prst="rect">
            <a:avLst/>
          </a:prstGeom>
        </p:spPr>
      </p:pic>
      <p:pic>
        <p:nvPicPr>
          <p:cNvPr id="6" name="Picture 2" descr="Duoc UC - Learn Chile">
            <a:extLst>
              <a:ext uri="{FF2B5EF4-FFF2-40B4-BE49-F238E27FC236}">
                <a16:creationId xmlns:a16="http://schemas.microsoft.com/office/drawing/2014/main" id="{F0980B70-374D-CEE7-6C2D-7B57B6BF5B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8ADFE299-88F0-E553-107F-053EC1D0EAB2}"/>
              </a:ext>
            </a:extLst>
          </p:cNvPr>
          <p:cNvSpPr txBox="1"/>
          <p:nvPr/>
        </p:nvSpPr>
        <p:spPr>
          <a:xfrm>
            <a:off x="2144486" y="568016"/>
            <a:ext cx="8588828" cy="523220"/>
          </a:xfrm>
          <a:prstGeom prst="rect">
            <a:avLst/>
          </a:prstGeom>
          <a:noFill/>
        </p:spPr>
        <p:txBody>
          <a:bodyPr wrap="square">
            <a:spAutoFit/>
          </a:bodyPr>
          <a:lstStyle/>
          <a:p>
            <a:r>
              <a:rPr lang="es-MX" sz="2800" i="1" dirty="0"/>
              <a:t>Los </a:t>
            </a:r>
            <a:r>
              <a:rPr lang="es-MX" sz="2800" b="1" i="1" dirty="0"/>
              <a:t>conceptos</a:t>
            </a:r>
            <a:r>
              <a:rPr lang="es-MX" sz="2800" i="1" dirty="0"/>
              <a:t> se comprenden mejor en una imagen</a:t>
            </a:r>
            <a:r>
              <a:rPr lang="en-US" sz="2800" b="1" i="1" dirty="0">
                <a:solidFill>
                  <a:srgbClr val="141413"/>
                </a:solidFill>
                <a:latin typeface="anthropicSerif"/>
              </a:rPr>
              <a:t>.</a:t>
            </a:r>
            <a:endParaRPr lang="es-CL" sz="2800" i="1" dirty="0"/>
          </a:p>
        </p:txBody>
      </p:sp>
      <p:sp>
        <p:nvSpPr>
          <p:cNvPr id="9" name="CuadroTexto 8">
            <a:extLst>
              <a:ext uri="{FF2B5EF4-FFF2-40B4-BE49-F238E27FC236}">
                <a16:creationId xmlns:a16="http://schemas.microsoft.com/office/drawing/2014/main" id="{073AAA27-8F89-4794-E349-8ADFA3718966}"/>
              </a:ext>
            </a:extLst>
          </p:cNvPr>
          <p:cNvSpPr txBox="1"/>
          <p:nvPr/>
        </p:nvSpPr>
        <p:spPr>
          <a:xfrm>
            <a:off x="467912" y="6262530"/>
            <a:ext cx="6781973" cy="307777"/>
          </a:xfrm>
          <a:prstGeom prst="rect">
            <a:avLst/>
          </a:prstGeom>
          <a:noFill/>
        </p:spPr>
        <p:txBody>
          <a:bodyPr wrap="square">
            <a:spAutoFit/>
          </a:bodyPr>
          <a:lstStyle/>
          <a:p>
            <a:r>
              <a:rPr lang="es-CL" sz="1400" b="1" i="1" dirty="0"/>
              <a:t>Nota</a:t>
            </a:r>
            <a:r>
              <a:rPr lang="es-CL" sz="1400" dirty="0"/>
              <a:t>: https://www.anthropic.com/engineering/effective-context-engineering-for-ai-agents</a:t>
            </a:r>
          </a:p>
        </p:txBody>
      </p:sp>
      <p:sp>
        <p:nvSpPr>
          <p:cNvPr id="12" name="CuadroTexto 11">
            <a:extLst>
              <a:ext uri="{FF2B5EF4-FFF2-40B4-BE49-F238E27FC236}">
                <a16:creationId xmlns:a16="http://schemas.microsoft.com/office/drawing/2014/main" id="{04D70CC7-429A-2478-A885-905B4EAA67EA}"/>
              </a:ext>
            </a:extLst>
          </p:cNvPr>
          <p:cNvSpPr txBox="1"/>
          <p:nvPr/>
        </p:nvSpPr>
        <p:spPr>
          <a:xfrm>
            <a:off x="7249885" y="2173853"/>
            <a:ext cx="4582886" cy="2862322"/>
          </a:xfrm>
          <a:prstGeom prst="rect">
            <a:avLst/>
          </a:prstGeom>
          <a:noFill/>
        </p:spPr>
        <p:txBody>
          <a:bodyPr wrap="square">
            <a:spAutoFit/>
          </a:bodyPr>
          <a:lstStyle/>
          <a:p>
            <a:r>
              <a:rPr lang="es-MX" b="1" dirty="0"/>
              <a:t>(1) La compactación</a:t>
            </a:r>
            <a:r>
              <a:rPr lang="es-MX" dirty="0"/>
              <a:t> mantiene el flujo de la conversación en tareas que requieren una interacción extensa de ida y vuelta. </a:t>
            </a:r>
          </a:p>
          <a:p>
            <a:endParaRPr lang="es-MX" b="1" dirty="0"/>
          </a:p>
          <a:p>
            <a:r>
              <a:rPr lang="es-MX" b="1" dirty="0"/>
              <a:t>(2) La toma de notas</a:t>
            </a:r>
            <a:r>
              <a:rPr lang="es-MX" dirty="0"/>
              <a:t> destaca en el desarrollo iterativo con hitos claramente definidos. </a:t>
            </a:r>
          </a:p>
          <a:p>
            <a:endParaRPr lang="es-MX" b="1" dirty="0"/>
          </a:p>
          <a:p>
            <a:r>
              <a:rPr lang="es-MX" b="1" dirty="0"/>
              <a:t>(3) Las arquitecturas </a:t>
            </a:r>
            <a:r>
              <a:rPr lang="es-MX" b="1" dirty="0" err="1"/>
              <a:t>multiagente</a:t>
            </a:r>
            <a:r>
              <a:rPr lang="es-MX" dirty="0"/>
              <a:t> gestionan investigaciones y análisis complejos en los que la exploración en paralelo aporta beneficios.</a:t>
            </a:r>
          </a:p>
        </p:txBody>
      </p:sp>
    </p:spTree>
    <p:extLst>
      <p:ext uri="{BB962C8B-B14F-4D97-AF65-F5344CB8AC3E}">
        <p14:creationId xmlns:p14="http://schemas.microsoft.com/office/powerpoint/2010/main" val="3262738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2DE34-2372-FB11-3DC7-DBAEF29D8053}"/>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B537F878-D383-D971-2FC2-3F0EDA7CD8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10" name="Título 1">
            <a:extLst>
              <a:ext uri="{FF2B5EF4-FFF2-40B4-BE49-F238E27FC236}">
                <a16:creationId xmlns:a16="http://schemas.microsoft.com/office/drawing/2014/main" id="{F1D0E72B-8799-6810-1576-1D2F4D86A7AB}"/>
              </a:ext>
            </a:extLst>
          </p:cNvPr>
          <p:cNvSpPr txBox="1">
            <a:spLocks/>
          </p:cNvSpPr>
          <p:nvPr/>
        </p:nvSpPr>
        <p:spPr>
          <a:xfrm>
            <a:off x="501560" y="276927"/>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600" b="1" i="1" dirty="0"/>
              <a:t>Tipos de comunicaciones:  </a:t>
            </a:r>
            <a:r>
              <a:rPr lang="es-MX" sz="3600" i="1" dirty="0"/>
              <a:t>Sistema, humano y asistente</a:t>
            </a:r>
            <a:r>
              <a:rPr lang="es-MX" sz="3600" b="1" i="1" dirty="0"/>
              <a:t>.</a:t>
            </a:r>
            <a:endParaRPr lang="es-CL" sz="3600" b="1" i="1" dirty="0"/>
          </a:p>
        </p:txBody>
      </p:sp>
      <p:pic>
        <p:nvPicPr>
          <p:cNvPr id="1026" name="Picture 2" descr="Maximizing the Impact of Language Models: The Role of Effective Prompt  Engineering | by Kushal V | TechHappily | Medium">
            <a:extLst>
              <a:ext uri="{FF2B5EF4-FFF2-40B4-BE49-F238E27FC236}">
                <a16:creationId xmlns:a16="http://schemas.microsoft.com/office/drawing/2014/main" id="{CD4D4D25-6E18-D41E-C485-CBC796F4CB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31" y="1656654"/>
            <a:ext cx="5309395" cy="465899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recto de flecha 6">
            <a:extLst>
              <a:ext uri="{FF2B5EF4-FFF2-40B4-BE49-F238E27FC236}">
                <a16:creationId xmlns:a16="http://schemas.microsoft.com/office/drawing/2014/main" id="{2F36F16B-8A11-3A3D-000F-1A0429937FA0}"/>
              </a:ext>
            </a:extLst>
          </p:cNvPr>
          <p:cNvCxnSpPr/>
          <p:nvPr/>
        </p:nvCxnSpPr>
        <p:spPr>
          <a:xfrm>
            <a:off x="5058889" y="2386940"/>
            <a:ext cx="16625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DE894D39-1BEF-1C2D-054B-04FF0A0613BF}"/>
              </a:ext>
            </a:extLst>
          </p:cNvPr>
          <p:cNvCxnSpPr/>
          <p:nvPr/>
        </p:nvCxnSpPr>
        <p:spPr>
          <a:xfrm>
            <a:off x="5058889" y="2871849"/>
            <a:ext cx="16625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FD6CEADA-2965-48B0-BD70-A3FF43BCC65C}"/>
              </a:ext>
            </a:extLst>
          </p:cNvPr>
          <p:cNvCxnSpPr/>
          <p:nvPr/>
        </p:nvCxnSpPr>
        <p:spPr>
          <a:xfrm>
            <a:off x="5058889" y="3429000"/>
            <a:ext cx="16625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ítulo 1">
            <a:extLst>
              <a:ext uri="{FF2B5EF4-FFF2-40B4-BE49-F238E27FC236}">
                <a16:creationId xmlns:a16="http://schemas.microsoft.com/office/drawing/2014/main" id="{151DFCC1-2ECE-2021-6E03-AAF34097F3A4}"/>
              </a:ext>
            </a:extLst>
          </p:cNvPr>
          <p:cNvSpPr txBox="1">
            <a:spLocks/>
          </p:cNvSpPr>
          <p:nvPr/>
        </p:nvSpPr>
        <p:spPr>
          <a:xfrm>
            <a:off x="6817295" y="1665737"/>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800" b="1" i="1" dirty="0" err="1"/>
              <a:t>Prompt</a:t>
            </a:r>
            <a:r>
              <a:rPr lang="es-MX" sz="1800" b="1" i="1" dirty="0"/>
              <a:t> </a:t>
            </a:r>
            <a:r>
              <a:rPr lang="es-MX" sz="1800" b="1" i="1" dirty="0" err="1"/>
              <a:t>System</a:t>
            </a:r>
            <a:r>
              <a:rPr lang="es-MX" sz="1800" i="1" dirty="0"/>
              <a:t>: d</a:t>
            </a:r>
            <a:r>
              <a:rPr lang="es-MX" sz="1800" dirty="0"/>
              <a:t>efine el comportamiento del modelo</a:t>
            </a:r>
            <a:r>
              <a:rPr lang="es-MX" sz="1800" i="1" dirty="0"/>
              <a:t>.</a:t>
            </a:r>
            <a:endParaRPr lang="es-CL" sz="3600" i="1" dirty="0"/>
          </a:p>
        </p:txBody>
      </p:sp>
      <p:sp>
        <p:nvSpPr>
          <p:cNvPr id="12" name="Título 1">
            <a:extLst>
              <a:ext uri="{FF2B5EF4-FFF2-40B4-BE49-F238E27FC236}">
                <a16:creationId xmlns:a16="http://schemas.microsoft.com/office/drawing/2014/main" id="{0DD76678-F3AE-B1EE-4FC3-BD5F4B6964FF}"/>
              </a:ext>
            </a:extLst>
          </p:cNvPr>
          <p:cNvSpPr txBox="1">
            <a:spLocks/>
          </p:cNvSpPr>
          <p:nvPr/>
        </p:nvSpPr>
        <p:spPr>
          <a:xfrm>
            <a:off x="6829170" y="2197192"/>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800" b="1" i="1" dirty="0" err="1"/>
              <a:t>User</a:t>
            </a:r>
            <a:r>
              <a:rPr lang="es-MX" sz="1800" b="1" i="1" dirty="0"/>
              <a:t> </a:t>
            </a:r>
            <a:r>
              <a:rPr lang="es-MX" sz="1800" b="1" i="1" dirty="0" err="1"/>
              <a:t>Message</a:t>
            </a:r>
            <a:r>
              <a:rPr lang="es-MX" sz="1800" i="1" dirty="0"/>
              <a:t>: </a:t>
            </a:r>
            <a:r>
              <a:rPr lang="es-MX" sz="1800" dirty="0"/>
              <a:t>mensaje del usuario</a:t>
            </a:r>
            <a:r>
              <a:rPr lang="es-MX" sz="1800" i="1" dirty="0"/>
              <a:t>.</a:t>
            </a:r>
            <a:endParaRPr lang="es-CL" sz="3600" i="1" dirty="0"/>
          </a:p>
        </p:txBody>
      </p:sp>
      <p:sp>
        <p:nvSpPr>
          <p:cNvPr id="13" name="Título 1">
            <a:extLst>
              <a:ext uri="{FF2B5EF4-FFF2-40B4-BE49-F238E27FC236}">
                <a16:creationId xmlns:a16="http://schemas.microsoft.com/office/drawing/2014/main" id="{FA5B5817-0046-3D6C-31F2-6B4E88BAD4C0}"/>
              </a:ext>
            </a:extLst>
          </p:cNvPr>
          <p:cNvSpPr txBox="1">
            <a:spLocks/>
          </p:cNvSpPr>
          <p:nvPr/>
        </p:nvSpPr>
        <p:spPr>
          <a:xfrm>
            <a:off x="6747890" y="2991300"/>
            <a:ext cx="536283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800" b="1" i="1" dirty="0" err="1"/>
              <a:t>Assistant</a:t>
            </a:r>
            <a:r>
              <a:rPr lang="es-MX" sz="1800" b="1" i="1" dirty="0"/>
              <a:t> </a:t>
            </a:r>
            <a:r>
              <a:rPr lang="es-MX" sz="1800" b="1" i="1" dirty="0" err="1"/>
              <a:t>Message</a:t>
            </a:r>
            <a:r>
              <a:rPr lang="es-MX" sz="1800" i="1" dirty="0"/>
              <a:t>: </a:t>
            </a:r>
            <a:r>
              <a:rPr lang="es-MX" sz="1800" dirty="0"/>
              <a:t>respuesta del modelo de lenguaje. </a:t>
            </a:r>
          </a:p>
          <a:p>
            <a:r>
              <a:rPr lang="es-MX" sz="1800" dirty="0"/>
              <a:t>Si existe una conversación, cada interacción se debe almacenar para entregarla como parámetro al </a:t>
            </a:r>
            <a:r>
              <a:rPr lang="es-MX" sz="1800" dirty="0" err="1"/>
              <a:t>request</a:t>
            </a:r>
            <a:r>
              <a:rPr lang="es-MX" sz="1800" i="1" dirty="0"/>
              <a:t>.</a:t>
            </a:r>
            <a:endParaRPr lang="es-CL" sz="3600" i="1" dirty="0"/>
          </a:p>
        </p:txBody>
      </p:sp>
      <p:sp>
        <p:nvSpPr>
          <p:cNvPr id="14" name="Título 1">
            <a:extLst>
              <a:ext uri="{FF2B5EF4-FFF2-40B4-BE49-F238E27FC236}">
                <a16:creationId xmlns:a16="http://schemas.microsoft.com/office/drawing/2014/main" id="{AF5C9C93-30BD-D06D-FB8D-F6D04D347FBE}"/>
              </a:ext>
            </a:extLst>
          </p:cNvPr>
          <p:cNvSpPr txBox="1">
            <a:spLocks/>
          </p:cNvSpPr>
          <p:nvPr/>
        </p:nvSpPr>
        <p:spPr>
          <a:xfrm>
            <a:off x="5308996" y="4316863"/>
            <a:ext cx="536283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600" i="1" dirty="0"/>
          </a:p>
        </p:txBody>
      </p:sp>
      <p:sp>
        <p:nvSpPr>
          <p:cNvPr id="16" name="CuadroTexto 15">
            <a:extLst>
              <a:ext uri="{FF2B5EF4-FFF2-40B4-BE49-F238E27FC236}">
                <a16:creationId xmlns:a16="http://schemas.microsoft.com/office/drawing/2014/main" id="{689C4CDD-09EB-4DB0-60D2-503F37EC89B4}"/>
              </a:ext>
            </a:extLst>
          </p:cNvPr>
          <p:cNvSpPr txBox="1"/>
          <p:nvPr/>
        </p:nvSpPr>
        <p:spPr>
          <a:xfrm>
            <a:off x="5091843" y="4478606"/>
            <a:ext cx="8674924" cy="646331"/>
          </a:xfrm>
          <a:prstGeom prst="rect">
            <a:avLst/>
          </a:prstGeom>
          <a:noFill/>
        </p:spPr>
        <p:txBody>
          <a:bodyPr wrap="square">
            <a:spAutoFit/>
          </a:bodyPr>
          <a:lstStyle/>
          <a:p>
            <a:r>
              <a:rPr lang="es-CL" sz="1800" dirty="0"/>
              <a:t>Las técnicas de </a:t>
            </a:r>
            <a:r>
              <a:rPr lang="es-CL" sz="1800" b="1" i="1" dirty="0" err="1"/>
              <a:t>Prompt</a:t>
            </a:r>
            <a:r>
              <a:rPr lang="es-CL" sz="1800" b="1" i="1" dirty="0"/>
              <a:t> </a:t>
            </a:r>
            <a:r>
              <a:rPr lang="es-CL" sz="1800" b="1" i="1" dirty="0" err="1"/>
              <a:t>Engineering</a:t>
            </a:r>
            <a:r>
              <a:rPr lang="es-CL" sz="1800" b="1" i="1" dirty="0"/>
              <a:t> </a:t>
            </a:r>
            <a:r>
              <a:rPr lang="es-CL" sz="1800" dirty="0"/>
              <a:t>buscan personalizar y ajustar el </a:t>
            </a:r>
          </a:p>
          <a:p>
            <a:r>
              <a:rPr lang="es-CL" dirty="0" err="1"/>
              <a:t>Prompt</a:t>
            </a:r>
            <a:r>
              <a:rPr lang="es-CL" dirty="0"/>
              <a:t> </a:t>
            </a:r>
            <a:r>
              <a:rPr lang="es-CL" dirty="0" err="1"/>
              <a:t>System</a:t>
            </a:r>
            <a:r>
              <a:rPr lang="es-CL" dirty="0"/>
              <a:t>, no los demás mensajes</a:t>
            </a:r>
            <a:r>
              <a:rPr lang="es-CL" b="1" i="1" dirty="0"/>
              <a:t>.</a:t>
            </a:r>
            <a:r>
              <a:rPr lang="es-CL" sz="1800" b="1" i="1" dirty="0"/>
              <a:t> </a:t>
            </a:r>
            <a:endParaRPr lang="es-CL" dirty="0"/>
          </a:p>
        </p:txBody>
      </p:sp>
    </p:spTree>
    <p:extLst>
      <p:ext uri="{BB962C8B-B14F-4D97-AF65-F5344CB8AC3E}">
        <p14:creationId xmlns:p14="http://schemas.microsoft.com/office/powerpoint/2010/main" val="2781298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A97FD-2191-E9AA-3D7F-CD2F37404C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A56AF0-4894-BD4E-ED99-0933E6ADF2C0}"/>
              </a:ext>
            </a:extLst>
          </p:cNvPr>
          <p:cNvSpPr>
            <a:spLocks noGrp="1"/>
          </p:cNvSpPr>
          <p:nvPr>
            <p:ph type="title"/>
          </p:nvPr>
        </p:nvSpPr>
        <p:spPr>
          <a:xfrm>
            <a:off x="1351280" y="2471875"/>
            <a:ext cx="10515600" cy="1325563"/>
          </a:xfrm>
        </p:spPr>
        <p:txBody>
          <a:bodyPr>
            <a:noAutofit/>
          </a:bodyPr>
          <a:lstStyle/>
          <a:p>
            <a:r>
              <a:rPr lang="es-CL" sz="3600" i="1" dirty="0"/>
              <a:t>¿Cuáles son las técnicas de </a:t>
            </a:r>
            <a:r>
              <a:rPr lang="es-CL" sz="3600" i="1" dirty="0" err="1"/>
              <a:t>Prompt</a:t>
            </a:r>
            <a:r>
              <a:rPr lang="es-CL" sz="3600" i="1" dirty="0"/>
              <a:t> </a:t>
            </a:r>
            <a:r>
              <a:rPr lang="es-CL" sz="3600" i="1" dirty="0" err="1"/>
              <a:t>Engineering</a:t>
            </a:r>
            <a:r>
              <a:rPr lang="es-CL" sz="3600" i="1" dirty="0"/>
              <a:t>?</a:t>
            </a:r>
            <a:endParaRPr lang="es-CL" sz="3600" b="1" i="1" dirty="0"/>
          </a:p>
        </p:txBody>
      </p:sp>
      <p:pic>
        <p:nvPicPr>
          <p:cNvPr id="4" name="Picture 2" descr="Duoc UC - Learn Chile">
            <a:extLst>
              <a:ext uri="{FF2B5EF4-FFF2-40B4-BE49-F238E27FC236}">
                <a16:creationId xmlns:a16="http://schemas.microsoft.com/office/drawing/2014/main" id="{F10E2652-E8AB-542F-F375-D5A600D6FC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179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688FF-14EF-D369-96A0-A78B148A29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1619C9-3C53-B17C-0F4A-2E607A64D21D}"/>
              </a:ext>
            </a:extLst>
          </p:cNvPr>
          <p:cNvSpPr>
            <a:spLocks noGrp="1"/>
          </p:cNvSpPr>
          <p:nvPr>
            <p:ph type="title"/>
          </p:nvPr>
        </p:nvSpPr>
        <p:spPr>
          <a:xfrm>
            <a:off x="838200" y="2380435"/>
            <a:ext cx="10515600" cy="1325563"/>
          </a:xfrm>
        </p:spPr>
        <p:txBody>
          <a:bodyPr>
            <a:noAutofit/>
          </a:bodyPr>
          <a:lstStyle/>
          <a:p>
            <a:r>
              <a:rPr lang="es-MX" sz="3600" b="1" i="1" dirty="0"/>
              <a:t>Zero – </a:t>
            </a:r>
            <a:r>
              <a:rPr lang="es-MX" sz="3600" b="1" i="1" dirty="0" err="1"/>
              <a:t>Shot</a:t>
            </a:r>
            <a:r>
              <a:rPr lang="es-MX" sz="3600" b="1" i="1" dirty="0"/>
              <a:t> </a:t>
            </a:r>
            <a:r>
              <a:rPr lang="es-CL" sz="3600" b="1" i="1" dirty="0" err="1"/>
              <a:t>Prompting</a:t>
            </a:r>
            <a:endParaRPr lang="es-CL" sz="3600" b="1" i="1" dirty="0"/>
          </a:p>
        </p:txBody>
      </p:sp>
      <p:pic>
        <p:nvPicPr>
          <p:cNvPr id="4" name="Picture 2" descr="Duoc UC - Learn Chile">
            <a:extLst>
              <a:ext uri="{FF2B5EF4-FFF2-40B4-BE49-F238E27FC236}">
                <a16:creationId xmlns:a16="http://schemas.microsoft.com/office/drawing/2014/main" id="{7C9AD642-C65A-F352-B420-FE924CA930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A09965E-1AA7-4955-EA0B-59F1D1D0BE72}"/>
              </a:ext>
            </a:extLst>
          </p:cNvPr>
          <p:cNvSpPr txBox="1"/>
          <p:nvPr/>
        </p:nvSpPr>
        <p:spPr>
          <a:xfrm>
            <a:off x="503358" y="6291699"/>
            <a:ext cx="7604321" cy="276999"/>
          </a:xfrm>
          <a:prstGeom prst="rect">
            <a:avLst/>
          </a:prstGeom>
          <a:noFill/>
        </p:spPr>
        <p:txBody>
          <a:bodyPr wrap="square">
            <a:spAutoFit/>
          </a:bodyPr>
          <a:lstStyle/>
          <a:p>
            <a:r>
              <a:rPr lang="es-CL" sz="1200" b="1" i="1" dirty="0"/>
              <a:t>Nota:</a:t>
            </a:r>
            <a:r>
              <a:rPr lang="es-CL" sz="1200" dirty="0"/>
              <a:t> https://blog.langchain.com/few-shot-prompting-to-improve-tool-calling-performance/ </a:t>
            </a:r>
          </a:p>
        </p:txBody>
      </p:sp>
      <p:sp>
        <p:nvSpPr>
          <p:cNvPr id="3" name="Título 1">
            <a:extLst>
              <a:ext uri="{FF2B5EF4-FFF2-40B4-BE49-F238E27FC236}">
                <a16:creationId xmlns:a16="http://schemas.microsoft.com/office/drawing/2014/main" id="{F5681707-FFBC-C1EA-DF55-C85DF5E7A034}"/>
              </a:ext>
            </a:extLst>
          </p:cNvPr>
          <p:cNvSpPr txBox="1">
            <a:spLocks/>
          </p:cNvSpPr>
          <p:nvPr/>
        </p:nvSpPr>
        <p:spPr>
          <a:xfrm>
            <a:off x="5878113" y="993489"/>
            <a:ext cx="5257800" cy="40255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sz="2400" b="1" i="1" dirty="0"/>
              <a:t>Mensaje directo al LLM, sin ningún ejemplo previo. </a:t>
            </a:r>
          </a:p>
          <a:p>
            <a:endParaRPr lang="es-CL" sz="2400" dirty="0"/>
          </a:p>
          <a:p>
            <a:r>
              <a:rPr lang="es-CL" sz="2400" dirty="0"/>
              <a:t>Ventajas:</a:t>
            </a:r>
          </a:p>
          <a:p>
            <a:pPr marL="342900" indent="-342900">
              <a:buFont typeface="Arial" panose="020B0604020202020204" pitchFamily="34" charset="0"/>
              <a:buChar char="•"/>
            </a:pPr>
            <a:r>
              <a:rPr lang="es-CL" sz="2400" dirty="0"/>
              <a:t>Implementación fácil y rápida.</a:t>
            </a:r>
          </a:p>
          <a:p>
            <a:endParaRPr lang="es-CL" sz="2400" dirty="0"/>
          </a:p>
          <a:p>
            <a:r>
              <a:rPr lang="es-CL" sz="2400" dirty="0"/>
              <a:t>Desventajas:</a:t>
            </a:r>
          </a:p>
          <a:p>
            <a:pPr marL="342900" indent="-342900">
              <a:buFont typeface="Arial" panose="020B0604020202020204" pitchFamily="34" charset="0"/>
              <a:buChar char="•"/>
            </a:pPr>
            <a:r>
              <a:rPr lang="es-CL" sz="2400" dirty="0"/>
              <a:t>Poco confiable.</a:t>
            </a:r>
          </a:p>
          <a:p>
            <a:pPr marL="342900" indent="-342900">
              <a:buFont typeface="Arial" panose="020B0604020202020204" pitchFamily="34" charset="0"/>
              <a:buChar char="•"/>
            </a:pPr>
            <a:r>
              <a:rPr lang="es-CL" sz="2400" dirty="0"/>
              <a:t>Los problemas reales son complejos, entonces muy poco usado en la industria.</a:t>
            </a:r>
            <a:endParaRPr lang="es-CL" sz="2400" i="1" dirty="0"/>
          </a:p>
        </p:txBody>
      </p:sp>
      <p:pic>
        <p:nvPicPr>
          <p:cNvPr id="9" name="Imagen 8">
            <a:extLst>
              <a:ext uri="{FF2B5EF4-FFF2-40B4-BE49-F238E27FC236}">
                <a16:creationId xmlns:a16="http://schemas.microsoft.com/office/drawing/2014/main" id="{DB9682C2-D1FE-20EF-659B-C64CFBE5D921}"/>
              </a:ext>
            </a:extLst>
          </p:cNvPr>
          <p:cNvPicPr>
            <a:picLocks noChangeAspect="1"/>
          </p:cNvPicPr>
          <p:nvPr/>
        </p:nvPicPr>
        <p:blipFill>
          <a:blip r:embed="rId3"/>
          <a:stretch>
            <a:fillRect/>
          </a:stretch>
        </p:blipFill>
        <p:spPr>
          <a:xfrm>
            <a:off x="5697439" y="4847209"/>
            <a:ext cx="6088162" cy="1017302"/>
          </a:xfrm>
          <a:prstGeom prst="rect">
            <a:avLst/>
          </a:prstGeom>
        </p:spPr>
      </p:pic>
    </p:spTree>
    <p:extLst>
      <p:ext uri="{BB962C8B-B14F-4D97-AF65-F5344CB8AC3E}">
        <p14:creationId xmlns:p14="http://schemas.microsoft.com/office/powerpoint/2010/main" val="3913987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9C53E-E63A-B17C-52BE-C441A66FF1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BA7F201-709B-965B-BAA9-BDC841B24EB6}"/>
              </a:ext>
            </a:extLst>
          </p:cNvPr>
          <p:cNvSpPr>
            <a:spLocks noGrp="1"/>
          </p:cNvSpPr>
          <p:nvPr>
            <p:ph type="title"/>
          </p:nvPr>
        </p:nvSpPr>
        <p:spPr>
          <a:xfrm>
            <a:off x="838200" y="2380435"/>
            <a:ext cx="10515600" cy="1325563"/>
          </a:xfrm>
        </p:spPr>
        <p:txBody>
          <a:bodyPr>
            <a:noAutofit/>
          </a:bodyPr>
          <a:lstStyle/>
          <a:p>
            <a:r>
              <a:rPr lang="es-CL" sz="4000" b="1" i="1" dirty="0" err="1"/>
              <a:t>Few-Shot</a:t>
            </a:r>
            <a:r>
              <a:rPr lang="es-CL" sz="4000" b="1" i="1" dirty="0"/>
              <a:t> </a:t>
            </a:r>
            <a:r>
              <a:rPr lang="es-CL" sz="4000" b="1" i="1" dirty="0" err="1"/>
              <a:t>Prompting</a:t>
            </a:r>
            <a:endParaRPr lang="es-CL" sz="4000" b="1" i="1" dirty="0"/>
          </a:p>
        </p:txBody>
      </p:sp>
      <p:pic>
        <p:nvPicPr>
          <p:cNvPr id="4" name="Picture 2" descr="Duoc UC - Learn Chile">
            <a:extLst>
              <a:ext uri="{FF2B5EF4-FFF2-40B4-BE49-F238E27FC236}">
                <a16:creationId xmlns:a16="http://schemas.microsoft.com/office/drawing/2014/main" id="{3E498152-BC00-D3C0-5FB0-E57A2384A5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54B9A69B-616B-831D-6B60-DD1EB1E07EE0}"/>
              </a:ext>
            </a:extLst>
          </p:cNvPr>
          <p:cNvSpPr txBox="1">
            <a:spLocks/>
          </p:cNvSpPr>
          <p:nvPr/>
        </p:nvSpPr>
        <p:spPr>
          <a:xfrm>
            <a:off x="5878113" y="1146017"/>
            <a:ext cx="5257800" cy="40255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sz="2000" b="1" i="1" dirty="0"/>
              <a:t>Mensaje directo al LLM, pero con ejemplos de entradas y salidas. Le doy ejemplos al LLM de como quiero que trabaje.</a:t>
            </a:r>
          </a:p>
          <a:p>
            <a:endParaRPr lang="es-CL" sz="2000" dirty="0"/>
          </a:p>
          <a:p>
            <a:r>
              <a:rPr lang="es-CL" sz="2000" dirty="0"/>
              <a:t>Ventajas:</a:t>
            </a:r>
          </a:p>
          <a:p>
            <a:pPr marL="342900" indent="-342900">
              <a:buFont typeface="Arial" panose="020B0604020202020204" pitchFamily="34" charset="0"/>
              <a:buChar char="•"/>
            </a:pPr>
            <a:r>
              <a:rPr lang="es-CL" sz="2000" dirty="0"/>
              <a:t>Mas preciso en la tarea. Le enseño como comportarse.</a:t>
            </a:r>
          </a:p>
          <a:p>
            <a:pPr marL="342900" indent="-342900">
              <a:buFont typeface="Arial" panose="020B0604020202020204" pitchFamily="34" charset="0"/>
              <a:buChar char="•"/>
            </a:pPr>
            <a:endParaRPr lang="es-CL" sz="2000" dirty="0"/>
          </a:p>
          <a:p>
            <a:r>
              <a:rPr lang="es-CL" sz="2000" dirty="0"/>
              <a:t>Desventajas:</a:t>
            </a:r>
          </a:p>
          <a:p>
            <a:pPr marL="342900" indent="-342900">
              <a:buFont typeface="Arial" panose="020B0604020202020204" pitchFamily="34" charset="0"/>
              <a:buChar char="•"/>
            </a:pPr>
            <a:r>
              <a:rPr lang="es-CL" sz="2000" dirty="0"/>
              <a:t>Output más estándar.</a:t>
            </a:r>
          </a:p>
          <a:p>
            <a:pPr marL="342900" indent="-342900">
              <a:buFont typeface="Arial" panose="020B0604020202020204" pitchFamily="34" charset="0"/>
              <a:buChar char="•"/>
            </a:pPr>
            <a:r>
              <a:rPr lang="es-CL" sz="2000" dirty="0"/>
              <a:t>Necesito tener los ejemplos.</a:t>
            </a:r>
          </a:p>
          <a:p>
            <a:pPr marL="342900" indent="-342900">
              <a:buFont typeface="Arial" panose="020B0604020202020204" pitchFamily="34" charset="0"/>
              <a:buChar char="•"/>
            </a:pPr>
            <a:r>
              <a:rPr lang="es-CL" sz="2000" dirty="0"/>
              <a:t>El </a:t>
            </a:r>
            <a:r>
              <a:rPr lang="es-CL" sz="2000" dirty="0" err="1"/>
              <a:t>prompt</a:t>
            </a:r>
            <a:r>
              <a:rPr lang="es-CL" sz="2000" dirty="0"/>
              <a:t> puede tomar más tiempo en construirlo.</a:t>
            </a:r>
            <a:endParaRPr lang="es-CL" sz="2000" i="1" dirty="0"/>
          </a:p>
        </p:txBody>
      </p:sp>
      <p:pic>
        <p:nvPicPr>
          <p:cNvPr id="7" name="Imagen 6">
            <a:extLst>
              <a:ext uri="{FF2B5EF4-FFF2-40B4-BE49-F238E27FC236}">
                <a16:creationId xmlns:a16="http://schemas.microsoft.com/office/drawing/2014/main" id="{24564E48-ECA7-77F3-4357-CD86D66E2BE4}"/>
              </a:ext>
            </a:extLst>
          </p:cNvPr>
          <p:cNvPicPr>
            <a:picLocks noChangeAspect="1"/>
          </p:cNvPicPr>
          <p:nvPr/>
        </p:nvPicPr>
        <p:blipFill>
          <a:blip r:embed="rId4"/>
          <a:stretch>
            <a:fillRect/>
          </a:stretch>
        </p:blipFill>
        <p:spPr>
          <a:xfrm>
            <a:off x="5751709" y="5001376"/>
            <a:ext cx="4711942" cy="1181161"/>
          </a:xfrm>
          <a:prstGeom prst="rect">
            <a:avLst/>
          </a:prstGeom>
        </p:spPr>
      </p:pic>
    </p:spTree>
    <p:extLst>
      <p:ext uri="{BB962C8B-B14F-4D97-AF65-F5344CB8AC3E}">
        <p14:creationId xmlns:p14="http://schemas.microsoft.com/office/powerpoint/2010/main" val="1429298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DE96E-925A-C73F-24E6-01835329F07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90E760-3551-AF8A-6D5D-67111174D536}"/>
              </a:ext>
            </a:extLst>
          </p:cNvPr>
          <p:cNvSpPr>
            <a:spLocks noGrp="1"/>
          </p:cNvSpPr>
          <p:nvPr>
            <p:ph type="title"/>
          </p:nvPr>
        </p:nvSpPr>
        <p:spPr>
          <a:xfrm>
            <a:off x="-2189480" y="2496010"/>
            <a:ext cx="10515600" cy="1325563"/>
          </a:xfrm>
        </p:spPr>
        <p:txBody>
          <a:bodyPr>
            <a:noAutofit/>
          </a:bodyPr>
          <a:lstStyle/>
          <a:p>
            <a:pPr algn="ctr"/>
            <a:r>
              <a:rPr lang="es-CL" i="1" dirty="0" err="1"/>
              <a:t>Chain-of-Thought</a:t>
            </a:r>
            <a:br>
              <a:rPr lang="es-CL" i="1" dirty="0"/>
            </a:br>
            <a:r>
              <a:rPr lang="es-CL" i="1" dirty="0"/>
              <a:t>(COF)</a:t>
            </a:r>
          </a:p>
        </p:txBody>
      </p:sp>
      <p:pic>
        <p:nvPicPr>
          <p:cNvPr id="4" name="Picture 2" descr="Duoc UC - Learn Chile">
            <a:extLst>
              <a:ext uri="{FF2B5EF4-FFF2-40B4-BE49-F238E27FC236}">
                <a16:creationId xmlns:a16="http://schemas.microsoft.com/office/drawing/2014/main" id="{5DF939F5-A8CF-81E5-C6E4-5597E16F2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D6F56345-3B6F-EA99-70E7-DA2C9941FBC9}"/>
              </a:ext>
            </a:extLst>
          </p:cNvPr>
          <p:cNvSpPr txBox="1">
            <a:spLocks/>
          </p:cNvSpPr>
          <p:nvPr/>
        </p:nvSpPr>
        <p:spPr>
          <a:xfrm>
            <a:off x="5878113" y="855882"/>
            <a:ext cx="5257800" cy="40255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sz="2000" b="1" i="1" dirty="0"/>
              <a:t>Antes de tener una respuesta, lo correcto es “pensar”. El COF busca que los </a:t>
            </a:r>
            <a:r>
              <a:rPr lang="es-CL" sz="2000" b="1" i="1" dirty="0" err="1"/>
              <a:t>LLMs</a:t>
            </a:r>
            <a:r>
              <a:rPr lang="es-CL" sz="2000" b="1" i="1" dirty="0"/>
              <a:t> construyan una secuencia de pasos antes de entregar la respuesta, como si estuvieran haciendo el calculo matemático de una expresión compleja en “Voz Alta”.</a:t>
            </a:r>
          </a:p>
          <a:p>
            <a:endParaRPr lang="es-CL" sz="2000" dirty="0"/>
          </a:p>
          <a:p>
            <a:r>
              <a:rPr lang="es-CL" sz="2000" dirty="0"/>
              <a:t>Ventajas:</a:t>
            </a:r>
          </a:p>
          <a:p>
            <a:pPr marL="342900" indent="-342900">
              <a:buFont typeface="Arial" panose="020B0604020202020204" pitchFamily="34" charset="0"/>
              <a:buChar char="•"/>
            </a:pPr>
            <a:r>
              <a:rPr lang="es-CL" sz="2000" dirty="0"/>
              <a:t>Mayor confiabilidad.</a:t>
            </a:r>
          </a:p>
          <a:p>
            <a:pPr marL="342900" indent="-342900">
              <a:buFont typeface="Arial" panose="020B0604020202020204" pitchFamily="34" charset="0"/>
              <a:buChar char="•"/>
            </a:pPr>
            <a:r>
              <a:rPr lang="es-CL" sz="2000" dirty="0"/>
              <a:t>Trazabilidad del pensamiento respecto a la respuesta dada.</a:t>
            </a:r>
          </a:p>
          <a:p>
            <a:pPr marL="342900" indent="-342900">
              <a:buFont typeface="Arial" panose="020B0604020202020204" pitchFamily="34" charset="0"/>
              <a:buChar char="•"/>
            </a:pPr>
            <a:r>
              <a:rPr lang="es-CL" sz="2000" dirty="0"/>
              <a:t>Descompone, razona y construye la respuesta.</a:t>
            </a:r>
          </a:p>
          <a:p>
            <a:pPr marL="342900" indent="-342900">
              <a:buFont typeface="Arial" panose="020B0604020202020204" pitchFamily="34" charset="0"/>
              <a:buChar char="•"/>
            </a:pPr>
            <a:r>
              <a:rPr lang="es-CL" sz="2000" dirty="0" err="1"/>
              <a:t>Debugging</a:t>
            </a:r>
            <a:r>
              <a:rPr lang="es-CL" sz="2000" dirty="0"/>
              <a:t>.</a:t>
            </a:r>
          </a:p>
          <a:p>
            <a:pPr marL="342900" indent="-342900">
              <a:buFont typeface="Arial" panose="020B0604020202020204" pitchFamily="34" charset="0"/>
              <a:buChar char="•"/>
            </a:pPr>
            <a:endParaRPr lang="es-CL" sz="2000" dirty="0"/>
          </a:p>
          <a:p>
            <a:r>
              <a:rPr lang="es-CL" sz="2000" dirty="0"/>
              <a:t>Desventajas:</a:t>
            </a:r>
          </a:p>
          <a:p>
            <a:pPr marL="342900" indent="-342900">
              <a:buFont typeface="Arial" panose="020B0604020202020204" pitchFamily="34" charset="0"/>
              <a:buChar char="•"/>
            </a:pPr>
            <a:r>
              <a:rPr lang="es-CL" sz="2000" dirty="0"/>
              <a:t>Toma mayor tiempo de inferencia. </a:t>
            </a:r>
          </a:p>
          <a:p>
            <a:pPr marL="342900" indent="-342900">
              <a:buFont typeface="Arial" panose="020B0604020202020204" pitchFamily="34" charset="0"/>
              <a:buChar char="•"/>
            </a:pPr>
            <a:r>
              <a:rPr lang="es-CL" sz="2000" dirty="0"/>
              <a:t>No aplica para todos los casos.</a:t>
            </a:r>
          </a:p>
        </p:txBody>
      </p:sp>
      <p:pic>
        <p:nvPicPr>
          <p:cNvPr id="8" name="Imagen 7">
            <a:extLst>
              <a:ext uri="{FF2B5EF4-FFF2-40B4-BE49-F238E27FC236}">
                <a16:creationId xmlns:a16="http://schemas.microsoft.com/office/drawing/2014/main" id="{704212E0-03F1-1C6C-29AB-461DD511E736}"/>
              </a:ext>
            </a:extLst>
          </p:cNvPr>
          <p:cNvPicPr>
            <a:picLocks noChangeAspect="1"/>
          </p:cNvPicPr>
          <p:nvPr/>
        </p:nvPicPr>
        <p:blipFill>
          <a:blip r:embed="rId4"/>
          <a:stretch>
            <a:fillRect/>
          </a:stretch>
        </p:blipFill>
        <p:spPr>
          <a:xfrm>
            <a:off x="5742171" y="5306127"/>
            <a:ext cx="5188217" cy="882695"/>
          </a:xfrm>
          <a:prstGeom prst="rect">
            <a:avLst/>
          </a:prstGeom>
        </p:spPr>
      </p:pic>
    </p:spTree>
    <p:extLst>
      <p:ext uri="{BB962C8B-B14F-4D97-AF65-F5344CB8AC3E}">
        <p14:creationId xmlns:p14="http://schemas.microsoft.com/office/powerpoint/2010/main" val="45764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F9C8E-B0EB-11C4-E11D-50EF48FD1FC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3BD657-9DB5-49BA-C1F6-71970FFAF49E}"/>
              </a:ext>
            </a:extLst>
          </p:cNvPr>
          <p:cNvSpPr>
            <a:spLocks noGrp="1"/>
          </p:cNvSpPr>
          <p:nvPr>
            <p:ph type="title"/>
          </p:nvPr>
        </p:nvSpPr>
        <p:spPr>
          <a:xfrm>
            <a:off x="620313" y="295977"/>
            <a:ext cx="10515600" cy="1325563"/>
          </a:xfrm>
        </p:spPr>
        <p:txBody>
          <a:bodyPr>
            <a:noAutofit/>
          </a:bodyPr>
          <a:lstStyle/>
          <a:p>
            <a:pPr algn="ctr"/>
            <a:r>
              <a:rPr lang="es-CL" i="1" dirty="0"/>
              <a:t>Técnicas avanzadas de </a:t>
            </a:r>
            <a:r>
              <a:rPr lang="es-CL" i="1" dirty="0" err="1"/>
              <a:t>Prompting</a:t>
            </a:r>
            <a:endParaRPr lang="es-CL" i="1" dirty="0"/>
          </a:p>
        </p:txBody>
      </p:sp>
      <p:pic>
        <p:nvPicPr>
          <p:cNvPr id="4" name="Picture 2" descr="Duoc UC - Learn Chile">
            <a:extLst>
              <a:ext uri="{FF2B5EF4-FFF2-40B4-BE49-F238E27FC236}">
                <a16:creationId xmlns:a16="http://schemas.microsoft.com/office/drawing/2014/main" id="{AC405D2B-4254-1703-253C-F04B1FC99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2D1CD4FE-6463-F120-23B7-DA026D6802E9}"/>
              </a:ext>
            </a:extLst>
          </p:cNvPr>
          <p:cNvSpPr txBox="1"/>
          <p:nvPr/>
        </p:nvSpPr>
        <p:spPr>
          <a:xfrm>
            <a:off x="503358" y="1825380"/>
            <a:ext cx="6096000" cy="369332"/>
          </a:xfrm>
          <a:prstGeom prst="rect">
            <a:avLst/>
          </a:prstGeom>
          <a:noFill/>
        </p:spPr>
        <p:txBody>
          <a:bodyPr wrap="square">
            <a:spAutoFit/>
          </a:bodyPr>
          <a:lstStyle/>
          <a:p>
            <a:pPr algn="l">
              <a:spcBef>
                <a:spcPts val="1089"/>
              </a:spcBef>
              <a:spcAft>
                <a:spcPts val="1451"/>
              </a:spcAft>
              <a:buNone/>
            </a:pPr>
            <a:r>
              <a:rPr lang="es-CL" b="1" i="1" dirty="0" err="1">
                <a:effectLst/>
                <a:latin typeface="system-ui"/>
              </a:rPr>
              <a:t>Tree</a:t>
            </a:r>
            <a:r>
              <a:rPr lang="es-CL" b="1" i="1" dirty="0">
                <a:effectLst/>
                <a:latin typeface="system-ui"/>
              </a:rPr>
              <a:t> </a:t>
            </a:r>
            <a:r>
              <a:rPr lang="es-CL" b="1" i="1" dirty="0" err="1">
                <a:effectLst/>
                <a:latin typeface="system-ui"/>
              </a:rPr>
              <a:t>of</a:t>
            </a:r>
            <a:r>
              <a:rPr lang="es-CL" b="1" i="1" dirty="0">
                <a:effectLst/>
                <a:latin typeface="system-ui"/>
              </a:rPr>
              <a:t> </a:t>
            </a:r>
            <a:r>
              <a:rPr lang="es-CL" b="1" i="1" dirty="0" err="1">
                <a:effectLst/>
                <a:latin typeface="system-ui"/>
              </a:rPr>
              <a:t>Thoughts</a:t>
            </a:r>
            <a:r>
              <a:rPr lang="es-CL" b="1" i="1" dirty="0">
                <a:effectLst/>
                <a:latin typeface="system-ui"/>
              </a:rPr>
              <a:t> (</a:t>
            </a:r>
            <a:r>
              <a:rPr lang="es-CL" b="1" i="1" dirty="0" err="1">
                <a:effectLst/>
                <a:latin typeface="system-ui"/>
              </a:rPr>
              <a:t>ToT</a:t>
            </a:r>
            <a:r>
              <a:rPr lang="es-CL" b="1" i="1" dirty="0">
                <a:effectLst/>
                <a:latin typeface="system-ui"/>
              </a:rPr>
              <a:t>)</a:t>
            </a:r>
          </a:p>
        </p:txBody>
      </p:sp>
      <p:pic>
        <p:nvPicPr>
          <p:cNvPr id="1026" name="Picture 2" descr="Iconos gratis de computadora">
            <a:extLst>
              <a:ext uri="{FF2B5EF4-FFF2-40B4-BE49-F238E27FC236}">
                <a16:creationId xmlns:a16="http://schemas.microsoft.com/office/drawing/2014/main" id="{C5B75F41-B9E4-41E8-4260-C7FCAC6E42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798" y="4983450"/>
            <a:ext cx="1076643" cy="1076643"/>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324DB099-3A6E-7D3D-71F8-86EE69B62C46}"/>
              </a:ext>
            </a:extLst>
          </p:cNvPr>
          <p:cNvSpPr txBox="1"/>
          <p:nvPr/>
        </p:nvSpPr>
        <p:spPr>
          <a:xfrm>
            <a:off x="503358" y="2459435"/>
            <a:ext cx="2331282" cy="2585323"/>
          </a:xfrm>
          <a:prstGeom prst="rect">
            <a:avLst/>
          </a:prstGeom>
          <a:noFill/>
        </p:spPr>
        <p:txBody>
          <a:bodyPr wrap="square">
            <a:spAutoFit/>
          </a:bodyPr>
          <a:lstStyle/>
          <a:p>
            <a:pPr algn="ctr"/>
            <a:r>
              <a:rPr lang="es-MX" b="0" i="0" dirty="0" err="1">
                <a:effectLst/>
                <a:latin typeface="+mj-lt"/>
              </a:rPr>
              <a:t>Tree</a:t>
            </a:r>
            <a:r>
              <a:rPr lang="es-MX" b="0" i="0" dirty="0">
                <a:effectLst/>
                <a:latin typeface="+mj-lt"/>
              </a:rPr>
              <a:t> </a:t>
            </a:r>
            <a:r>
              <a:rPr lang="es-MX" b="0" i="0" dirty="0" err="1">
                <a:effectLst/>
                <a:latin typeface="+mj-lt"/>
              </a:rPr>
              <a:t>of</a:t>
            </a:r>
            <a:r>
              <a:rPr lang="es-MX" b="0" i="0" dirty="0">
                <a:effectLst/>
                <a:latin typeface="+mj-lt"/>
              </a:rPr>
              <a:t> </a:t>
            </a:r>
            <a:r>
              <a:rPr lang="es-MX" b="0" i="0" dirty="0" err="1">
                <a:effectLst/>
                <a:latin typeface="+mj-lt"/>
              </a:rPr>
              <a:t>Thoughts</a:t>
            </a:r>
            <a:r>
              <a:rPr lang="es-MX" b="0" i="0" dirty="0">
                <a:effectLst/>
                <a:latin typeface="+mj-lt"/>
              </a:rPr>
              <a:t> permite al modelo explorar múltiples caminos de razonamiento de manera sistemática, evaluando y seleccionando las mejores opciones.</a:t>
            </a:r>
            <a:endParaRPr lang="es-CL" dirty="0">
              <a:latin typeface="+mj-lt"/>
            </a:endParaRPr>
          </a:p>
        </p:txBody>
      </p:sp>
      <p:sp>
        <p:nvSpPr>
          <p:cNvPr id="11" name="CuadroTexto 10">
            <a:extLst>
              <a:ext uri="{FF2B5EF4-FFF2-40B4-BE49-F238E27FC236}">
                <a16:creationId xmlns:a16="http://schemas.microsoft.com/office/drawing/2014/main" id="{D277B1DC-856D-B783-90C0-E152B584A88A}"/>
              </a:ext>
            </a:extLst>
          </p:cNvPr>
          <p:cNvSpPr txBox="1"/>
          <p:nvPr/>
        </p:nvSpPr>
        <p:spPr>
          <a:xfrm>
            <a:off x="3129280" y="1823831"/>
            <a:ext cx="6096000" cy="369332"/>
          </a:xfrm>
          <a:prstGeom prst="rect">
            <a:avLst/>
          </a:prstGeom>
          <a:noFill/>
        </p:spPr>
        <p:txBody>
          <a:bodyPr wrap="square">
            <a:spAutoFit/>
          </a:bodyPr>
          <a:lstStyle/>
          <a:p>
            <a:r>
              <a:rPr lang="es-CL" b="1" i="1" dirty="0" err="1"/>
              <a:t>Self-Consistency</a:t>
            </a:r>
            <a:endParaRPr lang="es-CL" b="1" i="1" dirty="0"/>
          </a:p>
        </p:txBody>
      </p:sp>
      <p:sp>
        <p:nvSpPr>
          <p:cNvPr id="13" name="CuadroTexto 12">
            <a:extLst>
              <a:ext uri="{FF2B5EF4-FFF2-40B4-BE49-F238E27FC236}">
                <a16:creationId xmlns:a16="http://schemas.microsoft.com/office/drawing/2014/main" id="{057AACDB-8BD9-46B6-1A0F-DAB02822F253}"/>
              </a:ext>
            </a:extLst>
          </p:cNvPr>
          <p:cNvSpPr txBox="1"/>
          <p:nvPr/>
        </p:nvSpPr>
        <p:spPr>
          <a:xfrm>
            <a:off x="3055838" y="2474387"/>
            <a:ext cx="2133600" cy="2031325"/>
          </a:xfrm>
          <a:prstGeom prst="rect">
            <a:avLst/>
          </a:prstGeom>
          <a:noFill/>
        </p:spPr>
        <p:txBody>
          <a:bodyPr wrap="square">
            <a:spAutoFit/>
          </a:bodyPr>
          <a:lstStyle/>
          <a:p>
            <a:r>
              <a:rPr lang="es-MX" dirty="0" err="1">
                <a:latin typeface="+mj-lt"/>
              </a:rPr>
              <a:t>Self-Consistency</a:t>
            </a:r>
            <a:r>
              <a:rPr lang="es-MX" dirty="0">
                <a:latin typeface="+mj-lt"/>
              </a:rPr>
              <a:t> mejora la confiabilidad generando múltiples respuestas y seleccionando la más consistente.</a:t>
            </a:r>
            <a:endParaRPr lang="es-CL" dirty="0">
              <a:latin typeface="+mj-lt"/>
            </a:endParaRPr>
          </a:p>
        </p:txBody>
      </p:sp>
      <p:sp>
        <p:nvSpPr>
          <p:cNvPr id="15" name="CuadroTexto 14">
            <a:extLst>
              <a:ext uri="{FF2B5EF4-FFF2-40B4-BE49-F238E27FC236}">
                <a16:creationId xmlns:a16="http://schemas.microsoft.com/office/drawing/2014/main" id="{5E2CE749-3F4A-E937-ECE3-01F3ED9559F6}"/>
              </a:ext>
            </a:extLst>
          </p:cNvPr>
          <p:cNvSpPr txBox="1"/>
          <p:nvPr/>
        </p:nvSpPr>
        <p:spPr>
          <a:xfrm>
            <a:off x="5262880" y="1697301"/>
            <a:ext cx="2905760" cy="646331"/>
          </a:xfrm>
          <a:prstGeom prst="rect">
            <a:avLst/>
          </a:prstGeom>
          <a:noFill/>
        </p:spPr>
        <p:txBody>
          <a:bodyPr wrap="square">
            <a:spAutoFit/>
          </a:bodyPr>
          <a:lstStyle/>
          <a:p>
            <a:pPr algn="l">
              <a:spcBef>
                <a:spcPts val="1089"/>
              </a:spcBef>
              <a:spcAft>
                <a:spcPts val="1451"/>
              </a:spcAft>
              <a:buNone/>
            </a:pPr>
            <a:r>
              <a:rPr lang="es-CL" b="1" i="1" dirty="0" err="1">
                <a:effectLst/>
                <a:latin typeface="system-ui"/>
              </a:rPr>
              <a:t>Program-Aided</a:t>
            </a:r>
            <a:r>
              <a:rPr lang="es-CL" b="1" i="1" dirty="0">
                <a:effectLst/>
                <a:latin typeface="system-ui"/>
              </a:rPr>
              <a:t> </a:t>
            </a:r>
            <a:r>
              <a:rPr lang="es-CL" b="1" i="1" dirty="0" err="1">
                <a:effectLst/>
                <a:latin typeface="system-ui"/>
              </a:rPr>
              <a:t>Language</a:t>
            </a:r>
            <a:r>
              <a:rPr lang="es-CL" b="1" i="1" dirty="0">
                <a:effectLst/>
                <a:latin typeface="system-ui"/>
              </a:rPr>
              <a:t> </a:t>
            </a:r>
            <a:r>
              <a:rPr lang="es-CL" b="1" i="1" dirty="0" err="1">
                <a:effectLst/>
                <a:latin typeface="system-ui"/>
              </a:rPr>
              <a:t>Models</a:t>
            </a:r>
            <a:r>
              <a:rPr lang="es-CL" b="1" i="1" dirty="0">
                <a:effectLst/>
                <a:latin typeface="system-ui"/>
              </a:rPr>
              <a:t> (PAL)</a:t>
            </a:r>
          </a:p>
        </p:txBody>
      </p:sp>
      <p:sp>
        <p:nvSpPr>
          <p:cNvPr id="17" name="CuadroTexto 16">
            <a:extLst>
              <a:ext uri="{FF2B5EF4-FFF2-40B4-BE49-F238E27FC236}">
                <a16:creationId xmlns:a16="http://schemas.microsoft.com/office/drawing/2014/main" id="{B0F3E59C-F1E5-7CB7-9701-2B4B74C52893}"/>
              </a:ext>
            </a:extLst>
          </p:cNvPr>
          <p:cNvSpPr txBox="1"/>
          <p:nvPr/>
        </p:nvSpPr>
        <p:spPr>
          <a:xfrm>
            <a:off x="5189438" y="2459435"/>
            <a:ext cx="2631442" cy="2308324"/>
          </a:xfrm>
          <a:prstGeom prst="rect">
            <a:avLst/>
          </a:prstGeom>
          <a:noFill/>
        </p:spPr>
        <p:txBody>
          <a:bodyPr wrap="square">
            <a:spAutoFit/>
          </a:bodyPr>
          <a:lstStyle/>
          <a:p>
            <a:r>
              <a:rPr lang="es-MX" dirty="0">
                <a:latin typeface="+mj-lt"/>
              </a:rPr>
              <a:t>PAL combina el </a:t>
            </a:r>
            <a:r>
              <a:rPr lang="es-MX" b="1" dirty="0">
                <a:latin typeface="+mj-lt"/>
              </a:rPr>
              <a:t>razonamiento de </a:t>
            </a:r>
            <a:r>
              <a:rPr lang="es-MX" b="1" dirty="0" err="1">
                <a:latin typeface="+mj-lt"/>
              </a:rPr>
              <a:t>LLMs</a:t>
            </a:r>
            <a:r>
              <a:rPr lang="es-MX" b="1" dirty="0">
                <a:latin typeface="+mj-lt"/>
              </a:rPr>
              <a:t> con la precisión </a:t>
            </a:r>
            <a:r>
              <a:rPr lang="es-MX" dirty="0">
                <a:latin typeface="+mj-lt"/>
              </a:rPr>
              <a:t>de código ejecutable para cálculos exactos. Se utiliza para cálculos numéricos más complejos, que necesitan una secuencia de etapas.</a:t>
            </a:r>
            <a:endParaRPr lang="es-CL" dirty="0">
              <a:latin typeface="+mj-lt"/>
            </a:endParaRPr>
          </a:p>
        </p:txBody>
      </p:sp>
      <p:sp>
        <p:nvSpPr>
          <p:cNvPr id="19" name="CuadroTexto 18">
            <a:extLst>
              <a:ext uri="{FF2B5EF4-FFF2-40B4-BE49-F238E27FC236}">
                <a16:creationId xmlns:a16="http://schemas.microsoft.com/office/drawing/2014/main" id="{9D88A4BD-AA7F-77A7-70D7-106161425348}"/>
              </a:ext>
            </a:extLst>
          </p:cNvPr>
          <p:cNvSpPr txBox="1"/>
          <p:nvPr/>
        </p:nvSpPr>
        <p:spPr>
          <a:xfrm>
            <a:off x="8168640" y="1777665"/>
            <a:ext cx="1889760" cy="369332"/>
          </a:xfrm>
          <a:prstGeom prst="rect">
            <a:avLst/>
          </a:prstGeom>
          <a:noFill/>
        </p:spPr>
        <p:txBody>
          <a:bodyPr wrap="square">
            <a:spAutoFit/>
          </a:bodyPr>
          <a:lstStyle/>
          <a:p>
            <a:pPr algn="l">
              <a:spcBef>
                <a:spcPts val="1089"/>
              </a:spcBef>
              <a:spcAft>
                <a:spcPts val="1451"/>
              </a:spcAft>
              <a:buNone/>
            </a:pPr>
            <a:r>
              <a:rPr lang="es-CL" b="1" i="1" dirty="0">
                <a:effectLst/>
                <a:latin typeface="system-ui"/>
              </a:rPr>
              <a:t>Meta-</a:t>
            </a:r>
            <a:r>
              <a:rPr lang="es-CL" b="1" i="1" dirty="0" err="1">
                <a:effectLst/>
                <a:latin typeface="system-ui"/>
              </a:rPr>
              <a:t>Prompting</a:t>
            </a:r>
            <a:endParaRPr lang="es-CL" b="1" i="1" dirty="0">
              <a:effectLst/>
              <a:latin typeface="system-ui"/>
            </a:endParaRPr>
          </a:p>
        </p:txBody>
      </p:sp>
      <p:sp>
        <p:nvSpPr>
          <p:cNvPr id="21" name="CuadroTexto 20">
            <a:extLst>
              <a:ext uri="{FF2B5EF4-FFF2-40B4-BE49-F238E27FC236}">
                <a16:creationId xmlns:a16="http://schemas.microsoft.com/office/drawing/2014/main" id="{3AA51790-A77D-F4ED-1830-8D716694817B}"/>
              </a:ext>
            </a:extLst>
          </p:cNvPr>
          <p:cNvSpPr txBox="1"/>
          <p:nvPr/>
        </p:nvSpPr>
        <p:spPr>
          <a:xfrm>
            <a:off x="8104921" y="2410833"/>
            <a:ext cx="2098478" cy="1477328"/>
          </a:xfrm>
          <a:prstGeom prst="rect">
            <a:avLst/>
          </a:prstGeom>
          <a:noFill/>
        </p:spPr>
        <p:txBody>
          <a:bodyPr wrap="square">
            <a:spAutoFit/>
          </a:bodyPr>
          <a:lstStyle/>
          <a:p>
            <a:r>
              <a:rPr lang="es-MX" dirty="0">
                <a:latin typeface="+mj-lt"/>
              </a:rPr>
              <a:t>Meta-</a:t>
            </a:r>
            <a:r>
              <a:rPr lang="es-MX" dirty="0" err="1">
                <a:latin typeface="+mj-lt"/>
              </a:rPr>
              <a:t>prompting</a:t>
            </a:r>
            <a:r>
              <a:rPr lang="es-MX" dirty="0">
                <a:latin typeface="+mj-lt"/>
              </a:rPr>
              <a:t> usa el LLM para generar y optimizar </a:t>
            </a:r>
            <a:r>
              <a:rPr lang="es-MX" dirty="0" err="1">
                <a:latin typeface="+mj-lt"/>
              </a:rPr>
              <a:t>prompts</a:t>
            </a:r>
            <a:r>
              <a:rPr lang="es-MX" dirty="0">
                <a:latin typeface="+mj-lt"/>
              </a:rPr>
              <a:t> para tareas específicas.</a:t>
            </a:r>
            <a:endParaRPr lang="es-CL" dirty="0">
              <a:latin typeface="+mj-lt"/>
            </a:endParaRPr>
          </a:p>
        </p:txBody>
      </p:sp>
      <p:sp>
        <p:nvSpPr>
          <p:cNvPr id="23" name="CuadroTexto 22">
            <a:extLst>
              <a:ext uri="{FF2B5EF4-FFF2-40B4-BE49-F238E27FC236}">
                <a16:creationId xmlns:a16="http://schemas.microsoft.com/office/drawing/2014/main" id="{8AA99AB4-6B7F-7909-CD4F-7698AE7F395B}"/>
              </a:ext>
            </a:extLst>
          </p:cNvPr>
          <p:cNvSpPr txBox="1"/>
          <p:nvPr/>
        </p:nvSpPr>
        <p:spPr>
          <a:xfrm>
            <a:off x="10233879" y="1769748"/>
            <a:ext cx="2435641" cy="369332"/>
          </a:xfrm>
          <a:prstGeom prst="rect">
            <a:avLst/>
          </a:prstGeom>
          <a:noFill/>
        </p:spPr>
        <p:txBody>
          <a:bodyPr wrap="square">
            <a:spAutoFit/>
          </a:bodyPr>
          <a:lstStyle/>
          <a:p>
            <a:pPr algn="l">
              <a:spcBef>
                <a:spcPts val="1089"/>
              </a:spcBef>
              <a:spcAft>
                <a:spcPts val="1451"/>
              </a:spcAft>
              <a:buNone/>
            </a:pPr>
            <a:r>
              <a:rPr lang="es-CL" b="1" i="1" dirty="0" err="1">
                <a:effectLst/>
                <a:latin typeface="system-ui"/>
              </a:rPr>
              <a:t>Prompt</a:t>
            </a:r>
            <a:r>
              <a:rPr lang="es-CL" b="1" i="1" dirty="0">
                <a:effectLst/>
                <a:latin typeface="system-ui"/>
              </a:rPr>
              <a:t> </a:t>
            </a:r>
            <a:r>
              <a:rPr lang="es-CL" b="1" i="1" dirty="0" err="1">
                <a:effectLst/>
                <a:latin typeface="system-ui"/>
              </a:rPr>
              <a:t>Chaining</a:t>
            </a:r>
            <a:endParaRPr lang="es-CL" b="1" i="1" dirty="0">
              <a:effectLst/>
              <a:latin typeface="system-ui"/>
            </a:endParaRPr>
          </a:p>
        </p:txBody>
      </p:sp>
      <p:sp>
        <p:nvSpPr>
          <p:cNvPr id="25" name="CuadroTexto 24">
            <a:extLst>
              <a:ext uri="{FF2B5EF4-FFF2-40B4-BE49-F238E27FC236}">
                <a16:creationId xmlns:a16="http://schemas.microsoft.com/office/drawing/2014/main" id="{DE14901A-FD14-98EC-2D35-FC5B0E039ACA}"/>
              </a:ext>
            </a:extLst>
          </p:cNvPr>
          <p:cNvSpPr txBox="1"/>
          <p:nvPr/>
        </p:nvSpPr>
        <p:spPr>
          <a:xfrm>
            <a:off x="10233879" y="2449275"/>
            <a:ext cx="1701362" cy="2308324"/>
          </a:xfrm>
          <a:prstGeom prst="rect">
            <a:avLst/>
          </a:prstGeom>
          <a:noFill/>
        </p:spPr>
        <p:txBody>
          <a:bodyPr wrap="square">
            <a:spAutoFit/>
          </a:bodyPr>
          <a:lstStyle/>
          <a:p>
            <a:r>
              <a:rPr lang="es-MX" dirty="0" err="1">
                <a:latin typeface="+mj-lt"/>
              </a:rPr>
              <a:t>Prompt</a:t>
            </a:r>
            <a:r>
              <a:rPr lang="es-MX" dirty="0">
                <a:latin typeface="+mj-lt"/>
              </a:rPr>
              <a:t> </a:t>
            </a:r>
            <a:r>
              <a:rPr lang="es-MX" dirty="0" err="1">
                <a:latin typeface="+mj-lt"/>
              </a:rPr>
              <a:t>chaining</a:t>
            </a:r>
            <a:r>
              <a:rPr lang="es-MX" dirty="0">
                <a:latin typeface="+mj-lt"/>
              </a:rPr>
              <a:t> conecta múltiples </a:t>
            </a:r>
            <a:r>
              <a:rPr lang="es-MX" dirty="0" err="1">
                <a:latin typeface="+mj-lt"/>
              </a:rPr>
              <a:t>prompts</a:t>
            </a:r>
            <a:r>
              <a:rPr lang="es-MX" dirty="0">
                <a:latin typeface="+mj-lt"/>
              </a:rPr>
              <a:t> en secuencia, donde la salida de uno alimenta al siguiente</a:t>
            </a:r>
            <a:endParaRPr lang="es-CL" dirty="0">
              <a:latin typeface="+mj-lt"/>
            </a:endParaRPr>
          </a:p>
        </p:txBody>
      </p:sp>
    </p:spTree>
    <p:extLst>
      <p:ext uri="{BB962C8B-B14F-4D97-AF65-F5344CB8AC3E}">
        <p14:creationId xmlns:p14="http://schemas.microsoft.com/office/powerpoint/2010/main" val="1111771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658A0-794F-5921-15D7-173C2BEC3B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D5ADF8-A9FF-E866-10E0-2A117C96DA00}"/>
              </a:ext>
            </a:extLst>
          </p:cNvPr>
          <p:cNvSpPr>
            <a:spLocks noGrp="1"/>
          </p:cNvSpPr>
          <p:nvPr>
            <p:ph type="title"/>
          </p:nvPr>
        </p:nvSpPr>
        <p:spPr>
          <a:xfrm>
            <a:off x="620313" y="193100"/>
            <a:ext cx="10515600" cy="1325563"/>
          </a:xfrm>
        </p:spPr>
        <p:txBody>
          <a:bodyPr>
            <a:noAutofit/>
          </a:bodyPr>
          <a:lstStyle/>
          <a:p>
            <a:pPr algn="ctr"/>
            <a:r>
              <a:rPr lang="es-CL" b="1" i="1" dirty="0"/>
              <a:t>¿Cómo construir un buen </a:t>
            </a:r>
            <a:r>
              <a:rPr lang="es-CL" b="1" i="1" dirty="0" err="1"/>
              <a:t>prompt</a:t>
            </a:r>
            <a:r>
              <a:rPr lang="es-CL" b="1" i="1" dirty="0"/>
              <a:t>?</a:t>
            </a:r>
          </a:p>
        </p:txBody>
      </p:sp>
      <p:pic>
        <p:nvPicPr>
          <p:cNvPr id="4" name="Picture 2" descr="Duoc UC - Learn Chile">
            <a:extLst>
              <a:ext uri="{FF2B5EF4-FFF2-40B4-BE49-F238E27FC236}">
                <a16:creationId xmlns:a16="http://schemas.microsoft.com/office/drawing/2014/main" id="{4A59FE5F-6308-414A-B524-2C28C2A89D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o hay descripción alternativa para esta imagen">
            <a:extLst>
              <a:ext uri="{FF2B5EF4-FFF2-40B4-BE49-F238E27FC236}">
                <a16:creationId xmlns:a16="http://schemas.microsoft.com/office/drawing/2014/main" id="{56550877-2049-8D3E-B996-E3A149F819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9140" y="1252153"/>
            <a:ext cx="6600825" cy="517779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F236819F-4191-1CC2-08B6-5D22E8C9E284}"/>
              </a:ext>
            </a:extLst>
          </p:cNvPr>
          <p:cNvSpPr txBox="1"/>
          <p:nvPr/>
        </p:nvSpPr>
        <p:spPr>
          <a:xfrm>
            <a:off x="3112452" y="6245277"/>
            <a:ext cx="6410408" cy="369332"/>
          </a:xfrm>
          <a:prstGeom prst="rect">
            <a:avLst/>
          </a:prstGeom>
          <a:noFill/>
        </p:spPr>
        <p:txBody>
          <a:bodyPr wrap="square">
            <a:spAutoFit/>
          </a:bodyPr>
          <a:lstStyle/>
          <a:p>
            <a:r>
              <a:rPr lang="en-US" b="1" i="1" dirty="0"/>
              <a:t>Simplicity is the ultimate sophistication. (Leonardo da Vinci)</a:t>
            </a:r>
            <a:endParaRPr lang="es-CL" b="1" i="1" dirty="0">
              <a:latin typeface="+mj-lt"/>
            </a:endParaRPr>
          </a:p>
        </p:txBody>
      </p:sp>
    </p:spTree>
    <p:extLst>
      <p:ext uri="{BB962C8B-B14F-4D97-AF65-F5344CB8AC3E}">
        <p14:creationId xmlns:p14="http://schemas.microsoft.com/office/powerpoint/2010/main" val="973217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F885F-3B86-7E96-3734-78B6DCEC45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C6D1FD-63B9-9F39-670F-837AF5AF2A41}"/>
              </a:ext>
            </a:extLst>
          </p:cNvPr>
          <p:cNvSpPr>
            <a:spLocks noGrp="1"/>
          </p:cNvSpPr>
          <p:nvPr>
            <p:ph type="title"/>
          </p:nvPr>
        </p:nvSpPr>
        <p:spPr>
          <a:xfrm>
            <a:off x="620313" y="193100"/>
            <a:ext cx="10515600" cy="1325563"/>
          </a:xfrm>
        </p:spPr>
        <p:txBody>
          <a:bodyPr>
            <a:noAutofit/>
          </a:bodyPr>
          <a:lstStyle/>
          <a:p>
            <a:pPr algn="ctr"/>
            <a:r>
              <a:rPr lang="es-CL" b="1" i="1" dirty="0"/>
              <a:t>¿Cómo luce un buen </a:t>
            </a:r>
            <a:r>
              <a:rPr lang="es-CL" b="1" i="1" dirty="0" err="1"/>
              <a:t>prompt</a:t>
            </a:r>
            <a:r>
              <a:rPr lang="es-CL" b="1" i="1" dirty="0"/>
              <a:t>?</a:t>
            </a:r>
          </a:p>
        </p:txBody>
      </p:sp>
      <p:pic>
        <p:nvPicPr>
          <p:cNvPr id="4" name="Picture 2" descr="Duoc UC - Learn Chile">
            <a:extLst>
              <a:ext uri="{FF2B5EF4-FFF2-40B4-BE49-F238E27FC236}">
                <a16:creationId xmlns:a16="http://schemas.microsoft.com/office/drawing/2014/main" id="{D60398F5-B95B-E516-3517-819777453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68672C68-7888-4662-3474-90EA4809D5D4}"/>
              </a:ext>
            </a:extLst>
          </p:cNvPr>
          <p:cNvSpPr txBox="1"/>
          <p:nvPr/>
        </p:nvSpPr>
        <p:spPr>
          <a:xfrm>
            <a:off x="3112452" y="6245277"/>
            <a:ext cx="6410408" cy="369332"/>
          </a:xfrm>
          <a:prstGeom prst="rect">
            <a:avLst/>
          </a:prstGeom>
          <a:noFill/>
        </p:spPr>
        <p:txBody>
          <a:bodyPr wrap="square">
            <a:spAutoFit/>
          </a:bodyPr>
          <a:lstStyle/>
          <a:p>
            <a:r>
              <a:rPr lang="en-US" b="1" i="1" dirty="0"/>
              <a:t>Simplicity is the ultimate sophistication. (Leonardo da Vinci)</a:t>
            </a:r>
            <a:endParaRPr lang="es-CL" b="1" i="1" dirty="0">
              <a:latin typeface="+mj-lt"/>
            </a:endParaRPr>
          </a:p>
        </p:txBody>
      </p:sp>
      <p:pic>
        <p:nvPicPr>
          <p:cNvPr id="6" name="Imagen 5">
            <a:extLst>
              <a:ext uri="{FF2B5EF4-FFF2-40B4-BE49-F238E27FC236}">
                <a16:creationId xmlns:a16="http://schemas.microsoft.com/office/drawing/2014/main" id="{55668CB2-1C84-03F4-EBDD-FB5FF4C6AB20}"/>
              </a:ext>
            </a:extLst>
          </p:cNvPr>
          <p:cNvPicPr>
            <a:picLocks noChangeAspect="1"/>
          </p:cNvPicPr>
          <p:nvPr/>
        </p:nvPicPr>
        <p:blipFill>
          <a:blip r:embed="rId4"/>
          <a:stretch>
            <a:fillRect/>
          </a:stretch>
        </p:blipFill>
        <p:spPr>
          <a:xfrm>
            <a:off x="2207173" y="1518663"/>
            <a:ext cx="7966842" cy="4552480"/>
          </a:xfrm>
          <a:prstGeom prst="rect">
            <a:avLst/>
          </a:prstGeom>
        </p:spPr>
      </p:pic>
    </p:spTree>
    <p:extLst>
      <p:ext uri="{BB962C8B-B14F-4D97-AF65-F5344CB8AC3E}">
        <p14:creationId xmlns:p14="http://schemas.microsoft.com/office/powerpoint/2010/main" val="1511176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1A072-4FB4-1AEA-6405-AD28382B2A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EF6A2F-BEA6-1803-B104-1569CD39E8BF}"/>
              </a:ext>
            </a:extLst>
          </p:cNvPr>
          <p:cNvSpPr>
            <a:spLocks noGrp="1"/>
          </p:cNvSpPr>
          <p:nvPr>
            <p:ph type="title"/>
          </p:nvPr>
        </p:nvSpPr>
        <p:spPr>
          <a:xfrm>
            <a:off x="-1799214" y="0"/>
            <a:ext cx="10515600" cy="1325563"/>
          </a:xfrm>
        </p:spPr>
        <p:txBody>
          <a:bodyPr>
            <a:noAutofit/>
          </a:bodyPr>
          <a:lstStyle/>
          <a:p>
            <a:pPr algn="ctr"/>
            <a:r>
              <a:rPr lang="es-CL" b="1" i="1" dirty="0"/>
              <a:t>Idea: </a:t>
            </a:r>
            <a:r>
              <a:rPr lang="es-CL" i="1" dirty="0"/>
              <a:t>¿Qué construir?</a:t>
            </a:r>
          </a:p>
        </p:txBody>
      </p:sp>
      <p:pic>
        <p:nvPicPr>
          <p:cNvPr id="4" name="Picture 2" descr="Duoc UC - Learn Chile">
            <a:extLst>
              <a:ext uri="{FF2B5EF4-FFF2-40B4-BE49-F238E27FC236}">
                <a16:creationId xmlns:a16="http://schemas.microsoft.com/office/drawing/2014/main" id="{07FA739C-FD19-C7A3-92E5-12E2677E3E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A504857C-8158-13E6-E65D-FF5D0A702F46}"/>
              </a:ext>
            </a:extLst>
          </p:cNvPr>
          <p:cNvPicPr>
            <a:picLocks noChangeAspect="1"/>
          </p:cNvPicPr>
          <p:nvPr/>
        </p:nvPicPr>
        <p:blipFill>
          <a:blip r:embed="rId4"/>
          <a:stretch>
            <a:fillRect/>
          </a:stretch>
        </p:blipFill>
        <p:spPr>
          <a:xfrm>
            <a:off x="1056087" y="1246386"/>
            <a:ext cx="3486329" cy="4629388"/>
          </a:xfrm>
          <a:prstGeom prst="rect">
            <a:avLst/>
          </a:prstGeom>
        </p:spPr>
      </p:pic>
      <p:cxnSp>
        <p:nvCxnSpPr>
          <p:cNvPr id="10" name="Conector recto de flecha 9">
            <a:extLst>
              <a:ext uri="{FF2B5EF4-FFF2-40B4-BE49-F238E27FC236}">
                <a16:creationId xmlns:a16="http://schemas.microsoft.com/office/drawing/2014/main" id="{BF506C4D-D57F-2B42-AAAA-4288500E34C7}"/>
              </a:ext>
            </a:extLst>
          </p:cNvPr>
          <p:cNvCxnSpPr>
            <a:cxnSpLocks/>
          </p:cNvCxnSpPr>
          <p:nvPr/>
        </p:nvCxnSpPr>
        <p:spPr>
          <a:xfrm>
            <a:off x="8329097" y="532825"/>
            <a:ext cx="0" cy="4820707"/>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50CF6536-C762-6FF0-C45A-ECE5BD764B4C}"/>
              </a:ext>
            </a:extLst>
          </p:cNvPr>
          <p:cNvCxnSpPr>
            <a:cxnSpLocks/>
          </p:cNvCxnSpPr>
          <p:nvPr/>
        </p:nvCxnSpPr>
        <p:spPr>
          <a:xfrm>
            <a:off x="5524937" y="3057585"/>
            <a:ext cx="5608320"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C855A544-5DD8-BE4C-D828-A49F7C67C2B2}"/>
              </a:ext>
            </a:extLst>
          </p:cNvPr>
          <p:cNvSpPr txBox="1"/>
          <p:nvPr/>
        </p:nvSpPr>
        <p:spPr>
          <a:xfrm>
            <a:off x="602207" y="6062606"/>
            <a:ext cx="7015480" cy="369332"/>
          </a:xfrm>
          <a:prstGeom prst="rect">
            <a:avLst/>
          </a:prstGeom>
          <a:noFill/>
        </p:spPr>
        <p:txBody>
          <a:bodyPr wrap="square">
            <a:spAutoFit/>
          </a:bodyPr>
          <a:lstStyle/>
          <a:p>
            <a:r>
              <a:rPr lang="es-CL" b="1" i="1" dirty="0"/>
              <a:t>Cementerios de Startup: </a:t>
            </a:r>
            <a:r>
              <a:rPr lang="es-CL" i="1" dirty="0"/>
              <a:t>https://startups.rip/</a:t>
            </a:r>
          </a:p>
        </p:txBody>
      </p:sp>
      <p:sp>
        <p:nvSpPr>
          <p:cNvPr id="16" name="CuadroTexto 15">
            <a:extLst>
              <a:ext uri="{FF2B5EF4-FFF2-40B4-BE49-F238E27FC236}">
                <a16:creationId xmlns:a16="http://schemas.microsoft.com/office/drawing/2014/main" id="{D1349F77-222A-C1F1-5E97-659F1818C3FA}"/>
              </a:ext>
            </a:extLst>
          </p:cNvPr>
          <p:cNvSpPr txBox="1"/>
          <p:nvPr/>
        </p:nvSpPr>
        <p:spPr>
          <a:xfrm>
            <a:off x="6257668" y="1089010"/>
            <a:ext cx="1391918" cy="646331"/>
          </a:xfrm>
          <a:prstGeom prst="rect">
            <a:avLst/>
          </a:prstGeom>
          <a:noFill/>
        </p:spPr>
        <p:txBody>
          <a:bodyPr wrap="square" rtlCol="0">
            <a:spAutoFit/>
          </a:bodyPr>
          <a:lstStyle/>
          <a:p>
            <a:r>
              <a:rPr lang="es-CL" b="1" i="1" dirty="0" err="1">
                <a:solidFill>
                  <a:srgbClr val="C00000"/>
                </a:solidFill>
              </a:rPr>
              <a:t>Vices</a:t>
            </a:r>
            <a:endParaRPr lang="es-CL" b="1" i="1" dirty="0">
              <a:solidFill>
                <a:srgbClr val="C00000"/>
              </a:solidFill>
            </a:endParaRPr>
          </a:p>
          <a:p>
            <a:r>
              <a:rPr lang="es-CL" b="1" i="1" dirty="0">
                <a:solidFill>
                  <a:srgbClr val="C00000"/>
                </a:solidFill>
              </a:rPr>
              <a:t>(vicios)</a:t>
            </a:r>
          </a:p>
        </p:txBody>
      </p:sp>
      <p:sp>
        <p:nvSpPr>
          <p:cNvPr id="20" name="CuadroTexto 19">
            <a:extLst>
              <a:ext uri="{FF2B5EF4-FFF2-40B4-BE49-F238E27FC236}">
                <a16:creationId xmlns:a16="http://schemas.microsoft.com/office/drawing/2014/main" id="{374483BE-E5DF-870B-333B-AC0F473F6083}"/>
              </a:ext>
            </a:extLst>
          </p:cNvPr>
          <p:cNvSpPr txBox="1"/>
          <p:nvPr/>
        </p:nvSpPr>
        <p:spPr>
          <a:xfrm>
            <a:off x="9741339" y="1144849"/>
            <a:ext cx="1391918" cy="646331"/>
          </a:xfrm>
          <a:prstGeom prst="rect">
            <a:avLst/>
          </a:prstGeom>
          <a:noFill/>
        </p:spPr>
        <p:txBody>
          <a:bodyPr wrap="square" rtlCol="0">
            <a:spAutoFit/>
          </a:bodyPr>
          <a:lstStyle/>
          <a:p>
            <a:r>
              <a:rPr lang="es-CL" b="1" i="1" dirty="0" err="1">
                <a:solidFill>
                  <a:schemeClr val="accent6"/>
                </a:solidFill>
              </a:rPr>
              <a:t>Wholesome</a:t>
            </a:r>
            <a:endParaRPr lang="es-CL" b="1" i="1" dirty="0">
              <a:solidFill>
                <a:schemeClr val="accent6"/>
              </a:solidFill>
            </a:endParaRPr>
          </a:p>
          <a:p>
            <a:r>
              <a:rPr lang="es-CL" b="1" i="1" dirty="0">
                <a:solidFill>
                  <a:schemeClr val="accent6"/>
                </a:solidFill>
              </a:rPr>
              <a:t>(sano)</a:t>
            </a:r>
          </a:p>
        </p:txBody>
      </p:sp>
      <p:sp>
        <p:nvSpPr>
          <p:cNvPr id="21" name="CuadroTexto 20">
            <a:extLst>
              <a:ext uri="{FF2B5EF4-FFF2-40B4-BE49-F238E27FC236}">
                <a16:creationId xmlns:a16="http://schemas.microsoft.com/office/drawing/2014/main" id="{5E742445-4608-FFD7-0081-DF1CDD4A59B4}"/>
              </a:ext>
            </a:extLst>
          </p:cNvPr>
          <p:cNvSpPr txBox="1"/>
          <p:nvPr/>
        </p:nvSpPr>
        <p:spPr>
          <a:xfrm>
            <a:off x="6231058" y="3187668"/>
            <a:ext cx="1391918" cy="646331"/>
          </a:xfrm>
          <a:prstGeom prst="rect">
            <a:avLst/>
          </a:prstGeom>
          <a:noFill/>
        </p:spPr>
        <p:txBody>
          <a:bodyPr wrap="square" rtlCol="0">
            <a:spAutoFit/>
          </a:bodyPr>
          <a:lstStyle/>
          <a:p>
            <a:r>
              <a:rPr lang="es-CL" b="1" i="1" dirty="0" err="1">
                <a:solidFill>
                  <a:schemeClr val="accent1"/>
                </a:solidFill>
              </a:rPr>
              <a:t>Toxic</a:t>
            </a:r>
            <a:endParaRPr lang="es-CL" b="1" i="1" dirty="0">
              <a:solidFill>
                <a:schemeClr val="accent1"/>
              </a:solidFill>
            </a:endParaRPr>
          </a:p>
          <a:p>
            <a:r>
              <a:rPr lang="es-CL" b="1" i="1" dirty="0">
                <a:solidFill>
                  <a:schemeClr val="accent1"/>
                </a:solidFill>
              </a:rPr>
              <a:t>(toxico)</a:t>
            </a:r>
          </a:p>
        </p:txBody>
      </p:sp>
      <p:sp>
        <p:nvSpPr>
          <p:cNvPr id="22" name="CuadroTexto 21">
            <a:extLst>
              <a:ext uri="{FF2B5EF4-FFF2-40B4-BE49-F238E27FC236}">
                <a16:creationId xmlns:a16="http://schemas.microsoft.com/office/drawing/2014/main" id="{4E0FFF16-16C2-0C14-BB68-7D4B67D87B5B}"/>
              </a:ext>
            </a:extLst>
          </p:cNvPr>
          <p:cNvSpPr txBox="1"/>
          <p:nvPr/>
        </p:nvSpPr>
        <p:spPr>
          <a:xfrm>
            <a:off x="9507103" y="3272519"/>
            <a:ext cx="1971039" cy="646331"/>
          </a:xfrm>
          <a:prstGeom prst="rect">
            <a:avLst/>
          </a:prstGeom>
          <a:noFill/>
        </p:spPr>
        <p:txBody>
          <a:bodyPr wrap="square" rtlCol="0">
            <a:spAutoFit/>
          </a:bodyPr>
          <a:lstStyle/>
          <a:p>
            <a:r>
              <a:rPr lang="es-CL" b="1" i="1" dirty="0">
                <a:solidFill>
                  <a:srgbClr val="FFC000"/>
                </a:solidFill>
              </a:rPr>
              <a:t>Chores</a:t>
            </a:r>
          </a:p>
          <a:p>
            <a:r>
              <a:rPr lang="es-CL" b="1" i="1" dirty="0">
                <a:solidFill>
                  <a:srgbClr val="FFC000"/>
                </a:solidFill>
              </a:rPr>
              <a:t>(tareas rutinarias)</a:t>
            </a:r>
          </a:p>
        </p:txBody>
      </p:sp>
      <p:sp>
        <p:nvSpPr>
          <p:cNvPr id="23" name="CuadroTexto 22">
            <a:extLst>
              <a:ext uri="{FF2B5EF4-FFF2-40B4-BE49-F238E27FC236}">
                <a16:creationId xmlns:a16="http://schemas.microsoft.com/office/drawing/2014/main" id="{A88E4CDB-450E-FAAF-83AA-5623C6824247}"/>
              </a:ext>
            </a:extLst>
          </p:cNvPr>
          <p:cNvSpPr txBox="1"/>
          <p:nvPr/>
        </p:nvSpPr>
        <p:spPr>
          <a:xfrm>
            <a:off x="6098663" y="2639239"/>
            <a:ext cx="3038048" cy="369332"/>
          </a:xfrm>
          <a:prstGeom prst="rect">
            <a:avLst/>
          </a:prstGeom>
          <a:noFill/>
        </p:spPr>
        <p:txBody>
          <a:bodyPr wrap="square" rtlCol="0">
            <a:spAutoFit/>
          </a:bodyPr>
          <a:lstStyle/>
          <a:p>
            <a:r>
              <a:rPr lang="es-CL" b="1" i="1" dirty="0" err="1"/>
              <a:t>Bad</a:t>
            </a:r>
            <a:r>
              <a:rPr lang="es-CL" b="1" i="1" dirty="0"/>
              <a:t> </a:t>
            </a:r>
            <a:r>
              <a:rPr lang="es-CL" b="1" i="1" dirty="0" err="1"/>
              <a:t>for</a:t>
            </a:r>
            <a:r>
              <a:rPr lang="es-CL" b="1" i="1" dirty="0"/>
              <a:t> </a:t>
            </a:r>
            <a:r>
              <a:rPr lang="es-CL" b="1" i="1" dirty="0" err="1"/>
              <a:t>you</a:t>
            </a:r>
            <a:endParaRPr lang="es-CL" b="1" i="1" dirty="0"/>
          </a:p>
        </p:txBody>
      </p:sp>
      <p:sp>
        <p:nvSpPr>
          <p:cNvPr id="24" name="CuadroTexto 23">
            <a:extLst>
              <a:ext uri="{FF2B5EF4-FFF2-40B4-BE49-F238E27FC236}">
                <a16:creationId xmlns:a16="http://schemas.microsoft.com/office/drawing/2014/main" id="{58044EA5-458E-AA93-FF59-5716A172B098}"/>
              </a:ext>
            </a:extLst>
          </p:cNvPr>
          <p:cNvSpPr txBox="1"/>
          <p:nvPr/>
        </p:nvSpPr>
        <p:spPr>
          <a:xfrm>
            <a:off x="9136711" y="2615625"/>
            <a:ext cx="3038048" cy="369332"/>
          </a:xfrm>
          <a:prstGeom prst="rect">
            <a:avLst/>
          </a:prstGeom>
          <a:noFill/>
        </p:spPr>
        <p:txBody>
          <a:bodyPr wrap="square" rtlCol="0">
            <a:spAutoFit/>
          </a:bodyPr>
          <a:lstStyle/>
          <a:p>
            <a:r>
              <a:rPr lang="es-CL" b="1" i="1" dirty="0"/>
              <a:t>Good </a:t>
            </a:r>
            <a:r>
              <a:rPr lang="es-CL" b="1" i="1" dirty="0" err="1"/>
              <a:t>for</a:t>
            </a:r>
            <a:r>
              <a:rPr lang="es-CL" b="1" i="1" dirty="0"/>
              <a:t> </a:t>
            </a:r>
            <a:r>
              <a:rPr lang="es-CL" b="1" i="1" dirty="0" err="1"/>
              <a:t>you</a:t>
            </a:r>
            <a:endParaRPr lang="es-CL" b="1" i="1" dirty="0"/>
          </a:p>
        </p:txBody>
      </p:sp>
      <p:sp>
        <p:nvSpPr>
          <p:cNvPr id="25" name="CuadroTexto 24">
            <a:extLst>
              <a:ext uri="{FF2B5EF4-FFF2-40B4-BE49-F238E27FC236}">
                <a16:creationId xmlns:a16="http://schemas.microsoft.com/office/drawing/2014/main" id="{826A6338-B070-4003-2A2F-3D1AC0484AF4}"/>
              </a:ext>
            </a:extLst>
          </p:cNvPr>
          <p:cNvSpPr txBox="1"/>
          <p:nvPr/>
        </p:nvSpPr>
        <p:spPr>
          <a:xfrm>
            <a:off x="8298962" y="855882"/>
            <a:ext cx="3038048" cy="369332"/>
          </a:xfrm>
          <a:prstGeom prst="rect">
            <a:avLst/>
          </a:prstGeom>
          <a:noFill/>
        </p:spPr>
        <p:txBody>
          <a:bodyPr wrap="square" rtlCol="0">
            <a:spAutoFit/>
          </a:bodyPr>
          <a:lstStyle/>
          <a:p>
            <a:r>
              <a:rPr lang="es-CL" b="1" i="1" dirty="0" err="1"/>
              <a:t>Enjoyable</a:t>
            </a:r>
            <a:endParaRPr lang="es-CL" b="1" i="1" dirty="0"/>
          </a:p>
        </p:txBody>
      </p:sp>
      <p:sp>
        <p:nvSpPr>
          <p:cNvPr id="26" name="CuadroTexto 25">
            <a:extLst>
              <a:ext uri="{FF2B5EF4-FFF2-40B4-BE49-F238E27FC236}">
                <a16:creationId xmlns:a16="http://schemas.microsoft.com/office/drawing/2014/main" id="{C2F801DD-765B-799B-8586-9CEF9F3C8DC6}"/>
              </a:ext>
            </a:extLst>
          </p:cNvPr>
          <p:cNvSpPr txBox="1"/>
          <p:nvPr/>
        </p:nvSpPr>
        <p:spPr>
          <a:xfrm>
            <a:off x="8329097" y="4835848"/>
            <a:ext cx="3038048" cy="369332"/>
          </a:xfrm>
          <a:prstGeom prst="rect">
            <a:avLst/>
          </a:prstGeom>
          <a:noFill/>
        </p:spPr>
        <p:txBody>
          <a:bodyPr wrap="square" rtlCol="0">
            <a:spAutoFit/>
          </a:bodyPr>
          <a:lstStyle/>
          <a:p>
            <a:r>
              <a:rPr lang="es-CL" b="1" i="1" dirty="0" err="1"/>
              <a:t>Unpleasant</a:t>
            </a:r>
            <a:endParaRPr lang="es-CL" b="1" i="1" dirty="0"/>
          </a:p>
        </p:txBody>
      </p:sp>
      <p:sp>
        <p:nvSpPr>
          <p:cNvPr id="28" name="CuadroTexto 27">
            <a:extLst>
              <a:ext uri="{FF2B5EF4-FFF2-40B4-BE49-F238E27FC236}">
                <a16:creationId xmlns:a16="http://schemas.microsoft.com/office/drawing/2014/main" id="{7A8DFF91-D8C2-82F0-001C-4D69462B9254}"/>
              </a:ext>
            </a:extLst>
          </p:cNvPr>
          <p:cNvSpPr txBox="1"/>
          <p:nvPr/>
        </p:nvSpPr>
        <p:spPr>
          <a:xfrm>
            <a:off x="8547431" y="4133783"/>
            <a:ext cx="3038048" cy="646331"/>
          </a:xfrm>
          <a:prstGeom prst="rect">
            <a:avLst/>
          </a:prstGeom>
          <a:noFill/>
        </p:spPr>
        <p:txBody>
          <a:bodyPr wrap="square" rtlCol="0">
            <a:spAutoFit/>
          </a:bodyPr>
          <a:lstStyle/>
          <a:p>
            <a:r>
              <a:rPr lang="es-CL" i="1" dirty="0"/>
              <a:t>Cursos de entrenamiento (trabajo) </a:t>
            </a:r>
          </a:p>
        </p:txBody>
      </p:sp>
      <p:sp>
        <p:nvSpPr>
          <p:cNvPr id="29" name="CuadroTexto 28">
            <a:extLst>
              <a:ext uri="{FF2B5EF4-FFF2-40B4-BE49-F238E27FC236}">
                <a16:creationId xmlns:a16="http://schemas.microsoft.com/office/drawing/2014/main" id="{C8DEC8C6-AB86-9828-2388-1550872ED7DC}"/>
              </a:ext>
            </a:extLst>
          </p:cNvPr>
          <p:cNvSpPr txBox="1"/>
          <p:nvPr/>
        </p:nvSpPr>
        <p:spPr>
          <a:xfrm>
            <a:off x="5819922" y="4339867"/>
            <a:ext cx="3038048" cy="369332"/>
          </a:xfrm>
          <a:prstGeom prst="rect">
            <a:avLst/>
          </a:prstGeom>
          <a:noFill/>
        </p:spPr>
        <p:txBody>
          <a:bodyPr wrap="square" rtlCol="0">
            <a:spAutoFit/>
          </a:bodyPr>
          <a:lstStyle/>
          <a:p>
            <a:r>
              <a:rPr lang="es-CL" i="1" dirty="0"/>
              <a:t>Control de gastos</a:t>
            </a:r>
          </a:p>
        </p:txBody>
      </p:sp>
      <p:sp>
        <p:nvSpPr>
          <p:cNvPr id="30" name="CuadroTexto 29">
            <a:extLst>
              <a:ext uri="{FF2B5EF4-FFF2-40B4-BE49-F238E27FC236}">
                <a16:creationId xmlns:a16="http://schemas.microsoft.com/office/drawing/2014/main" id="{5A2CE433-E5CE-EB1A-ED29-45F04281C369}"/>
              </a:ext>
            </a:extLst>
          </p:cNvPr>
          <p:cNvSpPr txBox="1"/>
          <p:nvPr/>
        </p:nvSpPr>
        <p:spPr>
          <a:xfrm>
            <a:off x="8547431" y="1971292"/>
            <a:ext cx="3038048" cy="369332"/>
          </a:xfrm>
          <a:prstGeom prst="rect">
            <a:avLst/>
          </a:prstGeom>
          <a:noFill/>
        </p:spPr>
        <p:txBody>
          <a:bodyPr wrap="square" rtlCol="0">
            <a:spAutoFit/>
          </a:bodyPr>
          <a:lstStyle/>
          <a:p>
            <a:r>
              <a:rPr lang="es-CL" i="1" dirty="0" err="1"/>
              <a:t>playing</a:t>
            </a:r>
            <a:r>
              <a:rPr lang="es-CL" i="1" dirty="0"/>
              <a:t> </a:t>
            </a:r>
            <a:r>
              <a:rPr lang="es-CL" i="1" dirty="0" err="1"/>
              <a:t>games</a:t>
            </a:r>
            <a:endParaRPr lang="es-CL" i="1" dirty="0"/>
          </a:p>
        </p:txBody>
      </p:sp>
      <p:sp>
        <p:nvSpPr>
          <p:cNvPr id="31" name="CuadroTexto 30">
            <a:extLst>
              <a:ext uri="{FF2B5EF4-FFF2-40B4-BE49-F238E27FC236}">
                <a16:creationId xmlns:a16="http://schemas.microsoft.com/office/drawing/2014/main" id="{9351118B-8416-99DC-95C1-7FCBA7C722B6}"/>
              </a:ext>
            </a:extLst>
          </p:cNvPr>
          <p:cNvSpPr txBox="1"/>
          <p:nvPr/>
        </p:nvSpPr>
        <p:spPr>
          <a:xfrm>
            <a:off x="5350230" y="5383896"/>
            <a:ext cx="7015480" cy="1384995"/>
          </a:xfrm>
          <a:prstGeom prst="rect">
            <a:avLst/>
          </a:prstGeom>
          <a:noFill/>
        </p:spPr>
        <p:txBody>
          <a:bodyPr wrap="square" rtlCol="0">
            <a:spAutoFit/>
          </a:bodyPr>
          <a:lstStyle/>
          <a:p>
            <a:pPr marL="285750" indent="-285750">
              <a:buFont typeface="Arial" panose="020B0604020202020204" pitchFamily="34" charset="0"/>
              <a:buChar char="•"/>
            </a:pPr>
            <a:r>
              <a:rPr lang="es-CL" sz="1400" b="1" dirty="0" err="1"/>
              <a:t>Wholesome</a:t>
            </a:r>
            <a:r>
              <a:rPr lang="es-CL" sz="1400" b="1" dirty="0"/>
              <a:t> (actividades sanas):</a:t>
            </a:r>
            <a:r>
              <a:rPr lang="es-CL" sz="1400" dirty="0"/>
              <a:t> No uses IA. Disfrútalas.</a:t>
            </a:r>
            <a:br>
              <a:rPr lang="es-CL" sz="1400" dirty="0"/>
            </a:br>
            <a:r>
              <a:rPr lang="es-CL" sz="1400" b="1" dirty="0" err="1"/>
              <a:t>Toxic</a:t>
            </a:r>
            <a:r>
              <a:rPr lang="es-CL" sz="1400" b="1" dirty="0"/>
              <a:t> (actividades tóxicas):</a:t>
            </a:r>
            <a:r>
              <a:rPr lang="es-CL" sz="1400" dirty="0"/>
              <a:t> Usa IA para automatizarlas o eliminarlas. No queremos lidiar con ellas.</a:t>
            </a:r>
            <a:br>
              <a:rPr lang="es-CL" sz="1400" dirty="0"/>
            </a:br>
            <a:r>
              <a:rPr lang="es-CL" sz="1400" b="1" dirty="0"/>
              <a:t>Chores (tareas domésticas o rutinarias):</a:t>
            </a:r>
            <a:r>
              <a:rPr lang="es-CL" sz="1400" dirty="0"/>
              <a:t> Usa IA para hacerlas más placenteras. </a:t>
            </a:r>
            <a:r>
              <a:rPr lang="es-CL" sz="1400" i="1" dirty="0"/>
              <a:t>(Sigan pensando.)</a:t>
            </a:r>
            <a:br>
              <a:rPr lang="es-CL" sz="1400" dirty="0"/>
            </a:br>
            <a:r>
              <a:rPr lang="es-CL" sz="1400" b="1" dirty="0" err="1"/>
              <a:t>Vices</a:t>
            </a:r>
            <a:r>
              <a:rPr lang="es-CL" sz="1400" b="1" dirty="0"/>
              <a:t> (vicios):</a:t>
            </a:r>
            <a:r>
              <a:rPr lang="es-CL" sz="1400" dirty="0"/>
              <a:t> Usa IA para evitar hacerlas.</a:t>
            </a:r>
            <a:endParaRPr lang="es-CL" sz="1600" i="1" dirty="0"/>
          </a:p>
        </p:txBody>
      </p:sp>
    </p:spTree>
    <p:extLst>
      <p:ext uri="{BB962C8B-B14F-4D97-AF65-F5344CB8AC3E}">
        <p14:creationId xmlns:p14="http://schemas.microsoft.com/office/powerpoint/2010/main" val="380348681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3140</TotalTime>
  <Words>1209</Words>
  <Application>Microsoft Office PowerPoint</Application>
  <PresentationFormat>Panorámica</PresentationFormat>
  <Paragraphs>158</Paragraphs>
  <Slides>21</Slides>
  <Notes>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vt:i4>
      </vt:variant>
    </vt:vector>
  </HeadingPairs>
  <TitlesOfParts>
    <vt:vector size="27" baseType="lpstr">
      <vt:lpstr>anthropicSerif</vt:lpstr>
      <vt:lpstr>Arial</vt:lpstr>
      <vt:lpstr>Calibri</vt:lpstr>
      <vt:lpstr>Calibri Light</vt:lpstr>
      <vt:lpstr>system-ui</vt:lpstr>
      <vt:lpstr>Tema de Office</vt:lpstr>
      <vt:lpstr>Ingeniería de soluciones con AI</vt:lpstr>
      <vt:lpstr>Noticias: Yann LeCun, pionero en AI, reclama que los LLMs no son capaces de entender el mundo físico.</vt:lpstr>
      <vt:lpstr>Noticias: World Models, la forma para entender el mundo.</vt:lpstr>
      <vt:lpstr>Noticias: DashAI, la plataforma chilena de AI.</vt:lpstr>
      <vt:lpstr>Clase 1.2: Técnicas de Prompt Engineering</vt:lpstr>
      <vt:lpstr>Reminder: Que hemos visto hasta ahora…</vt:lpstr>
      <vt:lpstr>Reminder: Que hemos visto hasta ahora…</vt:lpstr>
      <vt:lpstr>Why: ¿Por qué los LLMs no me responden como quiero?</vt:lpstr>
      <vt:lpstr>Hallucinate: El talón de Aquiles de los LLMs.</vt:lpstr>
      <vt:lpstr>0’REILLY: AI Engineering</vt:lpstr>
      <vt:lpstr>Presentación de PowerPoint</vt:lpstr>
      <vt:lpstr>Presentación de PowerPoint</vt:lpstr>
      <vt:lpstr>Presentación de PowerPoint</vt:lpstr>
      <vt:lpstr>¿Cuáles son las técnicas de Prompt Engineering?</vt:lpstr>
      <vt:lpstr>Zero – Shot Prompting</vt:lpstr>
      <vt:lpstr>Few-Shot Prompting</vt:lpstr>
      <vt:lpstr>Chain-of-Thought (COF)</vt:lpstr>
      <vt:lpstr>Técnicas avanzadas de Prompting</vt:lpstr>
      <vt:lpstr>¿Cómo construir un buen prompt?</vt:lpstr>
      <vt:lpstr>¿Cómo luce un buen prompt?</vt:lpstr>
      <vt:lpstr>Idea: ¿Qué construir?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27</cp:revision>
  <dcterms:created xsi:type="dcterms:W3CDTF">2026-03-06T13:35:57Z</dcterms:created>
  <dcterms:modified xsi:type="dcterms:W3CDTF">2026-08-18T13:39:42Z</dcterms:modified>
</cp:coreProperties>
</file>