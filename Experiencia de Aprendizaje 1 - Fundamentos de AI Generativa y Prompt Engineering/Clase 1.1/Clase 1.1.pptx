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0" r:id="rId4"/>
    <p:sldId id="258" r:id="rId5"/>
    <p:sldId id="286" r:id="rId6"/>
    <p:sldId id="277" r:id="rId7"/>
    <p:sldId id="278" r:id="rId8"/>
    <p:sldId id="259" r:id="rId9"/>
    <p:sldId id="260" r:id="rId10"/>
    <p:sldId id="298" r:id="rId11"/>
    <p:sldId id="290" r:id="rId12"/>
    <p:sldId id="287" r:id="rId13"/>
    <p:sldId id="288" r:id="rId14"/>
    <p:sldId id="289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65" r:id="rId23"/>
    <p:sldId id="269" r:id="rId24"/>
    <p:sldId id="270" r:id="rId25"/>
    <p:sldId id="279" r:id="rId26"/>
    <p:sldId id="299" r:id="rId27"/>
    <p:sldId id="300" r:id="rId28"/>
    <p:sldId id="282" r:id="rId2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3173" autoAdjust="0"/>
  </p:normalViewPr>
  <p:slideViewPr>
    <p:cSldViewPr snapToGrid="0">
      <p:cViewPr varScale="1">
        <p:scale>
          <a:sx n="60" d="100"/>
          <a:sy n="60" d="100"/>
        </p:scale>
        <p:origin x="9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8422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75F67-3EAE-CBA7-F3E8-F3B339D87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8D440A-E528-4433-C086-6C0765637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242B44-D684-7B4F-65AD-73CDE1770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D96845-7CB9-A047-1DBA-BA8E1E0FA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171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184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DEAFD-4343-FCD6-B55B-1DC6ADFA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663F13-E4FB-1728-4F5B-B4AD3446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82B80E-EEE9-DD0C-FE86-EF7448CEF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470142-9316-8FDA-C204-1A9806959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9676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473B-8818-91C9-93D9-A64C3B08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C73237-EF56-DCF2-C4ED-7DF93D3E8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047BDF1-D615-AB97-40D6-7E90AA751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875B5C-E062-DD6C-A647-FE7AA0C24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8900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03-08-2026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2026-2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41A72-5194-34E7-C1D4-1F6E05DC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836" y="193100"/>
            <a:ext cx="4770397" cy="1325563"/>
          </a:xfrm>
        </p:spPr>
        <p:txBody>
          <a:bodyPr/>
          <a:lstStyle/>
          <a:p>
            <a:r>
              <a:rPr lang="es-MX" i="1" dirty="0"/>
              <a:t>¿Quién soy?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0025DCB-5AC4-8D80-F787-120B67D6E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8AB4328-55BD-CF79-0793-62C76FBEE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8247" y="1884447"/>
            <a:ext cx="4786061" cy="41059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5D5C3A7E-919A-DB8C-5AAF-C761A5E75706}"/>
              </a:ext>
            </a:extLst>
          </p:cNvPr>
          <p:cNvSpPr txBox="1">
            <a:spLocks/>
          </p:cNvSpPr>
          <p:nvPr/>
        </p:nvSpPr>
        <p:spPr>
          <a:xfrm>
            <a:off x="5801636" y="1747568"/>
            <a:ext cx="5821680" cy="4786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dirty="0"/>
              <a:t>Ingeniero Civil Industrial de la Federico Santa María</a:t>
            </a:r>
          </a:p>
          <a:p>
            <a:r>
              <a:rPr lang="es-MX" sz="1800" dirty="0"/>
              <a:t>Magister en Inteligencia Artificial en la PUC.</a:t>
            </a:r>
          </a:p>
          <a:p>
            <a:r>
              <a:rPr lang="es-MX" sz="1800" dirty="0"/>
              <a:t>Candidato a Magister en ciencia de la computación en Birkbeck, Universidad de Londres.</a:t>
            </a:r>
          </a:p>
          <a:p>
            <a:r>
              <a:rPr lang="es-MX" sz="1800" dirty="0"/>
              <a:t>Tutor en la Universidad de Montevideo para la carrera de Data </a:t>
            </a:r>
            <a:r>
              <a:rPr lang="es-MX" sz="1800" dirty="0" err="1"/>
              <a:t>Science</a:t>
            </a:r>
            <a:r>
              <a:rPr lang="es-MX" sz="1800" dirty="0"/>
              <a:t>. </a:t>
            </a:r>
          </a:p>
          <a:p>
            <a:r>
              <a:rPr lang="es-MX" sz="1800" dirty="0"/>
              <a:t>Experiencia como Líder y Data </a:t>
            </a:r>
            <a:r>
              <a:rPr lang="es-MX" sz="1800" dirty="0" err="1"/>
              <a:t>Scientist</a:t>
            </a:r>
            <a:r>
              <a:rPr lang="es-MX" sz="1800" dirty="0"/>
              <a:t> en la industria financiera y </a:t>
            </a:r>
            <a:r>
              <a:rPr lang="es-MX" sz="1800" dirty="0" err="1"/>
              <a:t>retail</a:t>
            </a:r>
            <a:r>
              <a:rPr lang="es-MX" sz="1800" dirty="0"/>
              <a:t>. (SMU, Grupo Security y Vida </a:t>
            </a:r>
            <a:r>
              <a:rPr lang="es-MX" sz="1800" dirty="0" err="1"/>
              <a:t>Camara</a:t>
            </a:r>
            <a:r>
              <a:rPr lang="es-MX" sz="1800" dirty="0"/>
              <a:t>). </a:t>
            </a:r>
          </a:p>
          <a:p>
            <a:pPr marL="0" indent="0">
              <a:buNone/>
            </a:pPr>
            <a:r>
              <a:rPr lang="es-MX" sz="1800" dirty="0"/>
              <a:t>Estoy afuera de Chile, así que estoy adelantado en tres horas respecto a ustedes.</a:t>
            </a:r>
            <a:endParaRPr lang="es-MX" sz="1800" i="1" dirty="0"/>
          </a:p>
          <a:p>
            <a:pPr marL="0" indent="0">
              <a:buNone/>
            </a:pPr>
            <a:endParaRPr lang="es-CL" sz="1800" i="1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9D1EDA9-8EED-D0D2-CBD6-2BF494C708EE}"/>
              </a:ext>
            </a:extLst>
          </p:cNvPr>
          <p:cNvSpPr txBox="1">
            <a:spLocks/>
          </p:cNvSpPr>
          <p:nvPr/>
        </p:nvSpPr>
        <p:spPr>
          <a:xfrm>
            <a:off x="5734767" y="668178"/>
            <a:ext cx="47703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i="1" dirty="0"/>
              <a:t>Francisco Macaya</a:t>
            </a:r>
            <a:endParaRPr lang="es-CL" sz="2800" b="1" i="1" dirty="0"/>
          </a:p>
        </p:txBody>
      </p:sp>
    </p:spTree>
    <p:extLst>
      <p:ext uri="{BB962C8B-B14F-4D97-AF65-F5344CB8AC3E}">
        <p14:creationId xmlns:p14="http://schemas.microsoft.com/office/powerpoint/2010/main" val="420334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0237-1F6C-FC0B-BAF9-4C9573AF5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B61C6-7D9B-E349-C015-56DA2624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976" y="1793232"/>
            <a:ext cx="9230047" cy="3117814"/>
          </a:xfrm>
        </p:spPr>
        <p:txBody>
          <a:bodyPr>
            <a:normAutofit/>
          </a:bodyPr>
          <a:lstStyle/>
          <a:p>
            <a:pPr algn="ctr"/>
            <a:r>
              <a:rPr lang="es-MX" sz="6000" i="1" dirty="0"/>
              <a:t>En tecnología, lo permanente es el constante </a:t>
            </a:r>
            <a:r>
              <a:rPr lang="es-MX" sz="6600" b="1" i="1" dirty="0"/>
              <a:t>cambio</a:t>
            </a:r>
            <a:r>
              <a:rPr lang="es-MX" sz="4800" i="1" dirty="0"/>
              <a:t>. 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98F89335-ED0C-E1FC-F45F-F350E45B5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95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41D0E-5E44-651B-82FF-0DBD9F25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Temario del semestre</a:t>
            </a:r>
            <a:endParaRPr lang="es-CL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3B967C9-D6BF-8DB2-90D0-DCD6085A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DA01BF52-405C-9CA0-E771-F678981699F5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9773644" cy="454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000" dirty="0"/>
              <a:t>El semestre constará de las siguientes secciones: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1- Fundamentos de AI Generativa y </a:t>
            </a:r>
            <a:r>
              <a:rPr lang="es-MX" sz="2000" dirty="0" err="1"/>
              <a:t>Prompt</a:t>
            </a:r>
            <a:r>
              <a:rPr lang="es-MX" sz="2000" dirty="0"/>
              <a:t> </a:t>
            </a:r>
            <a:r>
              <a:rPr lang="es-MX" sz="2000" dirty="0" err="1"/>
              <a:t>Engineering</a:t>
            </a:r>
            <a:r>
              <a:rPr lang="es-MX" sz="2000" dirty="0"/>
              <a:t>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2- Desarrollo de Agentes Inteligentes con AI.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3- </a:t>
            </a:r>
            <a:r>
              <a:rPr lang="es-MX" sz="2000" dirty="0" err="1"/>
              <a:t>Observabilidad</a:t>
            </a:r>
            <a:r>
              <a:rPr lang="es-MX" sz="2000" dirty="0"/>
              <a:t>, Seguridad y ética de Agente de AI.</a:t>
            </a:r>
          </a:p>
          <a:p>
            <a:pPr marL="0" indent="0">
              <a:buNone/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73490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C255-EBA0-2174-F87B-9B2239C0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8954C-DC1E-24C1-D907-C9F192A7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298"/>
            <a:ext cx="10515600" cy="1325563"/>
          </a:xfrm>
        </p:spPr>
        <p:txBody>
          <a:bodyPr/>
          <a:lstStyle/>
          <a:p>
            <a:r>
              <a:rPr lang="es-MX" dirty="0"/>
              <a:t>Evaluación del Semestre</a:t>
            </a:r>
            <a:endParaRPr lang="es-CL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3CC3721-912E-0E3F-78FC-12EC9F26E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26F5047B-0DFC-9BF5-52A2-89C385B30406}"/>
              </a:ext>
            </a:extLst>
          </p:cNvPr>
          <p:cNvSpPr txBox="1">
            <a:spLocks/>
          </p:cNvSpPr>
          <p:nvPr/>
        </p:nvSpPr>
        <p:spPr>
          <a:xfrm>
            <a:off x="838200" y="1416368"/>
            <a:ext cx="9773644" cy="454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000" dirty="0"/>
              <a:t>El semestre constará de las siguientes secciones: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1- </a:t>
            </a:r>
            <a:r>
              <a:rPr lang="es-MX" sz="2000" b="1" i="1" dirty="0"/>
              <a:t>Trabajo 1: </a:t>
            </a:r>
            <a:r>
              <a:rPr lang="es-MX" sz="2000" dirty="0"/>
              <a:t>Fundamentos de AI Generativa y </a:t>
            </a:r>
            <a:r>
              <a:rPr lang="es-MX" sz="2000" dirty="0" err="1"/>
              <a:t>Prompt</a:t>
            </a:r>
            <a:r>
              <a:rPr lang="es-MX" sz="2000" dirty="0"/>
              <a:t> </a:t>
            </a:r>
            <a:r>
              <a:rPr lang="es-MX" sz="2000" dirty="0" err="1"/>
              <a:t>Engineering</a:t>
            </a:r>
            <a:r>
              <a:rPr lang="es-MX" sz="2000" dirty="0"/>
              <a:t>.  (30%).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2- </a:t>
            </a:r>
            <a:r>
              <a:rPr lang="es-MX" sz="2000" b="1" i="1" dirty="0"/>
              <a:t>Trabajo 2: </a:t>
            </a:r>
            <a:r>
              <a:rPr lang="es-MX" sz="2000" dirty="0"/>
              <a:t>Desarrollo de Agentes Inteligentes con AI. (35%)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dirty="0"/>
              <a:t>3- </a:t>
            </a:r>
            <a:r>
              <a:rPr lang="es-MX" sz="2000" b="1" i="1" dirty="0"/>
              <a:t>Trabajo 3:</a:t>
            </a:r>
            <a:r>
              <a:rPr lang="es-MX" sz="2000" dirty="0"/>
              <a:t> </a:t>
            </a:r>
            <a:r>
              <a:rPr lang="es-MX" sz="2000" dirty="0" err="1"/>
              <a:t>Observabilidad</a:t>
            </a:r>
            <a:r>
              <a:rPr lang="es-MX" sz="2000" dirty="0"/>
              <a:t>, Seguridad y ética de Agente de AI. (35%)</a:t>
            </a:r>
          </a:p>
          <a:p>
            <a:pPr marL="0" indent="0">
              <a:buNone/>
            </a:pPr>
            <a:r>
              <a:rPr lang="es-MX" sz="2000" dirty="0"/>
              <a:t> </a:t>
            </a:r>
          </a:p>
          <a:p>
            <a:pPr marL="0" indent="0">
              <a:buNone/>
            </a:pPr>
            <a:r>
              <a:rPr lang="es-MX" sz="2000" dirty="0"/>
              <a:t>4- </a:t>
            </a:r>
            <a:r>
              <a:rPr lang="es-MX" sz="2000" b="1" i="1" dirty="0"/>
              <a:t>Examen Final:  </a:t>
            </a:r>
            <a:r>
              <a:rPr lang="es-MX" sz="2000" dirty="0"/>
              <a:t>Presentación final del proyecto, evaluando todo los previos informes como </a:t>
            </a:r>
            <a:r>
              <a:rPr lang="es-MX" sz="2000" dirty="0" err="1"/>
              <a:t>bas</a:t>
            </a:r>
            <a:endParaRPr lang="es-MX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D7AAB2-85A0-B3F2-5EA6-8110B71A2299}"/>
              </a:ext>
            </a:extLst>
          </p:cNvPr>
          <p:cNvSpPr txBox="1"/>
          <p:nvPr/>
        </p:nvSpPr>
        <p:spPr>
          <a:xfrm>
            <a:off x="96244" y="6140549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b="1" i="1" dirty="0"/>
              <a:t>Trabajo</a:t>
            </a:r>
            <a:r>
              <a:rPr lang="es-CL" sz="1400" i="1" dirty="0"/>
              <a:t>: Se debe presentar un informe, más un repositorio.</a:t>
            </a:r>
          </a:p>
          <a:p>
            <a:r>
              <a:rPr lang="es-CL" sz="1400" b="1" i="1" dirty="0"/>
              <a:t>Final:  </a:t>
            </a:r>
            <a:r>
              <a:rPr lang="es-CL" sz="1400" i="1" dirty="0"/>
              <a:t>Informe, Presentación en vivo, más informe.</a:t>
            </a:r>
            <a:endParaRPr lang="es-CL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2CE4E29-8570-FFE2-C068-1605CA53FC39}"/>
                  </a:ext>
                </a:extLst>
              </p:cNvPr>
              <p:cNvSpPr txBox="1"/>
              <p:nvPr/>
            </p:nvSpPr>
            <p:spPr>
              <a:xfrm>
                <a:off x="502920" y="5594588"/>
                <a:ext cx="11186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𝐹𝑖𝑛𝑎𝑙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0,3∗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𝑁𝑇𝑟𝑎𝑏𝑎𝑗𝑜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1+0,35∗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𝑁𝑇𝑟𝑎𝑏𝑎𝑗𝑜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2+0,35∗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𝑁𝑇𝑟𝑎𝑏𝑎𝑗𝑜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∗0,6+0,4∗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𝐸𝑥𝑎𝑚𝑒𝑛𝐹𝑖𝑛𝑎𝑙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2CE4E29-8570-FFE2-C068-1605CA53F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594588"/>
                <a:ext cx="1118616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6715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5F3B-60A9-5AA9-C4A2-9709BCB8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23A60C7-B48A-2220-991E-49A669A10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1D30A879-B918-3833-17A3-BCDEF6C04A89}"/>
              </a:ext>
            </a:extLst>
          </p:cNvPr>
          <p:cNvSpPr txBox="1">
            <a:spLocks/>
          </p:cNvSpPr>
          <p:nvPr/>
        </p:nvSpPr>
        <p:spPr>
          <a:xfrm>
            <a:off x="1041400" y="443181"/>
            <a:ext cx="76555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Historia</a:t>
            </a:r>
            <a:r>
              <a:rPr lang="es-MX" i="1" dirty="0"/>
              <a:t>: Deep </a:t>
            </a:r>
            <a:r>
              <a:rPr lang="es-MX" i="1" dirty="0" err="1"/>
              <a:t>Learning</a:t>
            </a:r>
            <a:r>
              <a:rPr lang="es-MX" i="1" dirty="0"/>
              <a:t>  </a:t>
            </a:r>
            <a:endParaRPr lang="es-CL" i="1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381170E-AB49-60A4-E614-545A81E8E550}"/>
              </a:ext>
            </a:extLst>
          </p:cNvPr>
          <p:cNvCxnSpPr>
            <a:cxnSpLocks/>
          </p:cNvCxnSpPr>
          <p:nvPr/>
        </p:nvCxnSpPr>
        <p:spPr>
          <a:xfrm flipV="1">
            <a:off x="391175" y="4043662"/>
            <a:ext cx="11577305" cy="9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554752A-CA26-7E51-288C-A6C7FB8877D7}"/>
              </a:ext>
            </a:extLst>
          </p:cNvPr>
          <p:cNvCxnSpPr/>
          <p:nvPr/>
        </p:nvCxnSpPr>
        <p:spPr>
          <a:xfrm flipV="1">
            <a:off x="1066800" y="3418840"/>
            <a:ext cx="0" cy="604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>
            <a:extLst>
              <a:ext uri="{FF2B5EF4-FFF2-40B4-BE49-F238E27FC236}">
                <a16:creationId xmlns:a16="http://schemas.microsoft.com/office/drawing/2014/main" id="{BE903C57-EF09-AB5C-6C9C-8517212053D3}"/>
              </a:ext>
            </a:extLst>
          </p:cNvPr>
          <p:cNvSpPr txBox="1">
            <a:spLocks/>
          </p:cNvSpPr>
          <p:nvPr/>
        </p:nvSpPr>
        <p:spPr>
          <a:xfrm>
            <a:off x="229236" y="1916040"/>
            <a:ext cx="1756407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i="1" dirty="0"/>
              <a:t>John </a:t>
            </a:r>
            <a:r>
              <a:rPr lang="es-MX" sz="1400" i="1" dirty="0" err="1"/>
              <a:t>Hopfield</a:t>
            </a:r>
            <a:r>
              <a:rPr lang="es-MX" sz="1400" i="1" dirty="0"/>
              <a:t> introduce a </a:t>
            </a:r>
            <a:r>
              <a:rPr lang="es-MX" sz="1400" i="1" dirty="0" err="1"/>
              <a:t>Hopfield</a:t>
            </a:r>
            <a:r>
              <a:rPr lang="es-MX" sz="1400" i="1" dirty="0"/>
              <a:t> </a:t>
            </a:r>
            <a:r>
              <a:rPr lang="es-MX" sz="1400" i="1" dirty="0" err="1"/>
              <a:t>Newtwork</a:t>
            </a:r>
            <a:r>
              <a:rPr lang="es-MX" sz="1400" i="1" dirty="0"/>
              <a:t>, </a:t>
            </a:r>
            <a:r>
              <a:rPr lang="es-MX" sz="1400" i="1" dirty="0" err="1"/>
              <a:t>recurrent</a:t>
            </a:r>
            <a:r>
              <a:rPr lang="es-MX" sz="1400" i="1" dirty="0"/>
              <a:t> neural </a:t>
            </a:r>
            <a:r>
              <a:rPr lang="es-MX" sz="1400" i="1" dirty="0" err="1"/>
              <a:t>network</a:t>
            </a:r>
            <a:r>
              <a:rPr lang="es-MX" sz="1400" i="1" dirty="0"/>
              <a:t> </a:t>
            </a:r>
            <a:r>
              <a:rPr lang="es-MX" sz="1400" i="1" dirty="0" err="1"/>
              <a:t>that</a:t>
            </a:r>
            <a:r>
              <a:rPr lang="es-MX" sz="1400" i="1" dirty="0"/>
              <a:t> server as </a:t>
            </a:r>
            <a:r>
              <a:rPr lang="es-MX" sz="1400" i="1" dirty="0" err="1"/>
              <a:t>associative</a:t>
            </a:r>
            <a:r>
              <a:rPr lang="es-MX" sz="1400" i="1" dirty="0"/>
              <a:t> </a:t>
            </a:r>
            <a:r>
              <a:rPr lang="es-MX" sz="1400" i="1" dirty="0" err="1"/>
              <a:t>memory</a:t>
            </a:r>
            <a:endParaRPr lang="es-CL" sz="1400" i="1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4DC2AA3-E0AC-AFF6-14B4-DBB6452F593A}"/>
              </a:ext>
            </a:extLst>
          </p:cNvPr>
          <p:cNvSpPr txBox="1">
            <a:spLocks/>
          </p:cNvSpPr>
          <p:nvPr/>
        </p:nvSpPr>
        <p:spPr>
          <a:xfrm>
            <a:off x="708701" y="4013199"/>
            <a:ext cx="665397" cy="52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1982</a:t>
            </a:r>
            <a:endParaRPr lang="es-CL" sz="1800" b="1" i="1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DFF0EF2-89AB-DD07-3EA1-DD3D90F1E41D}"/>
              </a:ext>
            </a:extLst>
          </p:cNvPr>
          <p:cNvCxnSpPr>
            <a:cxnSpLocks/>
          </p:cNvCxnSpPr>
          <p:nvPr/>
        </p:nvCxnSpPr>
        <p:spPr>
          <a:xfrm>
            <a:off x="1953889" y="4023359"/>
            <a:ext cx="0" cy="690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6284D326-A7E6-F5EF-7366-79E47A9126FE}"/>
              </a:ext>
            </a:extLst>
          </p:cNvPr>
          <p:cNvSpPr txBox="1">
            <a:spLocks/>
          </p:cNvSpPr>
          <p:nvPr/>
        </p:nvSpPr>
        <p:spPr>
          <a:xfrm>
            <a:off x="1591986" y="3505176"/>
            <a:ext cx="665397" cy="52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1986</a:t>
            </a:r>
            <a:endParaRPr lang="es-CL" sz="1800" b="1" i="1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1D91335C-FB91-E8F4-19B5-F999A9938B06}"/>
              </a:ext>
            </a:extLst>
          </p:cNvPr>
          <p:cNvSpPr txBox="1">
            <a:spLocks/>
          </p:cNvSpPr>
          <p:nvPr/>
        </p:nvSpPr>
        <p:spPr>
          <a:xfrm>
            <a:off x="1046480" y="4785359"/>
            <a:ext cx="1756407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Geoffrey Hinton, David Rumelhart, and Ronald Williams develop backpropagation, making the training of multi-layered neural networks feasible</a:t>
            </a:r>
            <a:endParaRPr lang="es-CL" sz="1400" i="1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2F19B75-E3E7-3CF8-2867-A4EB79E1B025}"/>
              </a:ext>
            </a:extLst>
          </p:cNvPr>
          <p:cNvCxnSpPr>
            <a:cxnSpLocks/>
          </p:cNvCxnSpPr>
          <p:nvPr/>
        </p:nvCxnSpPr>
        <p:spPr>
          <a:xfrm flipV="1">
            <a:off x="2755256" y="3449319"/>
            <a:ext cx="0" cy="568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ítulo 1">
            <a:extLst>
              <a:ext uri="{FF2B5EF4-FFF2-40B4-BE49-F238E27FC236}">
                <a16:creationId xmlns:a16="http://schemas.microsoft.com/office/drawing/2014/main" id="{96FA39EF-F3FE-89DF-26B7-898B3F9CED3F}"/>
              </a:ext>
            </a:extLst>
          </p:cNvPr>
          <p:cNvSpPr txBox="1">
            <a:spLocks/>
          </p:cNvSpPr>
          <p:nvPr/>
        </p:nvSpPr>
        <p:spPr>
          <a:xfrm>
            <a:off x="2422557" y="4053842"/>
            <a:ext cx="665397" cy="52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1990</a:t>
            </a:r>
            <a:endParaRPr lang="es-CL" sz="1800" b="1" i="1" dirty="0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222B1EC-16AA-67A8-5168-39BE9AEA4560}"/>
              </a:ext>
            </a:extLst>
          </p:cNvPr>
          <p:cNvSpPr txBox="1">
            <a:spLocks/>
          </p:cNvSpPr>
          <p:nvPr/>
        </p:nvSpPr>
        <p:spPr>
          <a:xfrm>
            <a:off x="1894203" y="2003283"/>
            <a:ext cx="1756407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Yann LeCun pioneers Convolutional Neural Networks (CNNs), laying the groundwork for modern computer vision</a:t>
            </a:r>
            <a:endParaRPr lang="es-CL" sz="1400" i="1" dirty="0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A638C41-5A86-F879-DBF0-253FC9E016A7}"/>
              </a:ext>
            </a:extLst>
          </p:cNvPr>
          <p:cNvSpPr txBox="1">
            <a:spLocks/>
          </p:cNvSpPr>
          <p:nvPr/>
        </p:nvSpPr>
        <p:spPr>
          <a:xfrm>
            <a:off x="3661413" y="3012869"/>
            <a:ext cx="665397" cy="52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b="1" dirty="0"/>
              <a:t>2006</a:t>
            </a:r>
            <a:endParaRPr lang="es-CL" sz="1800" b="1" i="1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F6BC75B-3498-CA86-BA35-CC763EEBD8B6}"/>
              </a:ext>
            </a:extLst>
          </p:cNvPr>
          <p:cNvCxnSpPr>
            <a:cxnSpLocks/>
          </p:cNvCxnSpPr>
          <p:nvPr/>
        </p:nvCxnSpPr>
        <p:spPr>
          <a:xfrm flipV="1">
            <a:off x="3994112" y="3474690"/>
            <a:ext cx="0" cy="568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ítulo 1">
            <a:extLst>
              <a:ext uri="{FF2B5EF4-FFF2-40B4-BE49-F238E27FC236}">
                <a16:creationId xmlns:a16="http://schemas.microsoft.com/office/drawing/2014/main" id="{A0FDE4D5-759A-10BF-9638-A79BF0E6F198}"/>
              </a:ext>
            </a:extLst>
          </p:cNvPr>
          <p:cNvSpPr txBox="1">
            <a:spLocks/>
          </p:cNvSpPr>
          <p:nvPr/>
        </p:nvSpPr>
        <p:spPr>
          <a:xfrm>
            <a:off x="3119696" y="3947599"/>
            <a:ext cx="1756407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i="1" dirty="0"/>
              <a:t>Fei-Fei Li begins creating ImageNet, a massive labeled visual dataset to advance machine learning</a:t>
            </a:r>
            <a:r>
              <a:rPr lang="en-US" dirty="0"/>
              <a:t>.</a:t>
            </a:r>
            <a:endParaRPr lang="es-CL" sz="1400" i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4C07BC5-0050-491A-BB8E-483D5C0E2AA0}"/>
              </a:ext>
            </a:extLst>
          </p:cNvPr>
          <p:cNvSpPr txBox="1"/>
          <p:nvPr/>
        </p:nvSpPr>
        <p:spPr>
          <a:xfrm>
            <a:off x="5415556" y="30495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363737"/>
                </a:solidFill>
                <a:effectLst/>
                <a:latin typeface="Lora" pitchFamily="2" charset="0"/>
              </a:rPr>
              <a:t>2012</a:t>
            </a:r>
            <a:endParaRPr lang="es-CL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5C8B638-20DD-AA42-C2BB-96776F4DC36D}"/>
              </a:ext>
            </a:extLst>
          </p:cNvPr>
          <p:cNvCxnSpPr>
            <a:cxnSpLocks/>
          </p:cNvCxnSpPr>
          <p:nvPr/>
        </p:nvCxnSpPr>
        <p:spPr>
          <a:xfrm flipV="1">
            <a:off x="5751792" y="3446774"/>
            <a:ext cx="0" cy="568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76992EE-0FD1-03E2-6B41-EBCD616F83DC}"/>
              </a:ext>
            </a:extLst>
          </p:cNvPr>
          <p:cNvSpPr txBox="1"/>
          <p:nvPr/>
        </p:nvSpPr>
        <p:spPr>
          <a:xfrm>
            <a:off x="4792257" y="4119442"/>
            <a:ext cx="17564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 err="1">
                <a:latin typeface="+mj-lt"/>
                <a:ea typeface="+mj-ea"/>
                <a:cs typeface="+mj-cs"/>
              </a:rPr>
              <a:t>AlexNet</a:t>
            </a:r>
            <a:r>
              <a:rPr lang="en-US" sz="1400" i="1" dirty="0">
                <a:latin typeface="+mj-lt"/>
                <a:ea typeface="+mj-ea"/>
                <a:cs typeface="+mj-cs"/>
              </a:rPr>
              <a:t>, created by Alex </a:t>
            </a:r>
            <a:r>
              <a:rPr lang="en-US" sz="1400" i="1" dirty="0" err="1">
                <a:latin typeface="+mj-lt"/>
                <a:ea typeface="+mj-ea"/>
                <a:cs typeface="+mj-cs"/>
              </a:rPr>
              <a:t>Krizhevsky</a:t>
            </a:r>
            <a:r>
              <a:rPr lang="en-US" sz="1400" i="1" dirty="0">
                <a:latin typeface="+mj-lt"/>
                <a:ea typeface="+mj-ea"/>
                <a:cs typeface="+mj-cs"/>
              </a:rPr>
              <a:t> and co-supervised by Geoffrey Hinton, wins the ImageNet Challenge, demonstrating the power of deep learning.</a:t>
            </a:r>
            <a:endParaRPr lang="es-CL" sz="1400" i="1" dirty="0">
              <a:latin typeface="+mj-lt"/>
              <a:ea typeface="+mj-ea"/>
              <a:cs typeface="+mj-cs"/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3481B70-CCE2-1600-990D-820DD7F2CF2E}"/>
              </a:ext>
            </a:extLst>
          </p:cNvPr>
          <p:cNvCxnSpPr>
            <a:cxnSpLocks/>
          </p:cNvCxnSpPr>
          <p:nvPr/>
        </p:nvCxnSpPr>
        <p:spPr>
          <a:xfrm flipV="1">
            <a:off x="7296112" y="3444227"/>
            <a:ext cx="0" cy="568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A88F741-B166-5B00-83DE-B36A36605664}"/>
              </a:ext>
            </a:extLst>
          </p:cNvPr>
          <p:cNvSpPr txBox="1"/>
          <p:nvPr/>
        </p:nvSpPr>
        <p:spPr>
          <a:xfrm>
            <a:off x="6939556" y="30495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363737"/>
                </a:solidFill>
                <a:effectLst/>
                <a:latin typeface="Lora" pitchFamily="2" charset="0"/>
              </a:rPr>
              <a:t>2015</a:t>
            </a:r>
            <a:endParaRPr lang="es-CL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418CD59-373A-BAE1-29AB-374BDE0B50BD}"/>
              </a:ext>
            </a:extLst>
          </p:cNvPr>
          <p:cNvSpPr txBox="1"/>
          <p:nvPr/>
        </p:nvSpPr>
        <p:spPr>
          <a:xfrm>
            <a:off x="6377217" y="4099131"/>
            <a:ext cx="17564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+mj-lt"/>
                <a:ea typeface="+mj-ea"/>
                <a:cs typeface="+mj-cs"/>
              </a:rPr>
              <a:t>Elon Musk, Sam Altman, Greg Brockman, and others co-found OpenAI to promote safe and open AI development.</a:t>
            </a:r>
            <a:endParaRPr lang="es-CL" sz="1400" i="1" dirty="0">
              <a:latin typeface="+mj-lt"/>
              <a:ea typeface="+mj-ea"/>
              <a:cs typeface="+mj-cs"/>
            </a:endParaRP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AF6BA88D-9DAC-6B1C-08F9-6F72CB5896A9}"/>
              </a:ext>
            </a:extLst>
          </p:cNvPr>
          <p:cNvCxnSpPr>
            <a:cxnSpLocks/>
          </p:cNvCxnSpPr>
          <p:nvPr/>
        </p:nvCxnSpPr>
        <p:spPr>
          <a:xfrm flipV="1">
            <a:off x="9551632" y="3454387"/>
            <a:ext cx="0" cy="568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385292A-D7C4-5BD5-614F-9F3CE24EB9AA}"/>
              </a:ext>
            </a:extLst>
          </p:cNvPr>
          <p:cNvSpPr txBox="1"/>
          <p:nvPr/>
        </p:nvSpPr>
        <p:spPr>
          <a:xfrm>
            <a:off x="10739395" y="31137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363737"/>
                </a:solidFill>
                <a:effectLst/>
                <a:latin typeface="Lora" pitchFamily="2" charset="0"/>
              </a:rPr>
              <a:t>2022</a:t>
            </a:r>
            <a:endParaRPr lang="es-CL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B54CE87-ED08-0269-2F77-81F4BF915015}"/>
              </a:ext>
            </a:extLst>
          </p:cNvPr>
          <p:cNvSpPr txBox="1"/>
          <p:nvPr/>
        </p:nvSpPr>
        <p:spPr>
          <a:xfrm>
            <a:off x="8756534" y="4119442"/>
            <a:ext cx="17564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+mj-lt"/>
                <a:ea typeface="+mj-ea"/>
                <a:cs typeface="+mj-cs"/>
              </a:rPr>
              <a:t>Google researchers introduce the Transformer architecture with the paper “Attention is All You Need,” revolutionizing NLP and leading to models like BERT and GPT.</a:t>
            </a:r>
            <a:endParaRPr lang="es-CL" sz="1400" i="1" dirty="0">
              <a:latin typeface="+mj-lt"/>
              <a:ea typeface="+mj-ea"/>
              <a:cs typeface="+mj-cs"/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11C57F7-679E-B34D-A6FB-95A833088835}"/>
              </a:ext>
            </a:extLst>
          </p:cNvPr>
          <p:cNvCxnSpPr>
            <a:cxnSpLocks/>
          </p:cNvCxnSpPr>
          <p:nvPr/>
        </p:nvCxnSpPr>
        <p:spPr>
          <a:xfrm>
            <a:off x="8463556" y="4044624"/>
            <a:ext cx="0" cy="7518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70BD81B-2CA8-735B-F2FA-3C5B72F45DDB}"/>
              </a:ext>
            </a:extLst>
          </p:cNvPr>
          <p:cNvSpPr txBox="1"/>
          <p:nvPr/>
        </p:nvSpPr>
        <p:spPr>
          <a:xfrm>
            <a:off x="8133624" y="48408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363737"/>
                </a:solidFill>
                <a:effectLst/>
                <a:latin typeface="Lora" pitchFamily="2" charset="0"/>
              </a:rPr>
              <a:t>2016</a:t>
            </a:r>
            <a:endParaRPr lang="es-CL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656570F-DE3F-9718-6D09-4E84DE68CBA4}"/>
              </a:ext>
            </a:extLst>
          </p:cNvPr>
          <p:cNvSpPr txBox="1"/>
          <p:nvPr/>
        </p:nvSpPr>
        <p:spPr>
          <a:xfrm>
            <a:off x="7585352" y="2739353"/>
            <a:ext cx="17564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AlphaGo defeated the world champion of Go in 2016. </a:t>
            </a:r>
          </a:p>
          <a:p>
            <a:pPr algn="ctr"/>
            <a:r>
              <a:rPr lang="es-CL" sz="1400" b="1" i="1" dirty="0"/>
              <a:t>Lee </a:t>
            </a:r>
            <a:r>
              <a:rPr lang="es-CL" sz="1400" b="1" i="1" dirty="0" err="1"/>
              <a:t>Sedol</a:t>
            </a:r>
            <a:endParaRPr lang="es-CL" sz="1400" i="1" dirty="0">
              <a:latin typeface="+mj-lt"/>
              <a:ea typeface="+mj-ea"/>
              <a:cs typeface="+mj-cs"/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E05ACE7B-316C-4C98-B69F-84406E4E5DC4}"/>
              </a:ext>
            </a:extLst>
          </p:cNvPr>
          <p:cNvCxnSpPr>
            <a:cxnSpLocks/>
          </p:cNvCxnSpPr>
          <p:nvPr/>
        </p:nvCxnSpPr>
        <p:spPr>
          <a:xfrm flipV="1">
            <a:off x="11124256" y="3484870"/>
            <a:ext cx="0" cy="568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8EBA4C8-34EA-1A3B-7A3B-639AC4E4CCCC}"/>
              </a:ext>
            </a:extLst>
          </p:cNvPr>
          <p:cNvSpPr txBox="1"/>
          <p:nvPr/>
        </p:nvSpPr>
        <p:spPr>
          <a:xfrm>
            <a:off x="9232932" y="3124291"/>
            <a:ext cx="1005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0" dirty="0">
                <a:solidFill>
                  <a:srgbClr val="363737"/>
                </a:solidFill>
                <a:effectLst/>
                <a:latin typeface="Lora" pitchFamily="2" charset="0"/>
              </a:rPr>
              <a:t>201</a:t>
            </a:r>
            <a:r>
              <a:rPr lang="es-CL" b="1" dirty="0">
                <a:solidFill>
                  <a:srgbClr val="363737"/>
                </a:solidFill>
                <a:latin typeface="Lora" pitchFamily="2" charset="0"/>
              </a:rPr>
              <a:t>7</a:t>
            </a:r>
            <a:endParaRPr lang="es-CL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446885F-1979-8CB5-777C-9F2D3F2345BE}"/>
              </a:ext>
            </a:extLst>
          </p:cNvPr>
          <p:cNvSpPr txBox="1"/>
          <p:nvPr/>
        </p:nvSpPr>
        <p:spPr>
          <a:xfrm>
            <a:off x="10512941" y="4195222"/>
            <a:ext cx="14555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+mj-lt"/>
                <a:ea typeface="+mj-ea"/>
                <a:cs typeface="+mj-cs"/>
              </a:rPr>
              <a:t>OpenAI launched ChatGPT in Novembre of 2022.</a:t>
            </a:r>
            <a:endParaRPr lang="es-CL" sz="1400" i="1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1A82493-751E-82B1-067B-AAC514223814}"/>
              </a:ext>
            </a:extLst>
          </p:cNvPr>
          <p:cNvSpPr txBox="1">
            <a:spLocks/>
          </p:cNvSpPr>
          <p:nvPr/>
        </p:nvSpPr>
        <p:spPr>
          <a:xfrm>
            <a:off x="-4730" y="4620985"/>
            <a:ext cx="1240107" cy="52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1939-1945</a:t>
            </a:r>
            <a:endParaRPr lang="es-CL" sz="1800" b="1" i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E20C870-E181-5EEF-503E-D93BB199B404}"/>
              </a:ext>
            </a:extLst>
          </p:cNvPr>
          <p:cNvCxnSpPr>
            <a:cxnSpLocks/>
          </p:cNvCxnSpPr>
          <p:nvPr/>
        </p:nvCxnSpPr>
        <p:spPr>
          <a:xfrm>
            <a:off x="594303" y="4064674"/>
            <a:ext cx="0" cy="566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ítulo 1">
            <a:extLst>
              <a:ext uri="{FF2B5EF4-FFF2-40B4-BE49-F238E27FC236}">
                <a16:creationId xmlns:a16="http://schemas.microsoft.com/office/drawing/2014/main" id="{6CA9D204-2F1B-15C4-3C0F-6DF03905FCA5}"/>
              </a:ext>
            </a:extLst>
          </p:cNvPr>
          <p:cNvSpPr txBox="1">
            <a:spLocks/>
          </p:cNvSpPr>
          <p:nvPr/>
        </p:nvSpPr>
        <p:spPr>
          <a:xfrm>
            <a:off x="-30674" y="5042426"/>
            <a:ext cx="1291995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i="1" dirty="0"/>
              <a:t>Alan Turing </a:t>
            </a:r>
            <a:r>
              <a:rPr lang="es-MX" sz="1400" i="1" dirty="0" err="1"/>
              <a:t>design</a:t>
            </a:r>
            <a:r>
              <a:rPr lang="es-MX" sz="1400" i="1" dirty="0"/>
              <a:t> and </a:t>
            </a:r>
            <a:r>
              <a:rPr lang="es-MX" sz="1400" i="1" dirty="0" err="1"/>
              <a:t>build</a:t>
            </a:r>
            <a:r>
              <a:rPr lang="es-MX" sz="1400" i="1" dirty="0"/>
              <a:t> </a:t>
            </a:r>
            <a:r>
              <a:rPr lang="es-MX" sz="1400" i="1" dirty="0" err="1"/>
              <a:t>the</a:t>
            </a:r>
            <a:r>
              <a:rPr lang="es-MX" sz="1400" i="1" dirty="0"/>
              <a:t> </a:t>
            </a:r>
            <a:r>
              <a:rPr lang="es-MX" sz="1400" i="1" dirty="0" err="1"/>
              <a:t>first</a:t>
            </a:r>
            <a:r>
              <a:rPr lang="es-MX" sz="1400" i="1" dirty="0"/>
              <a:t> </a:t>
            </a:r>
            <a:r>
              <a:rPr lang="es-MX" sz="1400" i="1" dirty="0" err="1"/>
              <a:t>computer</a:t>
            </a:r>
            <a:r>
              <a:rPr lang="es-MX" sz="1400" i="1" dirty="0"/>
              <a:t> </a:t>
            </a:r>
            <a:r>
              <a:rPr lang="es-MX" sz="1400" i="1" dirty="0" err="1"/>
              <a:t>during</a:t>
            </a:r>
            <a:r>
              <a:rPr lang="es-MX" sz="1400" i="1" dirty="0"/>
              <a:t> </a:t>
            </a:r>
            <a:r>
              <a:rPr lang="es-MX" sz="1400" i="1" dirty="0" err="1"/>
              <a:t>the</a:t>
            </a:r>
            <a:r>
              <a:rPr lang="es-MX" sz="1400" i="1" dirty="0"/>
              <a:t> </a:t>
            </a:r>
            <a:r>
              <a:rPr lang="es-MX" sz="1400" i="1" dirty="0" err="1"/>
              <a:t>Second</a:t>
            </a:r>
            <a:r>
              <a:rPr lang="es-MX" sz="1400" i="1" dirty="0"/>
              <a:t> </a:t>
            </a:r>
            <a:r>
              <a:rPr lang="es-MX" sz="1400" i="1" dirty="0" err="1"/>
              <a:t>World</a:t>
            </a:r>
            <a:r>
              <a:rPr lang="es-MX" sz="1400" i="1" dirty="0"/>
              <a:t> </a:t>
            </a:r>
            <a:r>
              <a:rPr lang="es-MX" sz="1400" i="1" dirty="0" err="1"/>
              <a:t>War</a:t>
            </a:r>
            <a:endParaRPr lang="es-CL" sz="1400" i="1" dirty="0"/>
          </a:p>
        </p:txBody>
      </p:sp>
    </p:spTree>
    <p:extLst>
      <p:ext uri="{BB962C8B-B14F-4D97-AF65-F5344CB8AC3E}">
        <p14:creationId xmlns:p14="http://schemas.microsoft.com/office/powerpoint/2010/main" val="278473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2DD6A-BE70-9590-1D54-6A8AC791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28D1FAE-9CF2-4B0B-FFB9-0B0DE5FB3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5FCBB79-3928-C3B0-15C0-514DA8CD3A96}"/>
              </a:ext>
            </a:extLst>
          </p:cNvPr>
          <p:cNvSpPr txBox="1">
            <a:spLocks/>
          </p:cNvSpPr>
          <p:nvPr/>
        </p:nvSpPr>
        <p:spPr>
          <a:xfrm>
            <a:off x="1687830" y="1941441"/>
            <a:ext cx="9283700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b="1" i="1" dirty="0"/>
              <a:t>Explicación de los Transformers.</a:t>
            </a:r>
            <a:endParaRPr lang="es-CL" sz="2800" b="1" i="1" dirty="0"/>
          </a:p>
        </p:txBody>
      </p:sp>
      <p:pic>
        <p:nvPicPr>
          <p:cNvPr id="2050" name="Picture 2" descr="Ve AlphaGo | Netflix">
            <a:extLst>
              <a:ext uri="{FF2B5EF4-FFF2-40B4-BE49-F238E27FC236}">
                <a16:creationId xmlns:a16="http://schemas.microsoft.com/office/drawing/2014/main" id="{DEBBD41A-BA9A-3266-1C04-DEF8A9A3B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1258362"/>
            <a:ext cx="8808720" cy="4954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D928C3F-9F53-1A49-B8EC-26BABCD74765}"/>
              </a:ext>
            </a:extLst>
          </p:cNvPr>
          <p:cNvSpPr txBox="1">
            <a:spLocks/>
          </p:cNvSpPr>
          <p:nvPr/>
        </p:nvSpPr>
        <p:spPr>
          <a:xfrm>
            <a:off x="3856273" y="172758"/>
            <a:ext cx="76555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i="1" dirty="0"/>
              <a:t>¿Qué paso aquí?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50105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656ED98-5940-E95D-DF9B-0857BCF9F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4731DD50-737F-2C7D-3846-D0390C97EF3E}"/>
              </a:ext>
            </a:extLst>
          </p:cNvPr>
          <p:cNvSpPr txBox="1">
            <a:spLocks/>
          </p:cNvSpPr>
          <p:nvPr/>
        </p:nvSpPr>
        <p:spPr>
          <a:xfrm>
            <a:off x="3853180" y="2327521"/>
            <a:ext cx="5054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¿Qué es </a:t>
            </a:r>
            <a:r>
              <a:rPr lang="es-MX" dirty="0" err="1"/>
              <a:t>ChatGPT</a:t>
            </a:r>
            <a:r>
              <a:rPr lang="es-MX" dirty="0"/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11143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9CCC-D320-E4D9-5A44-50D28EC5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D7DA19D-7DB1-037C-97ED-FDF8485FE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2CDB532-89B7-0A95-78BF-54B2EE6FA971}"/>
              </a:ext>
            </a:extLst>
          </p:cNvPr>
          <p:cNvSpPr txBox="1">
            <a:spLocks/>
          </p:cNvSpPr>
          <p:nvPr/>
        </p:nvSpPr>
        <p:spPr>
          <a:xfrm>
            <a:off x="3853180" y="2327521"/>
            <a:ext cx="5054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¿Qué es </a:t>
            </a:r>
            <a:r>
              <a:rPr lang="es-MX" dirty="0" err="1"/>
              <a:t>ChatGPT</a:t>
            </a:r>
            <a:r>
              <a:rPr lang="es-MX" dirty="0"/>
              <a:t>?</a:t>
            </a:r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E35B00-5A03-DECD-C370-1F42176EF4DB}"/>
              </a:ext>
            </a:extLst>
          </p:cNvPr>
          <p:cNvSpPr txBox="1">
            <a:spLocks/>
          </p:cNvSpPr>
          <p:nvPr/>
        </p:nvSpPr>
        <p:spPr>
          <a:xfrm>
            <a:off x="1454150" y="3348284"/>
            <a:ext cx="9283700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i="1" dirty="0"/>
              <a:t>Es un chat construido por la compañía </a:t>
            </a:r>
            <a:r>
              <a:rPr lang="es-MX" sz="2800" i="1" dirty="0" err="1"/>
              <a:t>OpenAI</a:t>
            </a:r>
            <a:r>
              <a:rPr lang="es-MX" sz="2800" i="1" dirty="0"/>
              <a:t> basado en la arquitectura GPT </a:t>
            </a:r>
            <a:r>
              <a:rPr lang="es-MX" sz="2800" b="1" i="1" dirty="0"/>
              <a:t>(Generative Pre–</a:t>
            </a:r>
            <a:r>
              <a:rPr lang="es-MX" sz="2800" b="1" i="1" dirty="0" err="1"/>
              <a:t>Trained</a:t>
            </a:r>
            <a:r>
              <a:rPr lang="es-MX" sz="2800" b="1" i="1" dirty="0"/>
              <a:t> </a:t>
            </a:r>
            <a:r>
              <a:rPr lang="es-MX" sz="2800" b="1" i="1" dirty="0" err="1"/>
              <a:t>Transformer</a:t>
            </a:r>
            <a:r>
              <a:rPr lang="es-MX" sz="2800" b="1" i="1" dirty="0"/>
              <a:t>).  </a:t>
            </a:r>
            <a:endParaRPr lang="es-CL" sz="2800" b="1" i="1" dirty="0"/>
          </a:p>
        </p:txBody>
      </p:sp>
    </p:spTree>
    <p:extLst>
      <p:ext uri="{BB962C8B-B14F-4D97-AF65-F5344CB8AC3E}">
        <p14:creationId xmlns:p14="http://schemas.microsoft.com/office/powerpoint/2010/main" val="1710148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48A1-4C7A-78AF-50BB-6BEAE7C36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27550B7-CB12-1CFF-FFE6-8D6A32445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BA79019-149F-E2FD-ED62-BF5A1E310D04}"/>
              </a:ext>
            </a:extLst>
          </p:cNvPr>
          <p:cNvSpPr txBox="1">
            <a:spLocks/>
          </p:cNvSpPr>
          <p:nvPr/>
        </p:nvSpPr>
        <p:spPr>
          <a:xfrm>
            <a:off x="3853180" y="2327521"/>
            <a:ext cx="5054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¿Qué es </a:t>
            </a:r>
            <a:r>
              <a:rPr lang="es-MX" dirty="0" err="1"/>
              <a:t>ChatGPT</a:t>
            </a:r>
            <a:r>
              <a:rPr lang="es-MX" dirty="0"/>
              <a:t>?</a:t>
            </a:r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970F00-33AA-E0FC-64A9-406B42CA9C3E}"/>
              </a:ext>
            </a:extLst>
          </p:cNvPr>
          <p:cNvSpPr txBox="1">
            <a:spLocks/>
          </p:cNvSpPr>
          <p:nvPr/>
        </p:nvSpPr>
        <p:spPr>
          <a:xfrm>
            <a:off x="1454150" y="3348284"/>
            <a:ext cx="9283700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i="1" dirty="0"/>
              <a:t>Es un chat construido por la compañía </a:t>
            </a:r>
            <a:r>
              <a:rPr lang="es-MX" sz="2800" i="1" dirty="0" err="1"/>
              <a:t>OpenAI</a:t>
            </a:r>
            <a:r>
              <a:rPr lang="es-MX" sz="2800" i="1" dirty="0"/>
              <a:t> basado en la arquitectura GPT </a:t>
            </a:r>
            <a:r>
              <a:rPr lang="es-MX" sz="2800" b="1" i="1" dirty="0"/>
              <a:t>(Generative Pre–</a:t>
            </a:r>
            <a:r>
              <a:rPr lang="es-MX" sz="2800" b="1" i="1" dirty="0" err="1"/>
              <a:t>Trained</a:t>
            </a:r>
            <a:r>
              <a:rPr lang="es-MX" sz="2800" b="1" i="1" dirty="0"/>
              <a:t> </a:t>
            </a:r>
            <a:r>
              <a:rPr lang="es-MX" sz="2800" b="1" i="1" dirty="0" err="1"/>
              <a:t>Transformer</a:t>
            </a:r>
            <a:r>
              <a:rPr lang="es-MX" sz="2800" b="1" i="1" dirty="0"/>
              <a:t>).  </a:t>
            </a:r>
            <a:endParaRPr lang="es-CL" sz="2800" b="1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9E0046-4365-EA3B-435A-44F1876EC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836" y="664150"/>
            <a:ext cx="8634327" cy="536826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06369BE-6A15-F4A1-BDF6-EC9A59597C06}"/>
              </a:ext>
            </a:extLst>
          </p:cNvPr>
          <p:cNvSpPr txBox="1"/>
          <p:nvPr/>
        </p:nvSpPr>
        <p:spPr>
          <a:xfrm>
            <a:off x="3853180" y="61525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https://www.youtube.com/watch?v=wjZofJX0v4M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18C53A-5042-47B1-5739-419631CCCB80}"/>
              </a:ext>
            </a:extLst>
          </p:cNvPr>
          <p:cNvSpPr txBox="1"/>
          <p:nvPr/>
        </p:nvSpPr>
        <p:spPr>
          <a:xfrm>
            <a:off x="1454150" y="0"/>
            <a:ext cx="9146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s-MX" dirty="0"/>
            </a:br>
            <a:r>
              <a:rPr lang="es-MX" sz="14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Pero, ¿qué es un GPT? Introducción visual a los Transformers | Capítulo 5, Aprendizaje profundo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66169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B58E-432C-5CB8-20F8-359CA05A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C8DB14C-FA0A-42F1-D8DE-17F7765DA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497B678-249B-640C-A0A0-85CF85C0BAB7}"/>
              </a:ext>
            </a:extLst>
          </p:cNvPr>
          <p:cNvSpPr txBox="1">
            <a:spLocks/>
          </p:cNvSpPr>
          <p:nvPr/>
        </p:nvSpPr>
        <p:spPr>
          <a:xfrm>
            <a:off x="307340" y="443181"/>
            <a:ext cx="119964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Deep </a:t>
            </a:r>
            <a:r>
              <a:rPr lang="es-MX" b="1" i="1" dirty="0" err="1"/>
              <a:t>Learning</a:t>
            </a:r>
            <a:r>
              <a:rPr lang="es-MX" dirty="0"/>
              <a:t>: Simulación de nuestro cerebro.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D8AC12-8CF3-E3FC-6EB9-D604BFEB0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44" y="1920241"/>
            <a:ext cx="6746154" cy="40395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DAF3FE3-6B10-AA5C-7F75-2BB85D4DE003}"/>
              </a:ext>
            </a:extLst>
          </p:cNvPr>
          <p:cNvSpPr txBox="1"/>
          <p:nvPr/>
        </p:nvSpPr>
        <p:spPr>
          <a:xfrm>
            <a:off x="7424696" y="1816358"/>
            <a:ext cx="41986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1800" b="1" i="1" dirty="0">
                <a:latin typeface="+mj-lt"/>
              </a:rPr>
              <a:t>Datos: </a:t>
            </a:r>
          </a:p>
          <a:p>
            <a:pPr marL="0" indent="0">
              <a:buNone/>
            </a:pPr>
            <a:r>
              <a:rPr lang="es-MX" sz="1800" i="1" dirty="0">
                <a:latin typeface="+mj-lt"/>
              </a:rPr>
              <a:t>Millones de datos para entrenamientos.</a:t>
            </a:r>
          </a:p>
          <a:p>
            <a:pPr marL="0" indent="0">
              <a:buNone/>
            </a:pPr>
            <a:endParaRPr lang="es-MX" b="1" i="1" dirty="0">
              <a:latin typeface="+mj-lt"/>
            </a:endParaRPr>
          </a:p>
          <a:p>
            <a:pPr marL="0" indent="0">
              <a:buNone/>
            </a:pPr>
            <a:r>
              <a:rPr lang="es-MX" b="1" i="1" dirty="0">
                <a:latin typeface="+mj-lt"/>
              </a:rPr>
              <a:t>Nodos y </a:t>
            </a:r>
            <a:r>
              <a:rPr lang="es-MX" b="1" i="1" dirty="0" err="1">
                <a:latin typeface="+mj-lt"/>
              </a:rPr>
              <a:t>layers</a:t>
            </a:r>
            <a:r>
              <a:rPr lang="es-MX" b="1" i="1" dirty="0">
                <a:latin typeface="+mj-lt"/>
              </a:rPr>
              <a:t>: </a:t>
            </a:r>
          </a:p>
          <a:p>
            <a:pPr marL="0" indent="0">
              <a:buNone/>
            </a:pPr>
            <a:r>
              <a:rPr lang="es-MX" i="1" dirty="0">
                <a:latin typeface="+mj-lt"/>
              </a:rPr>
              <a:t>Son capas de nodos, que tienen una función de activación, y sus entradas son multiplicas por pesos.</a:t>
            </a:r>
          </a:p>
          <a:p>
            <a:pPr marL="0" indent="0">
              <a:buNone/>
            </a:pPr>
            <a:endParaRPr lang="es-MX" i="1" dirty="0">
              <a:latin typeface="+mj-lt"/>
            </a:endParaRPr>
          </a:p>
          <a:p>
            <a:pPr marL="0" indent="0">
              <a:buNone/>
            </a:pPr>
            <a:r>
              <a:rPr lang="es-MX" sz="1800" b="1" i="1" dirty="0" err="1">
                <a:latin typeface="+mj-lt"/>
              </a:rPr>
              <a:t>Layer</a:t>
            </a:r>
            <a:r>
              <a:rPr lang="es-MX" sz="1800" b="1" i="1" dirty="0">
                <a:latin typeface="+mj-lt"/>
              </a:rPr>
              <a:t> Final: </a:t>
            </a:r>
          </a:p>
          <a:p>
            <a:pPr marL="0" indent="0">
              <a:buNone/>
            </a:pPr>
            <a:r>
              <a:rPr lang="es-MX" sz="1800" i="1" dirty="0">
                <a:latin typeface="+mj-lt"/>
              </a:rPr>
              <a:t>Capa final, que tiene una función de perdida (</a:t>
            </a:r>
            <a:r>
              <a:rPr lang="es-MX" sz="1800" i="1" dirty="0" err="1">
                <a:latin typeface="+mj-lt"/>
              </a:rPr>
              <a:t>Softmax</a:t>
            </a:r>
            <a:r>
              <a:rPr lang="es-MX" sz="1800" i="1" dirty="0">
                <a:latin typeface="+mj-lt"/>
              </a:rPr>
              <a:t>), que termina calculando una probabilidad. </a:t>
            </a:r>
          </a:p>
          <a:p>
            <a:pPr marL="0" indent="0">
              <a:buNone/>
            </a:pPr>
            <a:endParaRPr lang="es-MX" i="1" dirty="0">
              <a:latin typeface="+mj-lt"/>
            </a:endParaRPr>
          </a:p>
          <a:p>
            <a:pPr marL="0" indent="0">
              <a:buNone/>
            </a:pPr>
            <a:r>
              <a:rPr lang="es-MX" sz="1800" i="1" dirty="0">
                <a:latin typeface="+mj-lt"/>
              </a:rPr>
              <a:t>Se </a:t>
            </a:r>
            <a:r>
              <a:rPr lang="es-MX" sz="1800" i="1" dirty="0" err="1">
                <a:latin typeface="+mj-lt"/>
              </a:rPr>
              <a:t>re-entrenando</a:t>
            </a:r>
            <a:r>
              <a:rPr lang="es-MX" sz="1800" i="1" dirty="0">
                <a:latin typeface="+mj-lt"/>
              </a:rPr>
              <a:t>, actualizado los pesos hasta encontrar mínimo local.</a:t>
            </a:r>
          </a:p>
        </p:txBody>
      </p:sp>
    </p:spTree>
    <p:extLst>
      <p:ext uri="{BB962C8B-B14F-4D97-AF65-F5344CB8AC3E}">
        <p14:creationId xmlns:p14="http://schemas.microsoft.com/office/powerpoint/2010/main" val="1863789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E825F-B6E1-967F-1B4B-CFC79EFBC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Transformers: </a:t>
            </a:r>
            <a:r>
              <a:rPr lang="en-US" b="1" dirty="0"/>
              <a:t>Attention Is All You Need</a:t>
            </a:r>
            <a:endParaRPr lang="es-CL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EDEB433-F77F-FC15-1E83-92E8AD2FD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2ABA796-4495-87FC-0487-EBECC3684E02}"/>
              </a:ext>
            </a:extLst>
          </p:cNvPr>
          <p:cNvSpPr txBox="1"/>
          <p:nvPr/>
        </p:nvSpPr>
        <p:spPr>
          <a:xfrm>
            <a:off x="645928" y="63082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Nota:</a:t>
            </a:r>
            <a:r>
              <a:rPr lang="es-CL" dirty="0"/>
              <a:t> https://arxiv.org/abs/1706.03762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E514DF7-F6AC-2447-BCF5-3B2202CE4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833" y="1483353"/>
            <a:ext cx="6480766" cy="4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7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B110-06A5-9789-2F70-2BAA6D2F6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8C911-535F-B5B5-5A69-337ABAC7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Transformers: </a:t>
            </a:r>
            <a:r>
              <a:rPr lang="en-US" b="1" dirty="0"/>
              <a:t>Attention Is All You Need</a:t>
            </a:r>
            <a:endParaRPr lang="es-CL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4D05E76-3B2D-5886-0DD9-0435A8F4D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695956E-545C-CD0D-6E78-0BF67D0B53B2}"/>
              </a:ext>
            </a:extLst>
          </p:cNvPr>
          <p:cNvSpPr txBox="1"/>
          <p:nvPr/>
        </p:nvSpPr>
        <p:spPr>
          <a:xfrm>
            <a:off x="364498" y="63082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Nota:</a:t>
            </a:r>
            <a:r>
              <a:rPr lang="es-CL" dirty="0"/>
              <a:t> AI </a:t>
            </a:r>
            <a:r>
              <a:rPr lang="es-CL" dirty="0" err="1"/>
              <a:t>Engineering</a:t>
            </a:r>
            <a:r>
              <a:rPr lang="es-CL" dirty="0"/>
              <a:t>, Chip Huyen. (Book)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324071-E762-95C2-87E0-BDF88CCBF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780" y="2317517"/>
            <a:ext cx="3681241" cy="27910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43CB3E7-FBDB-38D6-F5BE-39638734D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21" y="2394133"/>
            <a:ext cx="3057709" cy="239051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DE9EC51D-95DF-04B2-2288-358EB3567E9D}"/>
              </a:ext>
            </a:extLst>
          </p:cNvPr>
          <p:cNvSpPr txBox="1">
            <a:spLocks/>
          </p:cNvSpPr>
          <p:nvPr/>
        </p:nvSpPr>
        <p:spPr>
          <a:xfrm>
            <a:off x="563880" y="1725672"/>
            <a:ext cx="4404360" cy="454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000" dirty="0">
                <a:latin typeface="+mj-lt"/>
              </a:rPr>
              <a:t>El </a:t>
            </a:r>
            <a:r>
              <a:rPr lang="es-MX" sz="2000" dirty="0" err="1">
                <a:latin typeface="+mj-lt"/>
              </a:rPr>
              <a:t>paper</a:t>
            </a:r>
            <a:r>
              <a:rPr lang="es-MX" sz="2000" dirty="0">
                <a:latin typeface="+mj-lt"/>
              </a:rPr>
              <a:t> plantea una nueva arquitectura llamada </a:t>
            </a:r>
            <a:r>
              <a:rPr lang="es-MX" sz="2000" dirty="0" err="1">
                <a:latin typeface="+mj-lt"/>
              </a:rPr>
              <a:t>Transformer</a:t>
            </a:r>
            <a:r>
              <a:rPr lang="es-MX" sz="2000" dirty="0">
                <a:latin typeface="+mj-lt"/>
              </a:rPr>
              <a:t>, la cual tiene los siguiente puntos:</a:t>
            </a:r>
          </a:p>
          <a:p>
            <a:pPr>
              <a:buFontTx/>
              <a:buChar char="-"/>
            </a:pPr>
            <a:r>
              <a:rPr lang="es-MX" sz="2000" dirty="0">
                <a:latin typeface="+mj-lt"/>
              </a:rPr>
              <a:t>Se base en mecanismo de </a:t>
            </a:r>
            <a:r>
              <a:rPr lang="es-MX" sz="2000" dirty="0" err="1">
                <a:latin typeface="+mj-lt"/>
              </a:rPr>
              <a:t>Attention</a:t>
            </a:r>
            <a:r>
              <a:rPr lang="es-MX" sz="2000" dirty="0">
                <a:latin typeface="+mj-lt"/>
              </a:rPr>
              <a:t>, es decir, darle mayor peso a las palabras que son más relevantes en un frase.</a:t>
            </a:r>
          </a:p>
          <a:p>
            <a:pPr>
              <a:buFontTx/>
              <a:buChar char="-"/>
            </a:pPr>
            <a:r>
              <a:rPr lang="es-MX" sz="2000" dirty="0">
                <a:latin typeface="+mj-lt"/>
              </a:rPr>
              <a:t>Sigue siendo </a:t>
            </a:r>
            <a:r>
              <a:rPr lang="es-MX" sz="2000" dirty="0" err="1">
                <a:latin typeface="+mj-lt"/>
              </a:rPr>
              <a:t>autoregressive</a:t>
            </a:r>
            <a:r>
              <a:rPr lang="es-MX" sz="2000" dirty="0">
                <a:latin typeface="+mj-lt"/>
              </a:rPr>
              <a:t>, es decir, necesita consumir cada palabra antes de crear otra nueva palabra.</a:t>
            </a:r>
          </a:p>
          <a:p>
            <a:pPr>
              <a:buFontTx/>
              <a:buChar char="-"/>
            </a:pPr>
            <a:r>
              <a:rPr lang="es-MX" sz="2000" dirty="0">
                <a:latin typeface="+mj-lt"/>
              </a:rPr>
              <a:t>Puede ser entrenado en paralelo, lo que ayuda fuertemente a la escalabilidad en el entrenamiento</a:t>
            </a:r>
            <a:r>
              <a:rPr lang="es-MX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115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DACB5-597F-CE83-D0BB-1893C5001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9ABCC-F7C9-FED1-66C4-769756F4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 err="1"/>
              <a:t>Two</a:t>
            </a:r>
            <a:r>
              <a:rPr lang="es-MX" b="1" i="1" dirty="0"/>
              <a:t> </a:t>
            </a:r>
            <a:r>
              <a:rPr lang="es-MX" b="1" i="1" dirty="0" err="1"/>
              <a:t>Layers</a:t>
            </a:r>
            <a:r>
              <a:rPr lang="es-MX" dirty="0"/>
              <a:t>: </a:t>
            </a:r>
            <a:r>
              <a:rPr lang="es-MX" dirty="0" err="1"/>
              <a:t>Encoder</a:t>
            </a:r>
            <a:r>
              <a:rPr lang="es-MX" dirty="0"/>
              <a:t> &amp; </a:t>
            </a:r>
            <a:r>
              <a:rPr lang="es-MX" dirty="0" err="1"/>
              <a:t>Decoder</a:t>
            </a:r>
            <a:r>
              <a:rPr lang="es-MX" dirty="0"/>
              <a:t> </a:t>
            </a:r>
            <a:endParaRPr lang="es-CL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3898F13-ECB2-5ED9-94B5-06E3AB2EE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8DAAE65-A738-76C9-1840-FCD173C72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74" y="1690688"/>
            <a:ext cx="5893026" cy="389794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A903434-6066-847B-B3CA-F910FC006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311" y="1917480"/>
            <a:ext cx="5725005" cy="380884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6637BA5-3CDA-71AF-D925-B4F2DEEF4B57}"/>
              </a:ext>
            </a:extLst>
          </p:cNvPr>
          <p:cNvSpPr txBox="1"/>
          <p:nvPr/>
        </p:nvSpPr>
        <p:spPr>
          <a:xfrm>
            <a:off x="364498" y="63082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Nota:</a:t>
            </a:r>
            <a:r>
              <a:rPr lang="es-CL" dirty="0"/>
              <a:t> AI </a:t>
            </a:r>
            <a:r>
              <a:rPr lang="es-CL" dirty="0" err="1"/>
              <a:t>Engineering</a:t>
            </a:r>
            <a:r>
              <a:rPr lang="es-CL" dirty="0"/>
              <a:t>, Chip Huyen. (Book)</a:t>
            </a:r>
          </a:p>
        </p:txBody>
      </p:sp>
    </p:spTree>
    <p:extLst>
      <p:ext uri="{BB962C8B-B14F-4D97-AF65-F5344CB8AC3E}">
        <p14:creationId xmlns:p14="http://schemas.microsoft.com/office/powerpoint/2010/main" val="2693547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CD9B-5663-916D-7901-EF9222F38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BD17F-79AF-12F9-D638-D7D951B8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/>
              <a:t>Pipeline</a:t>
            </a:r>
            <a:r>
              <a:rPr lang="es-MX" dirty="0"/>
              <a:t>: ¿Cómo realmente los </a:t>
            </a:r>
            <a:r>
              <a:rPr lang="es-MX" dirty="0" err="1"/>
              <a:t>LLMs</a:t>
            </a:r>
            <a:r>
              <a:rPr lang="es-MX" dirty="0"/>
              <a:t> trabajan?</a:t>
            </a:r>
            <a:endParaRPr lang="es-CL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713C95D-AD40-3749-7843-BBDA78E5A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9AB316FD-9B7D-0293-F754-1868929BF7FA}"/>
              </a:ext>
            </a:extLst>
          </p:cNvPr>
          <p:cNvCxnSpPr/>
          <p:nvPr/>
        </p:nvCxnSpPr>
        <p:spPr>
          <a:xfrm>
            <a:off x="1000760" y="2091897"/>
            <a:ext cx="878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7B7F662-6D51-E100-6185-7B6DF01BE272}"/>
              </a:ext>
            </a:extLst>
          </p:cNvPr>
          <p:cNvSpPr txBox="1"/>
          <p:nvPr/>
        </p:nvSpPr>
        <p:spPr>
          <a:xfrm>
            <a:off x="1717040" y="1768732"/>
            <a:ext cx="1860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i="1" dirty="0"/>
              <a:t>pregunta del </a:t>
            </a:r>
          </a:p>
          <a:p>
            <a:pPr algn="ctr"/>
            <a:r>
              <a:rPr lang="es-CL" i="1" dirty="0"/>
              <a:t>Usuario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6F44CD1-7A1F-7960-93B7-36105CBF1404}"/>
              </a:ext>
            </a:extLst>
          </p:cNvPr>
          <p:cNvCxnSpPr>
            <a:cxnSpLocks/>
          </p:cNvCxnSpPr>
          <p:nvPr/>
        </p:nvCxnSpPr>
        <p:spPr>
          <a:xfrm>
            <a:off x="2055491" y="2759948"/>
            <a:ext cx="7848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89D1571-7C38-EEA6-4106-832D7CEEEA95}"/>
              </a:ext>
            </a:extLst>
          </p:cNvPr>
          <p:cNvSpPr txBox="1"/>
          <p:nvPr/>
        </p:nvSpPr>
        <p:spPr>
          <a:xfrm>
            <a:off x="2647311" y="2551221"/>
            <a:ext cx="186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i="1" dirty="0" err="1"/>
              <a:t>Tokenización</a:t>
            </a:r>
            <a:endParaRPr lang="es-CL" i="1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C487669-C6FE-BE91-2A5B-05BB08859197}"/>
              </a:ext>
            </a:extLst>
          </p:cNvPr>
          <p:cNvCxnSpPr>
            <a:cxnSpLocks/>
          </p:cNvCxnSpPr>
          <p:nvPr/>
        </p:nvCxnSpPr>
        <p:spPr>
          <a:xfrm>
            <a:off x="2698742" y="3289885"/>
            <a:ext cx="878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881678-DD76-B458-143A-525E0812483D}"/>
              </a:ext>
            </a:extLst>
          </p:cNvPr>
          <p:cNvSpPr txBox="1"/>
          <p:nvPr/>
        </p:nvSpPr>
        <p:spPr>
          <a:xfrm>
            <a:off x="3443617" y="3107560"/>
            <a:ext cx="186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 err="1"/>
              <a:t>Embedings</a:t>
            </a:r>
            <a:endParaRPr lang="es-CL" i="1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3DAD862-A944-CC51-DDA7-896DD793C7A1}"/>
              </a:ext>
            </a:extLst>
          </p:cNvPr>
          <p:cNvCxnSpPr>
            <a:cxnSpLocks/>
          </p:cNvCxnSpPr>
          <p:nvPr/>
        </p:nvCxnSpPr>
        <p:spPr>
          <a:xfrm>
            <a:off x="3298813" y="3842603"/>
            <a:ext cx="878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4DE92A1-DCCC-EE5D-C0BD-96EDF695583B}"/>
              </a:ext>
            </a:extLst>
          </p:cNvPr>
          <p:cNvSpPr txBox="1"/>
          <p:nvPr/>
        </p:nvSpPr>
        <p:spPr>
          <a:xfrm>
            <a:off x="3768713" y="3652072"/>
            <a:ext cx="3689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/>
              <a:t>Arquitectura Transformers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3D205BF-B2F3-3A7D-B489-4C54D6287C5F}"/>
              </a:ext>
            </a:extLst>
          </p:cNvPr>
          <p:cNvCxnSpPr>
            <a:cxnSpLocks/>
          </p:cNvCxnSpPr>
          <p:nvPr/>
        </p:nvCxnSpPr>
        <p:spPr>
          <a:xfrm flipV="1">
            <a:off x="3685540" y="4384641"/>
            <a:ext cx="888361" cy="25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72A688D-83AE-53CF-D9A9-9AE0C7E86CB2}"/>
              </a:ext>
            </a:extLst>
          </p:cNvPr>
          <p:cNvSpPr txBox="1"/>
          <p:nvPr/>
        </p:nvSpPr>
        <p:spPr>
          <a:xfrm>
            <a:off x="4505313" y="4203644"/>
            <a:ext cx="186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 err="1"/>
              <a:t>Embedings</a:t>
            </a:r>
            <a:endParaRPr lang="es-CL" i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AA31392-9267-132E-4AF2-3336E078EAC5}"/>
              </a:ext>
            </a:extLst>
          </p:cNvPr>
          <p:cNvSpPr txBox="1"/>
          <p:nvPr/>
        </p:nvSpPr>
        <p:spPr>
          <a:xfrm>
            <a:off x="5304159" y="4755216"/>
            <a:ext cx="186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i="1" dirty="0" err="1"/>
              <a:t>Tokenización</a:t>
            </a:r>
            <a:endParaRPr lang="es-CL" i="1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DF3F244-C444-133B-91F7-07B5CBD120BA}"/>
              </a:ext>
            </a:extLst>
          </p:cNvPr>
          <p:cNvCxnSpPr>
            <a:cxnSpLocks/>
          </p:cNvCxnSpPr>
          <p:nvPr/>
        </p:nvCxnSpPr>
        <p:spPr>
          <a:xfrm>
            <a:off x="5140944" y="5501255"/>
            <a:ext cx="7842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4B83B39-A9A1-BAB4-D58B-6FE6C10673B4}"/>
              </a:ext>
            </a:extLst>
          </p:cNvPr>
          <p:cNvCxnSpPr>
            <a:cxnSpLocks/>
          </p:cNvCxnSpPr>
          <p:nvPr/>
        </p:nvCxnSpPr>
        <p:spPr>
          <a:xfrm>
            <a:off x="4484969" y="4908291"/>
            <a:ext cx="9506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61B8BC3-2C58-E500-DAA2-8E034EEA3351}"/>
              </a:ext>
            </a:extLst>
          </p:cNvPr>
          <p:cNvSpPr txBox="1"/>
          <p:nvPr/>
        </p:nvSpPr>
        <p:spPr>
          <a:xfrm>
            <a:off x="5708982" y="5316589"/>
            <a:ext cx="186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i="1" dirty="0"/>
              <a:t>Respuesta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C375641-E36C-4B5D-DCBD-F54411ECDE21}"/>
              </a:ext>
            </a:extLst>
          </p:cNvPr>
          <p:cNvSpPr/>
          <p:nvPr/>
        </p:nvSpPr>
        <p:spPr>
          <a:xfrm>
            <a:off x="1732911" y="2468605"/>
            <a:ext cx="4208125" cy="1059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4B63BB3-55CE-69C1-7B38-7731C6BDC897}"/>
              </a:ext>
            </a:extLst>
          </p:cNvPr>
          <p:cNvSpPr/>
          <p:nvPr/>
        </p:nvSpPr>
        <p:spPr>
          <a:xfrm>
            <a:off x="3200096" y="4178191"/>
            <a:ext cx="4208125" cy="1059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9D4BEE2-1AB1-73E0-CE18-F0B2062EA963}"/>
              </a:ext>
            </a:extLst>
          </p:cNvPr>
          <p:cNvSpPr txBox="1"/>
          <p:nvPr/>
        </p:nvSpPr>
        <p:spPr>
          <a:xfrm>
            <a:off x="7408221" y="2812387"/>
            <a:ext cx="50927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i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Los </a:t>
            </a:r>
            <a:r>
              <a:rPr lang="es-MX" sz="2400" b="1" i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LLMs</a:t>
            </a:r>
            <a:r>
              <a:rPr lang="es-MX" sz="2400" b="1" i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no reciben texto, sino que procesan números (</a:t>
            </a:r>
            <a:r>
              <a:rPr lang="es-MX" sz="2400" b="1" i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embeddings</a:t>
            </a:r>
            <a:r>
              <a:rPr lang="es-MX" sz="2400" b="1" i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869615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0E904-C7F0-CA18-5ED4-C646D737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CCACC-C1CF-441C-9636-E179A551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/>
              <a:t>Tokens</a:t>
            </a:r>
            <a:r>
              <a:rPr lang="es-MX" dirty="0"/>
              <a:t>: De Palabras a </a:t>
            </a:r>
            <a:r>
              <a:rPr lang="es-MX" dirty="0" err="1"/>
              <a:t>IDs</a:t>
            </a:r>
            <a:r>
              <a:rPr lang="es-MX" dirty="0"/>
              <a:t>. </a:t>
            </a:r>
            <a:endParaRPr lang="es-CL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008AD6F-032B-E899-AA40-71FA2193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BC787FE-18D0-6A23-439E-921CC3318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040" y="2091373"/>
            <a:ext cx="3363236" cy="327235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AA563FF-94AA-C4AC-B3BA-FEE80E5AB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182" y="1902029"/>
            <a:ext cx="3576320" cy="3461702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A9F1FD3-7AD2-FBFE-635F-50F75621DC49}"/>
              </a:ext>
            </a:extLst>
          </p:cNvPr>
          <p:cNvSpPr txBox="1"/>
          <p:nvPr/>
        </p:nvSpPr>
        <p:spPr>
          <a:xfrm>
            <a:off x="547378" y="1609261"/>
            <a:ext cx="4389396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latin typeface="+mj-lt"/>
              </a:rPr>
              <a:t>Cada LLM tiene su propia </a:t>
            </a:r>
            <a:r>
              <a:rPr lang="es-MX" sz="1400" dirty="0" err="1">
                <a:latin typeface="+mj-lt"/>
              </a:rPr>
              <a:t>tokenización</a:t>
            </a:r>
            <a:r>
              <a:rPr lang="es-MX" sz="1400" dirty="0">
                <a:latin typeface="+mj-lt"/>
              </a:rPr>
              <a:t>, pero en general, hay cuatro tipos de técnicas para </a:t>
            </a:r>
            <a:r>
              <a:rPr lang="es-MX" sz="1400" dirty="0" err="1">
                <a:latin typeface="+mj-lt"/>
              </a:rPr>
              <a:t>tokenizar</a:t>
            </a:r>
            <a:r>
              <a:rPr lang="es-MX" sz="1400" dirty="0">
                <a:latin typeface="+mj-lt"/>
              </a:rPr>
              <a:t>. Estas técnicas son:</a:t>
            </a:r>
          </a:p>
          <a:p>
            <a:endParaRPr lang="es-MX" sz="1400" b="1" i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sz="1400" b="1" i="1" dirty="0">
                <a:latin typeface="+mj-lt"/>
              </a:rPr>
              <a:t>Word Tokens:  </a:t>
            </a:r>
            <a:r>
              <a:rPr lang="es-MX" sz="1400" dirty="0">
                <a:latin typeface="+mj-lt"/>
              </a:rPr>
              <a:t>Cada palabra es un token. El problema aquí es que si hay nuevas palabras, no sabremos como identificarlas.</a:t>
            </a:r>
          </a:p>
          <a:p>
            <a:pPr marL="342900" indent="-342900">
              <a:buFont typeface="+mj-lt"/>
              <a:buAutoNum type="arabicPeriod"/>
            </a:pPr>
            <a:endParaRPr lang="es-MX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sz="1400" b="1" i="1" dirty="0" err="1">
                <a:latin typeface="+mj-lt"/>
              </a:rPr>
              <a:t>Subword</a:t>
            </a:r>
            <a:r>
              <a:rPr lang="es-MX" sz="1400" b="1" i="1" dirty="0">
                <a:latin typeface="+mj-lt"/>
              </a:rPr>
              <a:t> Tokens: </a:t>
            </a:r>
            <a:r>
              <a:rPr lang="es-MX" sz="1400" dirty="0">
                <a:latin typeface="+mj-lt"/>
              </a:rPr>
              <a:t>Método contiene palabras completas y parciales. Habilidad para representar nuevas palabras por romper las demás.</a:t>
            </a:r>
          </a:p>
          <a:p>
            <a:pPr marL="342900" indent="-342900">
              <a:buFont typeface="+mj-lt"/>
              <a:buAutoNum type="arabicPeriod"/>
            </a:pPr>
            <a:endParaRPr lang="es-MX" sz="1400" b="1" i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sz="1400" b="1" i="1" dirty="0" err="1">
                <a:latin typeface="+mj-lt"/>
              </a:rPr>
              <a:t>Character</a:t>
            </a:r>
            <a:r>
              <a:rPr lang="es-MX" sz="1400" b="1" i="1" dirty="0">
                <a:latin typeface="+mj-lt"/>
              </a:rPr>
              <a:t> Tokens</a:t>
            </a:r>
            <a:r>
              <a:rPr lang="es-MX" sz="1400" dirty="0">
                <a:latin typeface="+mj-lt"/>
              </a:rPr>
              <a:t>: Cada letra es un token, y es eficiente para buscar nuevas palabras.  El problema es que una palabra como </a:t>
            </a:r>
            <a:r>
              <a:rPr lang="es-MX" sz="1400" dirty="0" err="1">
                <a:latin typeface="+mj-lt"/>
              </a:rPr>
              <a:t>play</a:t>
            </a:r>
            <a:r>
              <a:rPr lang="es-MX" sz="1400" dirty="0">
                <a:latin typeface="+mj-lt"/>
              </a:rPr>
              <a:t>, puede significar cuatro tokens, entonces los modelos no entregan demasiado información.</a:t>
            </a:r>
          </a:p>
          <a:p>
            <a:pPr marL="342900" indent="-342900">
              <a:buFont typeface="+mj-lt"/>
              <a:buAutoNum type="arabicPeriod"/>
            </a:pPr>
            <a:endParaRPr lang="es-MX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sz="1400" b="1" i="1" dirty="0">
                <a:latin typeface="+mj-lt"/>
              </a:rPr>
              <a:t>Byte Tokens:  </a:t>
            </a:r>
            <a:r>
              <a:rPr lang="es-MX" sz="1400" dirty="0">
                <a:latin typeface="+mj-lt"/>
              </a:rPr>
              <a:t>Forma de representar Unicode </a:t>
            </a:r>
            <a:r>
              <a:rPr lang="es-MX" sz="1400" dirty="0" err="1">
                <a:latin typeface="+mj-lt"/>
              </a:rPr>
              <a:t>words</a:t>
            </a:r>
            <a:r>
              <a:rPr lang="es-MX" sz="1400" dirty="0"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s-MX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551E642-CBEC-4D8C-A4FF-B5EFD01B3DAF}"/>
              </a:ext>
            </a:extLst>
          </p:cNvPr>
          <p:cNvSpPr txBox="1"/>
          <p:nvPr/>
        </p:nvSpPr>
        <p:spPr>
          <a:xfrm>
            <a:off x="364498" y="63082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Nota:</a:t>
            </a:r>
            <a:r>
              <a:rPr lang="es-CL" dirty="0"/>
              <a:t> AI </a:t>
            </a:r>
            <a:r>
              <a:rPr lang="es-CL" dirty="0" err="1"/>
              <a:t>Engineering</a:t>
            </a:r>
            <a:r>
              <a:rPr lang="es-CL" dirty="0"/>
              <a:t>, Chip Huyen. (Book)</a:t>
            </a:r>
          </a:p>
        </p:txBody>
      </p:sp>
    </p:spTree>
    <p:extLst>
      <p:ext uri="{BB962C8B-B14F-4D97-AF65-F5344CB8AC3E}">
        <p14:creationId xmlns:p14="http://schemas.microsoft.com/office/powerpoint/2010/main" val="818927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3D2B7-80CB-737C-4764-D4FAE911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AFC22-B935-B2D9-E63C-BB890DA5B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311195"/>
            <a:ext cx="10515600" cy="1325563"/>
          </a:xfrm>
        </p:spPr>
        <p:txBody>
          <a:bodyPr/>
          <a:lstStyle/>
          <a:p>
            <a:r>
              <a:rPr lang="es-MX" b="1" i="1" dirty="0"/>
              <a:t>Embeddings</a:t>
            </a:r>
            <a:r>
              <a:rPr lang="es-MX" dirty="0"/>
              <a:t>: La representación del lenguaje en forma de números.</a:t>
            </a:r>
            <a:endParaRPr lang="es-CL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07A8565-2EA6-960F-95DA-CF6CBCCC3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45DAEFC-DEE5-5F4D-40F4-A21ACA8B2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774" y="1872953"/>
            <a:ext cx="6858000" cy="360045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5B00550-65EF-B0CF-7BCC-9F4FB6679A90}"/>
              </a:ext>
            </a:extLst>
          </p:cNvPr>
          <p:cNvSpPr txBox="1"/>
          <p:nvPr/>
        </p:nvSpPr>
        <p:spPr>
          <a:xfrm>
            <a:off x="620313" y="2242017"/>
            <a:ext cx="44901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latin typeface="+mj-lt"/>
              </a:rPr>
              <a:t> Token </a:t>
            </a:r>
            <a:r>
              <a:rPr lang="es-MX" sz="1800" dirty="0" err="1">
                <a:latin typeface="+mj-lt"/>
              </a:rPr>
              <a:t>embeddings</a:t>
            </a:r>
            <a:r>
              <a:rPr lang="es-MX" sz="1800" dirty="0">
                <a:latin typeface="+mj-lt"/>
              </a:rPr>
              <a:t> son matriz de números que representa el lenguaje, y que nos permiten construir predictores de la próxima palabras. </a:t>
            </a:r>
          </a:p>
          <a:p>
            <a:endParaRPr lang="es-MX" dirty="0">
              <a:latin typeface="+mj-lt"/>
            </a:endParaRPr>
          </a:p>
          <a:p>
            <a:r>
              <a:rPr lang="es-MX" dirty="0">
                <a:latin typeface="+mj-lt"/>
              </a:rPr>
              <a:t>Como cualquier computador, los modelos no procesan palabras, sino que números, entonces es necesario antes de trabajar con los inputs, transformarlos a un idioma que sean capaz de leer el algoritmo.</a:t>
            </a:r>
            <a:r>
              <a:rPr lang="es-MX" sz="1800" dirty="0">
                <a:latin typeface="+mj-lt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D87FFF3-772F-7014-A653-83C33FC86EDE}"/>
              </a:ext>
            </a:extLst>
          </p:cNvPr>
          <p:cNvSpPr txBox="1"/>
          <p:nvPr/>
        </p:nvSpPr>
        <p:spPr>
          <a:xfrm>
            <a:off x="364498" y="63082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Nota:</a:t>
            </a:r>
            <a:r>
              <a:rPr lang="es-CL" dirty="0"/>
              <a:t> AI </a:t>
            </a:r>
            <a:r>
              <a:rPr lang="es-CL" dirty="0" err="1"/>
              <a:t>Engineering</a:t>
            </a:r>
            <a:r>
              <a:rPr lang="es-CL" dirty="0"/>
              <a:t>, Chip Huyen. (Book)</a:t>
            </a:r>
          </a:p>
        </p:txBody>
      </p:sp>
    </p:spTree>
    <p:extLst>
      <p:ext uri="{BB962C8B-B14F-4D97-AF65-F5344CB8AC3E}">
        <p14:creationId xmlns:p14="http://schemas.microsoft.com/office/powerpoint/2010/main" val="266263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8BD6-115E-52A5-0F85-3B6B55C3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4EF3C-149D-BD6F-5453-0F277656A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53" y="455486"/>
            <a:ext cx="10515600" cy="1325563"/>
          </a:xfrm>
        </p:spPr>
        <p:txBody>
          <a:bodyPr>
            <a:normAutofit/>
          </a:bodyPr>
          <a:lstStyle/>
          <a:p>
            <a:r>
              <a:rPr lang="es-MX" dirty="0"/>
              <a:t>Token </a:t>
            </a:r>
            <a:r>
              <a:rPr lang="es-MX" dirty="0" err="1"/>
              <a:t>Embedding</a:t>
            </a:r>
            <a:r>
              <a:rPr lang="es-MX" dirty="0"/>
              <a:t>: </a:t>
            </a:r>
            <a:r>
              <a:rPr lang="es-MX" b="1" i="1" dirty="0"/>
              <a:t>¿Cómo crearlo?</a:t>
            </a:r>
            <a:br>
              <a:rPr lang="es-MX" b="1" i="1" dirty="0"/>
            </a:br>
            <a:endParaRPr lang="es-CL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DFFD6E77-9A16-9765-8FFC-1D7680971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F9360FC-6181-DC1F-D7E2-26BEA57BDB27}"/>
              </a:ext>
            </a:extLst>
          </p:cNvPr>
          <p:cNvSpPr txBox="1"/>
          <p:nvPr/>
        </p:nvSpPr>
        <p:spPr>
          <a:xfrm>
            <a:off x="584753" y="3368710"/>
            <a:ext cx="4490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1" dirty="0">
                <a:latin typeface="+mj-lt"/>
              </a:rPr>
              <a:t>Paso 1</a:t>
            </a:r>
            <a:r>
              <a:rPr lang="es-MX" sz="1800" dirty="0">
                <a:latin typeface="+mj-lt"/>
              </a:rPr>
              <a:t>: </a:t>
            </a:r>
            <a:r>
              <a:rPr lang="es-MX" sz="1800" dirty="0" err="1">
                <a:latin typeface="+mj-lt"/>
              </a:rPr>
              <a:t>Dataset</a:t>
            </a:r>
            <a:r>
              <a:rPr lang="es-MX" sz="1800" dirty="0">
                <a:latin typeface="+mj-lt"/>
              </a:rPr>
              <a:t> de millone</a:t>
            </a:r>
            <a:r>
              <a:rPr lang="es-MX" dirty="0">
                <a:latin typeface="+mj-lt"/>
              </a:rPr>
              <a:t>s de texto.</a:t>
            </a:r>
            <a:endParaRPr lang="es-MX" sz="1800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463B42-34FE-F168-BAA9-E6FA49001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3" y="1427936"/>
            <a:ext cx="4149807" cy="1905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5522B87-B0DD-F40C-C2B3-0DBE71A23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955" y="1508760"/>
            <a:ext cx="4063440" cy="226603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A8954F9-3A87-FA7F-F863-CB2EE0885DBF}"/>
              </a:ext>
            </a:extLst>
          </p:cNvPr>
          <p:cNvSpPr txBox="1"/>
          <p:nvPr/>
        </p:nvSpPr>
        <p:spPr>
          <a:xfrm>
            <a:off x="5474978" y="3781342"/>
            <a:ext cx="5182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1" dirty="0">
                <a:latin typeface="+mj-lt"/>
              </a:rPr>
              <a:t>Paso 2</a:t>
            </a:r>
            <a:r>
              <a:rPr lang="es-MX" sz="1800" dirty="0">
                <a:latin typeface="+mj-lt"/>
              </a:rPr>
              <a:t>:  Construir una forma que identifique si una palabra es cercana a una frase. </a:t>
            </a:r>
            <a:r>
              <a:rPr lang="es-MX" dirty="0">
                <a:latin typeface="+mj-lt"/>
              </a:rPr>
              <a:t>.</a:t>
            </a:r>
            <a:endParaRPr lang="es-MX" sz="1800" dirty="0">
              <a:latin typeface="+mj-lt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2CDA4DF-B4E9-685E-D172-9263B679E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776" y="4059236"/>
            <a:ext cx="2905760" cy="197591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880D3BC-4BCF-5BA4-F010-21B5BF96766E}"/>
              </a:ext>
            </a:extLst>
          </p:cNvPr>
          <p:cNvSpPr txBox="1"/>
          <p:nvPr/>
        </p:nvSpPr>
        <p:spPr>
          <a:xfrm>
            <a:off x="310172" y="6065746"/>
            <a:ext cx="5182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1" dirty="0">
                <a:latin typeface="+mj-lt"/>
              </a:rPr>
              <a:t>Paso 3</a:t>
            </a:r>
            <a:r>
              <a:rPr lang="es-MX" sz="1800" dirty="0">
                <a:latin typeface="+mj-lt"/>
              </a:rPr>
              <a:t>: Inicializar pesos aleatorios.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CBAAB48-F75A-E0F3-9FED-82AF97E92C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144" y="4537236"/>
            <a:ext cx="4778339" cy="120249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F527CE8-3873-ACAE-E6FB-64F1828C30F8}"/>
              </a:ext>
            </a:extLst>
          </p:cNvPr>
          <p:cNvSpPr txBox="1"/>
          <p:nvPr/>
        </p:nvSpPr>
        <p:spPr>
          <a:xfrm>
            <a:off x="5308244" y="5716025"/>
            <a:ext cx="51828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1" dirty="0">
                <a:latin typeface="+mj-lt"/>
              </a:rPr>
              <a:t>Paso 4</a:t>
            </a:r>
            <a:r>
              <a:rPr lang="es-MX" sz="1800" dirty="0">
                <a:latin typeface="+mj-lt"/>
              </a:rPr>
              <a:t>: Construir un modelo que prediga la variable objetivo, mediante el ajuste de los pesos de los </a:t>
            </a:r>
            <a:r>
              <a:rPr lang="es-MX" sz="1800" dirty="0" err="1">
                <a:latin typeface="+mj-lt"/>
              </a:rPr>
              <a:t>embeddings</a:t>
            </a:r>
            <a:endParaRPr lang="es-MX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2139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81506-C48A-E618-D5B9-6C7F2AD3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0F2DA-A655-D964-E6A3-DA582EFA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53" y="45548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Attention: </a:t>
            </a:r>
            <a:r>
              <a:rPr lang="en-US" i="1" dirty="0"/>
              <a:t>The clave para </a:t>
            </a:r>
            <a:r>
              <a:rPr lang="en-US" i="1" dirty="0" err="1"/>
              <a:t>los</a:t>
            </a:r>
            <a:r>
              <a:rPr lang="en-US" i="1" dirty="0"/>
              <a:t> LLMs.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BACEEE98-4F29-6B23-4D79-36DA55B61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A6FC79C-1B30-DCFC-46F1-32E29D1F9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93" y="1527049"/>
            <a:ext cx="6136087" cy="254679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8E25292-029D-8B3F-8332-7834113C573A}"/>
              </a:ext>
            </a:extLst>
          </p:cNvPr>
          <p:cNvSpPr txBox="1"/>
          <p:nvPr/>
        </p:nvSpPr>
        <p:spPr>
          <a:xfrm>
            <a:off x="532691" y="4073844"/>
            <a:ext cx="51828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i="1" dirty="0">
                <a:latin typeface="+mj-lt"/>
              </a:rPr>
              <a:t>Cuando hablamos, siempre nos referimos al pasado, pero no directamente, sino que usando adjetivos, u otras formas</a:t>
            </a:r>
            <a:r>
              <a:rPr lang="es-MX" sz="1800" dirty="0">
                <a:latin typeface="+mj-lt"/>
              </a:rPr>
              <a:t>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148ECC4-FA72-9BB1-2656-DCBF26808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538" y="1722122"/>
            <a:ext cx="5334709" cy="343852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DBDD4C1-AC39-0E88-20FE-C26F684C3578}"/>
              </a:ext>
            </a:extLst>
          </p:cNvPr>
          <p:cNvSpPr txBox="1"/>
          <p:nvPr/>
        </p:nvSpPr>
        <p:spPr>
          <a:xfrm>
            <a:off x="364498" y="63082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Nota:</a:t>
            </a:r>
            <a:r>
              <a:rPr lang="es-CL" dirty="0"/>
              <a:t> AI </a:t>
            </a:r>
            <a:r>
              <a:rPr lang="es-CL" dirty="0" err="1"/>
              <a:t>Engineering</a:t>
            </a:r>
            <a:r>
              <a:rPr lang="es-CL" dirty="0"/>
              <a:t>, Chip Huyen. (Book)</a:t>
            </a:r>
          </a:p>
        </p:txBody>
      </p:sp>
    </p:spTree>
    <p:extLst>
      <p:ext uri="{BB962C8B-B14F-4D97-AF65-F5344CB8AC3E}">
        <p14:creationId xmlns:p14="http://schemas.microsoft.com/office/powerpoint/2010/main" val="874364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FB69C-5B86-6EF3-A726-1AD89B7A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ED886-F57F-035B-5748-DC9C05783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53" y="45548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Attention: </a:t>
            </a:r>
            <a:r>
              <a:rPr lang="es-CL" b="1" dirty="0"/>
              <a:t>¿Cómo se calcula</a:t>
            </a:r>
            <a:r>
              <a:rPr lang="en-US" b="1" dirty="0"/>
              <a:t>?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B6EDD2E-6FCD-3B0D-432B-3929FD49E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8731B2-84BA-1B38-19F1-BDAB94D6E05E}"/>
              </a:ext>
            </a:extLst>
          </p:cNvPr>
          <p:cNvSpPr txBox="1"/>
          <p:nvPr/>
        </p:nvSpPr>
        <p:spPr>
          <a:xfrm>
            <a:off x="532691" y="4073844"/>
            <a:ext cx="51828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i="1" dirty="0">
                <a:latin typeface="+mj-lt"/>
              </a:rPr>
              <a:t>Cuando hablamos, siempre nos referimos al pasado, pero no directamente, sino que usando adjetivos, u otras formas</a:t>
            </a:r>
            <a:r>
              <a:rPr lang="es-MX" sz="1800" dirty="0">
                <a:latin typeface="+mj-lt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9C445D-354B-344E-B019-F2273A07E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8" y="1600202"/>
            <a:ext cx="6014720" cy="42291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F8CC43C-8DBA-E688-7A34-8C8B3AE97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76377"/>
            <a:ext cx="5760720" cy="447675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053671F-86D6-C739-010E-6BDCF6705C38}"/>
              </a:ext>
            </a:extLst>
          </p:cNvPr>
          <p:cNvSpPr txBox="1"/>
          <p:nvPr/>
        </p:nvSpPr>
        <p:spPr>
          <a:xfrm>
            <a:off x="364498" y="63082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i="1" dirty="0"/>
              <a:t>Nota:</a:t>
            </a:r>
            <a:r>
              <a:rPr lang="es-CL" dirty="0"/>
              <a:t> AI </a:t>
            </a:r>
            <a:r>
              <a:rPr lang="es-CL" dirty="0" err="1"/>
              <a:t>Engineering</a:t>
            </a:r>
            <a:r>
              <a:rPr lang="es-CL" dirty="0"/>
              <a:t>, Chip Huyen. (Book)</a:t>
            </a:r>
          </a:p>
        </p:txBody>
      </p:sp>
    </p:spTree>
    <p:extLst>
      <p:ext uri="{BB962C8B-B14F-4D97-AF65-F5344CB8AC3E}">
        <p14:creationId xmlns:p14="http://schemas.microsoft.com/office/powerpoint/2010/main" val="222661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68E1-889E-E69D-1CAC-62DCD4C6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C2396-FE47-E4D2-ABA5-614D94189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53" y="45548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Embeddings: </a:t>
            </a:r>
            <a:r>
              <a:rPr lang="en-US" i="1" dirty="0"/>
              <a:t>Una </a:t>
            </a:r>
            <a:r>
              <a:rPr lang="en-US" i="1" dirty="0" err="1"/>
              <a:t>representación</a:t>
            </a:r>
            <a:r>
              <a:rPr lang="en-US" i="1" dirty="0"/>
              <a:t> de </a:t>
            </a:r>
            <a:r>
              <a:rPr lang="en-US" i="1" dirty="0" err="1"/>
              <a:t>los</a:t>
            </a:r>
            <a:r>
              <a:rPr lang="en-US" i="1" dirty="0"/>
              <a:t> </a:t>
            </a:r>
            <a:r>
              <a:rPr lang="en-US" i="1" dirty="0" err="1"/>
              <a:t>datos</a:t>
            </a:r>
            <a:r>
              <a:rPr lang="en-US" b="1" dirty="0"/>
              <a:t>.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D6E62EC1-D547-B575-442E-2ABA92BAC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3EFE035-FFCC-D352-497C-7D8E7AFF99C9}"/>
              </a:ext>
            </a:extLst>
          </p:cNvPr>
          <p:cNvSpPr txBox="1"/>
          <p:nvPr/>
        </p:nvSpPr>
        <p:spPr>
          <a:xfrm>
            <a:off x="5817151" y="2169721"/>
            <a:ext cx="55032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i="1" dirty="0">
                <a:latin typeface="+mj-lt"/>
              </a:rPr>
              <a:t>Los </a:t>
            </a:r>
            <a:r>
              <a:rPr lang="es-MX" i="1" dirty="0" err="1">
                <a:latin typeface="+mj-lt"/>
              </a:rPr>
              <a:t>embeddings</a:t>
            </a:r>
            <a:r>
              <a:rPr lang="es-MX" i="1" dirty="0">
                <a:latin typeface="+mj-lt"/>
              </a:rPr>
              <a:t> son representación del lenguaje, y su semejanza con las palabras hace que podamos usar formulas matemáticas para encontrar su diferencias y similitudes. </a:t>
            </a:r>
          </a:p>
          <a:p>
            <a:endParaRPr lang="es-MX" i="1" dirty="0">
              <a:latin typeface="+mj-lt"/>
            </a:endParaRPr>
          </a:p>
          <a:p>
            <a:r>
              <a:rPr lang="es-MX" b="1" i="1" dirty="0">
                <a:latin typeface="+mj-lt"/>
              </a:rPr>
              <a:t>Distancia Coseno</a:t>
            </a:r>
          </a:p>
        </p:txBody>
      </p:sp>
      <p:pic>
        <p:nvPicPr>
          <p:cNvPr id="1030" name="Picture 6" descr="From ContE to Entity Type Embeddings in Natural Language Processing | by  Edward Ma | Towards AI">
            <a:extLst>
              <a:ext uri="{FF2B5EF4-FFF2-40B4-BE49-F238E27FC236}">
                <a16:creationId xmlns:a16="http://schemas.microsoft.com/office/drawing/2014/main" id="{6D87187D-DD06-3338-CDEA-55CA9019C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647" y="4234836"/>
            <a:ext cx="3253863" cy="240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7780F3-968E-2C5C-04CD-0B59657B4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647" y="1703167"/>
            <a:ext cx="3445347" cy="2609552"/>
          </a:xfrm>
          <a:prstGeom prst="rect">
            <a:avLst/>
          </a:prstGeom>
        </p:spPr>
      </p:pic>
      <p:pic>
        <p:nvPicPr>
          <p:cNvPr id="1032" name="Picture 8" descr="Cómo funciona un buscador como Google? - Parte II: Cálculo de relevancia">
            <a:extLst>
              <a:ext uri="{FF2B5EF4-FFF2-40B4-BE49-F238E27FC236}">
                <a16:creationId xmlns:a16="http://schemas.microsoft.com/office/drawing/2014/main" id="{F657FFC0-CC14-CC86-AFB7-F781B91C7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151" y="3924047"/>
            <a:ext cx="43148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366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5DD01-C5EC-C431-D0C2-49FA283D4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D5F8349F-2B5F-09C6-9164-386E03AA8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9C5D909B-B069-B9BD-0064-94A46B959200}"/>
              </a:ext>
            </a:extLst>
          </p:cNvPr>
          <p:cNvSpPr txBox="1">
            <a:spLocks/>
          </p:cNvSpPr>
          <p:nvPr/>
        </p:nvSpPr>
        <p:spPr>
          <a:xfrm>
            <a:off x="776523" y="615878"/>
            <a:ext cx="101950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i="1" dirty="0"/>
              <a:t> </a:t>
            </a:r>
            <a:endParaRPr lang="es-CL" i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D6548F-7001-D0AF-54C0-6245C9B4C8F3}"/>
              </a:ext>
            </a:extLst>
          </p:cNvPr>
          <p:cNvSpPr txBox="1">
            <a:spLocks/>
          </p:cNvSpPr>
          <p:nvPr/>
        </p:nvSpPr>
        <p:spPr>
          <a:xfrm>
            <a:off x="918762" y="-50800"/>
            <a:ext cx="107045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i="1" dirty="0"/>
              <a:t>¿Cuáles son las empresas detrás de los </a:t>
            </a:r>
            <a:r>
              <a:rPr lang="es-MX" sz="3200" i="1" dirty="0" err="1"/>
              <a:t>foundation</a:t>
            </a:r>
            <a:r>
              <a:rPr lang="es-MX" sz="3200" i="1" dirty="0"/>
              <a:t> </a:t>
            </a:r>
            <a:r>
              <a:rPr lang="es-MX" sz="3200" i="1" dirty="0" err="1"/>
              <a:t>models</a:t>
            </a:r>
            <a:r>
              <a:rPr lang="es-MX" sz="3200" i="1" dirty="0"/>
              <a:t>?</a:t>
            </a:r>
            <a:endParaRPr lang="es-CL" sz="3200" i="1" dirty="0"/>
          </a:p>
        </p:txBody>
      </p:sp>
      <p:pic>
        <p:nvPicPr>
          <p:cNvPr id="12290" name="Picture 2" descr="Unveiling the Powerhouse: A Comprehensive Look at Meta's Llama 3 Language  Models | by Anoop Maurya | GoPenAI">
            <a:extLst>
              <a:ext uri="{FF2B5EF4-FFF2-40B4-BE49-F238E27FC236}">
                <a16:creationId xmlns:a16="http://schemas.microsoft.com/office/drawing/2014/main" id="{07D2578E-C8E6-D940-78DF-6B73001E5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5" y="1127850"/>
            <a:ext cx="3198346" cy="268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OpenAI Announces Major Expansion of ...">
            <a:extLst>
              <a:ext uri="{FF2B5EF4-FFF2-40B4-BE49-F238E27FC236}">
                <a16:creationId xmlns:a16="http://schemas.microsoft.com/office/drawing/2014/main" id="{3DF4CA51-95ED-0746-42C6-4A597A8F9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5" y="3926473"/>
            <a:ext cx="3162581" cy="268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Who is the Genius Mind behind Claude AI ...">
            <a:extLst>
              <a:ext uri="{FF2B5EF4-FFF2-40B4-BE49-F238E27FC236}">
                <a16:creationId xmlns:a16="http://schemas.microsoft.com/office/drawing/2014/main" id="{DB60C868-18DD-CAAA-8175-22B34A0A7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052" y="1127850"/>
            <a:ext cx="3234110" cy="268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DeepMind CEO Demis Hassabis Says Today ...">
            <a:extLst>
              <a:ext uri="{FF2B5EF4-FFF2-40B4-BE49-F238E27FC236}">
                <a16:creationId xmlns:a16="http://schemas.microsoft.com/office/drawing/2014/main" id="{DBBAB897-B659-60BE-BE49-D8510EAA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051" y="3926473"/>
            <a:ext cx="3234109" cy="268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67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B08D-7F98-E6EF-1742-710FBB48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31B03F7-D2E1-CAF3-8F21-AED94016E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2D5495C4-07BA-B2E0-B730-2CD10825C327}"/>
              </a:ext>
            </a:extLst>
          </p:cNvPr>
          <p:cNvSpPr txBox="1">
            <a:spLocks/>
          </p:cNvSpPr>
          <p:nvPr/>
        </p:nvSpPr>
        <p:spPr>
          <a:xfrm>
            <a:off x="776523" y="615878"/>
            <a:ext cx="101950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i="1" dirty="0"/>
              <a:t> </a:t>
            </a:r>
            <a:endParaRPr lang="es-CL" i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8DBFB-7468-46BE-91E7-C7D72A932554}"/>
              </a:ext>
            </a:extLst>
          </p:cNvPr>
          <p:cNvSpPr txBox="1">
            <a:spLocks/>
          </p:cNvSpPr>
          <p:nvPr/>
        </p:nvSpPr>
        <p:spPr>
          <a:xfrm>
            <a:off x="989606" y="129975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i="1" dirty="0"/>
              <a:t>¿Cuáles son las empresas detrás de los </a:t>
            </a:r>
            <a:r>
              <a:rPr lang="es-MX" sz="3200" i="1" dirty="0" err="1"/>
              <a:t>foundation</a:t>
            </a:r>
            <a:r>
              <a:rPr lang="es-MX" sz="3200" i="1" dirty="0"/>
              <a:t> </a:t>
            </a:r>
            <a:r>
              <a:rPr lang="es-MX" sz="3200" i="1" dirty="0" err="1"/>
              <a:t>model</a:t>
            </a:r>
            <a:r>
              <a:rPr lang="es-MX" sz="3200" i="1" dirty="0"/>
              <a:t>?</a:t>
            </a:r>
            <a:endParaRPr lang="es-CL" sz="3200" i="1" dirty="0"/>
          </a:p>
        </p:txBody>
      </p:sp>
      <p:pic>
        <p:nvPicPr>
          <p:cNvPr id="12290" name="Picture 2" descr="Unveiling the Powerhouse: A Comprehensive Look at Meta's Llama 3 Language  Models | by Anoop Maurya | GoPenAI">
            <a:extLst>
              <a:ext uri="{FF2B5EF4-FFF2-40B4-BE49-F238E27FC236}">
                <a16:creationId xmlns:a16="http://schemas.microsoft.com/office/drawing/2014/main" id="{74B73B5B-3356-BFFB-A89A-ACD3219E3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5" y="1127850"/>
            <a:ext cx="3198346" cy="268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OpenAI Announces Major Expansion of ...">
            <a:extLst>
              <a:ext uri="{FF2B5EF4-FFF2-40B4-BE49-F238E27FC236}">
                <a16:creationId xmlns:a16="http://schemas.microsoft.com/office/drawing/2014/main" id="{67BA0410-283B-7A55-90F9-63D6AC3FE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5" y="3926473"/>
            <a:ext cx="3162581" cy="268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Who is the Genius Mind behind Claude AI ...">
            <a:extLst>
              <a:ext uri="{FF2B5EF4-FFF2-40B4-BE49-F238E27FC236}">
                <a16:creationId xmlns:a16="http://schemas.microsoft.com/office/drawing/2014/main" id="{C55C4D92-4AE7-E227-9F6F-CB0D4B2E6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052" y="1127850"/>
            <a:ext cx="3234110" cy="268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DeepMind CEO Demis Hassabis Says Today ...">
            <a:extLst>
              <a:ext uri="{FF2B5EF4-FFF2-40B4-BE49-F238E27FC236}">
                <a16:creationId xmlns:a16="http://schemas.microsoft.com/office/drawing/2014/main" id="{6582B4C1-F697-EE5D-0623-E7E36B456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051" y="3926473"/>
            <a:ext cx="3234109" cy="268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768E299-3328-A27B-3A6C-D8B9DD3629B3}"/>
              </a:ext>
            </a:extLst>
          </p:cNvPr>
          <p:cNvSpPr txBox="1">
            <a:spLocks/>
          </p:cNvSpPr>
          <p:nvPr/>
        </p:nvSpPr>
        <p:spPr>
          <a:xfrm>
            <a:off x="-3517649" y="2059693"/>
            <a:ext cx="9283700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L" sz="2800" b="1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ED0840-4A8D-12BB-A8DB-216C47AC30A2}"/>
              </a:ext>
            </a:extLst>
          </p:cNvPr>
          <p:cNvSpPr txBox="1"/>
          <p:nvPr/>
        </p:nvSpPr>
        <p:spPr>
          <a:xfrm>
            <a:off x="485454" y="2320833"/>
            <a:ext cx="7854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Mark Zuckerberg.</a:t>
            </a:r>
          </a:p>
          <a:p>
            <a:r>
              <a:rPr lang="es-CL" b="1" dirty="0"/>
              <a:t>Meta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ED8018B-A7DD-6918-68C8-5CC7F64C6E3E}"/>
              </a:ext>
            </a:extLst>
          </p:cNvPr>
          <p:cNvSpPr txBox="1"/>
          <p:nvPr/>
        </p:nvSpPr>
        <p:spPr>
          <a:xfrm>
            <a:off x="9239036" y="2242678"/>
            <a:ext cx="7854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Dario</a:t>
            </a:r>
            <a:r>
              <a:rPr lang="es-CL" dirty="0"/>
              <a:t> </a:t>
            </a:r>
            <a:r>
              <a:rPr lang="es-CL" dirty="0" err="1"/>
              <a:t>Amodei</a:t>
            </a:r>
            <a:endParaRPr lang="es-CL" dirty="0"/>
          </a:p>
          <a:p>
            <a:r>
              <a:rPr lang="es-CL" b="1" dirty="0" err="1"/>
              <a:t>Founder</a:t>
            </a:r>
            <a:r>
              <a:rPr lang="es-CL" b="1" dirty="0"/>
              <a:t>/CEO </a:t>
            </a:r>
            <a:r>
              <a:rPr lang="es-CL" b="1" dirty="0" err="1"/>
              <a:t>Anthropic</a:t>
            </a:r>
            <a:endParaRPr lang="es-CL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13D44C-57B3-C08C-C065-62442EB07F82}"/>
              </a:ext>
            </a:extLst>
          </p:cNvPr>
          <p:cNvSpPr txBox="1"/>
          <p:nvPr/>
        </p:nvSpPr>
        <p:spPr>
          <a:xfrm>
            <a:off x="613561" y="4979529"/>
            <a:ext cx="10304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Sam Altman</a:t>
            </a:r>
          </a:p>
          <a:p>
            <a:r>
              <a:rPr lang="es-CL" b="1" dirty="0" err="1"/>
              <a:t>OpenAI</a:t>
            </a:r>
            <a:endParaRPr lang="es-CL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71E852E-EEEA-5953-227D-F84077FC81EA}"/>
              </a:ext>
            </a:extLst>
          </p:cNvPr>
          <p:cNvSpPr txBox="1"/>
          <p:nvPr/>
        </p:nvSpPr>
        <p:spPr>
          <a:xfrm>
            <a:off x="9166815" y="4658130"/>
            <a:ext cx="10304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Demis</a:t>
            </a:r>
            <a:r>
              <a:rPr lang="es-CL" dirty="0"/>
              <a:t> </a:t>
            </a:r>
            <a:r>
              <a:rPr lang="es-CL" dirty="0" err="1"/>
              <a:t>Hassabis</a:t>
            </a:r>
            <a:r>
              <a:rPr lang="es-CL" dirty="0"/>
              <a:t>.</a:t>
            </a:r>
          </a:p>
          <a:p>
            <a:r>
              <a:rPr lang="es-CL" b="1" dirty="0"/>
              <a:t>Google </a:t>
            </a:r>
            <a:r>
              <a:rPr lang="es-CL" b="1" dirty="0" err="1"/>
              <a:t>DeepMind</a:t>
            </a:r>
            <a:endParaRPr lang="es-CL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D689AC3-D23A-43CB-BE87-4AAFE1DC7046}"/>
              </a:ext>
            </a:extLst>
          </p:cNvPr>
          <p:cNvSpPr txBox="1"/>
          <p:nvPr/>
        </p:nvSpPr>
        <p:spPr>
          <a:xfrm>
            <a:off x="9166815" y="5260118"/>
            <a:ext cx="114916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AlphaFold</a:t>
            </a:r>
            <a:endParaRPr lang="es-CL" dirty="0"/>
          </a:p>
          <a:p>
            <a:r>
              <a:rPr lang="es-CL" sz="1600" dirty="0"/>
              <a:t>Premio Nobel de Química 2024</a:t>
            </a:r>
          </a:p>
        </p:txBody>
      </p:sp>
    </p:spTree>
    <p:extLst>
      <p:ext uri="{BB962C8B-B14F-4D97-AF65-F5344CB8AC3E}">
        <p14:creationId xmlns:p14="http://schemas.microsoft.com/office/powerpoint/2010/main" val="2752245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6A3D-96FE-356C-F62B-243EB348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A7F7D52-4346-8C8D-8A8B-C6DFE4B12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C11647BE-C5B8-2EDE-5437-A9A8C567CC90}"/>
              </a:ext>
            </a:extLst>
          </p:cNvPr>
          <p:cNvSpPr txBox="1">
            <a:spLocks/>
          </p:cNvSpPr>
          <p:nvPr/>
        </p:nvSpPr>
        <p:spPr>
          <a:xfrm>
            <a:off x="776523" y="615878"/>
            <a:ext cx="101950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i="1" dirty="0"/>
              <a:t> </a:t>
            </a:r>
            <a:endParaRPr lang="es-CL" i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1F08B2-7D4C-6228-D82F-0C3370E8AA42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i="1" dirty="0"/>
              <a:t>¿Cómo ha sido la evolución en los últimos tres años?</a:t>
            </a:r>
            <a:endParaRPr lang="es-CL" sz="3200" i="1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0A0EDB6-A683-E0B3-2E1D-643E25C71AD6}"/>
              </a:ext>
            </a:extLst>
          </p:cNvPr>
          <p:cNvSpPr txBox="1">
            <a:spLocks/>
          </p:cNvSpPr>
          <p:nvPr/>
        </p:nvSpPr>
        <p:spPr>
          <a:xfrm>
            <a:off x="-3517649" y="2059693"/>
            <a:ext cx="9283700" cy="1512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L" sz="2800" b="1" i="1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FDC3E35-C62A-ED4A-9B58-99CE26C8DEDA}"/>
              </a:ext>
            </a:extLst>
          </p:cNvPr>
          <p:cNvCxnSpPr>
            <a:cxnSpLocks/>
          </p:cNvCxnSpPr>
          <p:nvPr/>
        </p:nvCxnSpPr>
        <p:spPr>
          <a:xfrm>
            <a:off x="2349227" y="4054068"/>
            <a:ext cx="7035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BC50EFF3-7D7F-E19D-6D98-6A0357329681}"/>
              </a:ext>
            </a:extLst>
          </p:cNvPr>
          <p:cNvSpPr txBox="1">
            <a:spLocks/>
          </p:cNvSpPr>
          <p:nvPr/>
        </p:nvSpPr>
        <p:spPr>
          <a:xfrm>
            <a:off x="1980785" y="2590586"/>
            <a:ext cx="665397" cy="52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2022</a:t>
            </a:r>
            <a:endParaRPr lang="es-CL" sz="1800" b="1" i="1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7EF63D6-D2C3-1DD6-8B64-8B900E7F4EA6}"/>
              </a:ext>
            </a:extLst>
          </p:cNvPr>
          <p:cNvCxnSpPr>
            <a:cxnSpLocks/>
          </p:cNvCxnSpPr>
          <p:nvPr/>
        </p:nvCxnSpPr>
        <p:spPr>
          <a:xfrm flipV="1">
            <a:off x="2313484" y="3051424"/>
            <a:ext cx="0" cy="1002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125C5256-EEEC-7BCD-FA5E-A18300080F90}"/>
              </a:ext>
            </a:extLst>
          </p:cNvPr>
          <p:cNvSpPr txBox="1">
            <a:spLocks/>
          </p:cNvSpPr>
          <p:nvPr/>
        </p:nvSpPr>
        <p:spPr>
          <a:xfrm>
            <a:off x="3253478" y="3882430"/>
            <a:ext cx="1231450" cy="1984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i="1" dirty="0"/>
              <a:t>Modelos Multi Modal. (Video, texto, imagen)</a:t>
            </a:r>
          </a:p>
          <a:p>
            <a:endParaRPr lang="es-MX" sz="1400" i="1" dirty="0"/>
          </a:p>
          <a:p>
            <a:r>
              <a:rPr lang="es-MX" sz="1400" i="1" dirty="0"/>
              <a:t>Fine </a:t>
            </a:r>
            <a:r>
              <a:rPr lang="es-MX" sz="1400" i="1" dirty="0" err="1"/>
              <a:t>tunning</a:t>
            </a:r>
            <a:endParaRPr lang="es-MX" sz="1400" i="1" dirty="0"/>
          </a:p>
          <a:p>
            <a:endParaRPr lang="es-MX" sz="1400" i="1" dirty="0"/>
          </a:p>
          <a:p>
            <a:r>
              <a:rPr lang="es-MX" sz="1400" i="1" dirty="0"/>
              <a:t>RAG</a:t>
            </a:r>
            <a:endParaRPr lang="es-CL" sz="1400" i="1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A1C9DC0-650D-C559-186B-2AFC88F62446}"/>
              </a:ext>
            </a:extLst>
          </p:cNvPr>
          <p:cNvCxnSpPr>
            <a:cxnSpLocks/>
          </p:cNvCxnSpPr>
          <p:nvPr/>
        </p:nvCxnSpPr>
        <p:spPr>
          <a:xfrm flipV="1">
            <a:off x="3863169" y="3051424"/>
            <a:ext cx="0" cy="1002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ítulo 1">
            <a:extLst>
              <a:ext uri="{FF2B5EF4-FFF2-40B4-BE49-F238E27FC236}">
                <a16:creationId xmlns:a16="http://schemas.microsoft.com/office/drawing/2014/main" id="{33F52FA8-DD76-7EA7-B3FB-4A49816AAB46}"/>
              </a:ext>
            </a:extLst>
          </p:cNvPr>
          <p:cNvSpPr txBox="1">
            <a:spLocks/>
          </p:cNvSpPr>
          <p:nvPr/>
        </p:nvSpPr>
        <p:spPr>
          <a:xfrm>
            <a:off x="3520196" y="2580833"/>
            <a:ext cx="665397" cy="52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2023</a:t>
            </a:r>
            <a:endParaRPr lang="es-CL" sz="1800" b="1" i="1" dirty="0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ACEF6A1A-0FE2-5B11-0588-F0ACE345B1BE}"/>
              </a:ext>
            </a:extLst>
          </p:cNvPr>
          <p:cNvSpPr txBox="1">
            <a:spLocks/>
          </p:cNvSpPr>
          <p:nvPr/>
        </p:nvSpPr>
        <p:spPr>
          <a:xfrm>
            <a:off x="1829611" y="4135064"/>
            <a:ext cx="1231450" cy="1037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i="1" dirty="0" err="1"/>
              <a:t>OpenAI</a:t>
            </a:r>
            <a:r>
              <a:rPr lang="es-MX" sz="1400" i="1" dirty="0"/>
              <a:t> Lanzamiento de </a:t>
            </a:r>
            <a:r>
              <a:rPr lang="es-MX" sz="1400" i="1" dirty="0" err="1"/>
              <a:t>ChatGPT</a:t>
            </a:r>
            <a:endParaRPr lang="es-MX" sz="1400" i="1" dirty="0"/>
          </a:p>
          <a:p>
            <a:pPr algn="ctr"/>
            <a:endParaRPr lang="es-MX" sz="1400" i="1" dirty="0"/>
          </a:p>
          <a:p>
            <a:pPr algn="ctr"/>
            <a:r>
              <a:rPr lang="es-MX" sz="1400" b="1" i="1" dirty="0"/>
              <a:t>Generador de texto.</a:t>
            </a:r>
            <a:endParaRPr lang="es-CL" sz="1400" b="1" i="1" dirty="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B85D31E2-D484-657B-671E-26EEA3A88A30}"/>
              </a:ext>
            </a:extLst>
          </p:cNvPr>
          <p:cNvSpPr txBox="1">
            <a:spLocks/>
          </p:cNvSpPr>
          <p:nvPr/>
        </p:nvSpPr>
        <p:spPr>
          <a:xfrm>
            <a:off x="4934304" y="2568844"/>
            <a:ext cx="665397" cy="52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2024</a:t>
            </a:r>
            <a:endParaRPr lang="es-CL" sz="1800" b="1" i="1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A81DC19-93DE-154A-8C75-FE6AFCAE680F}"/>
              </a:ext>
            </a:extLst>
          </p:cNvPr>
          <p:cNvCxnSpPr>
            <a:cxnSpLocks/>
          </p:cNvCxnSpPr>
          <p:nvPr/>
        </p:nvCxnSpPr>
        <p:spPr>
          <a:xfrm flipV="1">
            <a:off x="5267002" y="3030876"/>
            <a:ext cx="0" cy="1002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ítulo 1">
            <a:extLst>
              <a:ext uri="{FF2B5EF4-FFF2-40B4-BE49-F238E27FC236}">
                <a16:creationId xmlns:a16="http://schemas.microsoft.com/office/drawing/2014/main" id="{ABEEBBC8-1944-8EF7-8A99-AC015CF10EF6}"/>
              </a:ext>
            </a:extLst>
          </p:cNvPr>
          <p:cNvSpPr txBox="1">
            <a:spLocks/>
          </p:cNvSpPr>
          <p:nvPr/>
        </p:nvSpPr>
        <p:spPr>
          <a:xfrm>
            <a:off x="4677345" y="3963229"/>
            <a:ext cx="1231450" cy="7306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i="1" dirty="0"/>
              <a:t>Agentes de AI</a:t>
            </a:r>
            <a:endParaRPr lang="es-CL" sz="1400" i="1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9FD962F-0EB9-0696-F0B2-0B0644F7204E}"/>
              </a:ext>
            </a:extLst>
          </p:cNvPr>
          <p:cNvCxnSpPr>
            <a:cxnSpLocks/>
          </p:cNvCxnSpPr>
          <p:nvPr/>
        </p:nvCxnSpPr>
        <p:spPr>
          <a:xfrm flipV="1">
            <a:off x="6487914" y="3030876"/>
            <a:ext cx="0" cy="1002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7AC5A26A-160B-C856-E05B-3A0453F623A5}"/>
              </a:ext>
            </a:extLst>
          </p:cNvPr>
          <p:cNvSpPr txBox="1">
            <a:spLocks/>
          </p:cNvSpPr>
          <p:nvPr/>
        </p:nvSpPr>
        <p:spPr>
          <a:xfrm>
            <a:off x="5867226" y="2558583"/>
            <a:ext cx="1231450" cy="538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2025- 2026</a:t>
            </a:r>
            <a:endParaRPr lang="es-CL" sz="1800" b="1" i="1" dirty="0"/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E9E5CEC6-D74F-0E6E-1313-793D58E1A3C8}"/>
              </a:ext>
            </a:extLst>
          </p:cNvPr>
          <p:cNvSpPr txBox="1">
            <a:spLocks/>
          </p:cNvSpPr>
          <p:nvPr/>
        </p:nvSpPr>
        <p:spPr>
          <a:xfrm>
            <a:off x="6039749" y="4098175"/>
            <a:ext cx="1231450" cy="1167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i="1" dirty="0"/>
              <a:t>Agentes Autónomos </a:t>
            </a:r>
          </a:p>
          <a:p>
            <a:r>
              <a:rPr lang="es-MX" sz="1400" i="1" dirty="0"/>
              <a:t>+</a:t>
            </a:r>
          </a:p>
          <a:p>
            <a:r>
              <a:rPr lang="es-MX" sz="1400" i="1" dirty="0"/>
              <a:t>Robótica </a:t>
            </a:r>
          </a:p>
          <a:p>
            <a:r>
              <a:rPr lang="es-MX" sz="1400" i="1" dirty="0" err="1"/>
              <a:t>IoT</a:t>
            </a:r>
            <a:endParaRPr lang="es-CL" sz="1400" i="1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A78F51BB-54A9-3B8B-14D8-EA0437B8DDC5}"/>
              </a:ext>
            </a:extLst>
          </p:cNvPr>
          <p:cNvCxnSpPr>
            <a:cxnSpLocks/>
          </p:cNvCxnSpPr>
          <p:nvPr/>
        </p:nvCxnSpPr>
        <p:spPr>
          <a:xfrm flipV="1">
            <a:off x="8171164" y="3051424"/>
            <a:ext cx="0" cy="1002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846F3AE6-E19B-0A03-B96E-CE2542303FDC}"/>
              </a:ext>
            </a:extLst>
          </p:cNvPr>
          <p:cNvSpPr txBox="1">
            <a:spLocks/>
          </p:cNvSpPr>
          <p:nvPr/>
        </p:nvSpPr>
        <p:spPr>
          <a:xfrm>
            <a:off x="7453523" y="3907014"/>
            <a:ext cx="1405583" cy="1493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b="1" dirty="0"/>
              <a:t>AGI</a:t>
            </a:r>
          </a:p>
          <a:p>
            <a:pPr algn="ctr"/>
            <a:r>
              <a:rPr lang="es-CL" sz="1400" b="1" dirty="0"/>
              <a:t>Artificial General </a:t>
            </a:r>
            <a:r>
              <a:rPr lang="es-CL" sz="1400" b="1" dirty="0" err="1"/>
              <a:t>Intelligence</a:t>
            </a:r>
            <a:endParaRPr lang="es-CL" sz="1400" b="1" dirty="0"/>
          </a:p>
          <a:p>
            <a:pPr algn="ctr"/>
            <a:endParaRPr lang="es-CL" sz="1400" b="1" dirty="0"/>
          </a:p>
          <a:p>
            <a:pPr algn="ctr"/>
            <a:endParaRPr lang="es-CL" sz="1400" b="1" dirty="0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9A21835F-AF3C-A761-FB4E-9CEF3EB53FDC}"/>
              </a:ext>
            </a:extLst>
          </p:cNvPr>
          <p:cNvSpPr txBox="1">
            <a:spLocks/>
          </p:cNvSpPr>
          <p:nvPr/>
        </p:nvSpPr>
        <p:spPr>
          <a:xfrm>
            <a:off x="7555439" y="2534629"/>
            <a:ext cx="1231450" cy="538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b="1" i="1" dirty="0"/>
              <a:t>X</a:t>
            </a:r>
            <a:endParaRPr lang="es-CL" sz="1800" b="1" i="1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46B2255-6BA4-5136-66A5-4E448000A015}"/>
              </a:ext>
            </a:extLst>
          </p:cNvPr>
          <p:cNvCxnSpPr/>
          <p:nvPr/>
        </p:nvCxnSpPr>
        <p:spPr>
          <a:xfrm>
            <a:off x="7402153" y="2098762"/>
            <a:ext cx="0" cy="36165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564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1BF0-E2F9-34FA-7A0F-0C7B3857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777F897-719B-7D9F-4FFF-0B218F781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E00DD7D8-D179-55F1-AECF-4C1EF39FFD7D}"/>
              </a:ext>
            </a:extLst>
          </p:cNvPr>
          <p:cNvSpPr txBox="1">
            <a:spLocks/>
          </p:cNvSpPr>
          <p:nvPr/>
        </p:nvSpPr>
        <p:spPr>
          <a:xfrm>
            <a:off x="776523" y="615878"/>
            <a:ext cx="101950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i="1" dirty="0"/>
              <a:t> </a:t>
            </a:r>
            <a:endParaRPr lang="es-CL" i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90BC28-B51F-37B1-27B9-4213CA8141E4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D4A6A0F-EF7D-E949-EAFC-621DB189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894"/>
            <a:ext cx="10515600" cy="1325563"/>
          </a:xfrm>
        </p:spPr>
        <p:txBody>
          <a:bodyPr/>
          <a:lstStyle/>
          <a:p>
            <a:r>
              <a:rPr lang="es-MX" b="1" i="1" dirty="0"/>
              <a:t>¿Dónde aprender?:  </a:t>
            </a:r>
            <a:r>
              <a:rPr lang="es-MX" i="1" dirty="0"/>
              <a:t>Mucho ruido </a:t>
            </a:r>
            <a:endParaRPr lang="es-CL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5E2E20F-66F9-79D4-F755-947BEB3B3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674" y="1492130"/>
            <a:ext cx="3164441" cy="252956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17C1978-A93D-86DF-7C10-65998487E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389" y="1459618"/>
            <a:ext cx="2871144" cy="252956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6CCC99C-4C68-B7BA-19B4-2E1E8AB05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399" y="4018599"/>
            <a:ext cx="3164442" cy="252956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257961F8-8AF4-890B-4EC3-0E411ED91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115" y="4018599"/>
            <a:ext cx="2871144" cy="2529560"/>
          </a:xfrm>
          <a:prstGeom prst="rect">
            <a:avLst/>
          </a:prstGeom>
        </p:spPr>
      </p:pic>
      <p:sp>
        <p:nvSpPr>
          <p:cNvPr id="32" name="Título 1">
            <a:extLst>
              <a:ext uri="{FF2B5EF4-FFF2-40B4-BE49-F238E27FC236}">
                <a16:creationId xmlns:a16="http://schemas.microsoft.com/office/drawing/2014/main" id="{77D20C6C-258F-331F-29DD-43DB584CE740}"/>
              </a:ext>
            </a:extLst>
          </p:cNvPr>
          <p:cNvSpPr txBox="1">
            <a:spLocks/>
          </p:cNvSpPr>
          <p:nvPr/>
        </p:nvSpPr>
        <p:spPr>
          <a:xfrm>
            <a:off x="838200" y="1774103"/>
            <a:ext cx="4198843" cy="4629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i="1" dirty="0"/>
              <a:t>En clases. Aprovechen </a:t>
            </a:r>
          </a:p>
          <a:p>
            <a:r>
              <a:rPr lang="es-MX" sz="2400" i="1" dirty="0"/>
              <a:t>de preguntar. Sino lo se, lo intentaré averiguar, y volveré con ustedes.</a:t>
            </a:r>
          </a:p>
          <a:p>
            <a:endParaRPr lang="es-MX" sz="24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i="1" dirty="0"/>
              <a:t>Vean </a:t>
            </a:r>
            <a:r>
              <a:rPr lang="es-MX" sz="2400" i="1" dirty="0" err="1"/>
              <a:t>Anthropic</a:t>
            </a:r>
            <a:r>
              <a:rPr lang="es-MX" sz="2400" i="1" dirty="0"/>
              <a:t>, </a:t>
            </a:r>
            <a:r>
              <a:rPr lang="es-MX" sz="2400" i="1" dirty="0" err="1"/>
              <a:t>deeplearning</a:t>
            </a:r>
            <a:r>
              <a:rPr lang="es-MX" sz="2400" i="1" dirty="0"/>
              <a:t>, </a:t>
            </a:r>
            <a:r>
              <a:rPr lang="es-MX" sz="2400" i="1" dirty="0" err="1"/>
              <a:t>langchain</a:t>
            </a:r>
            <a:r>
              <a:rPr lang="es-MX" sz="2400" i="1" dirty="0"/>
              <a:t>, Harvard </a:t>
            </a:r>
            <a:r>
              <a:rPr lang="es-MX" sz="2400" i="1" dirty="0" err="1"/>
              <a:t>review</a:t>
            </a:r>
            <a:r>
              <a:rPr lang="es-MX" sz="2400" i="1" dirty="0"/>
              <a:t> </a:t>
            </a:r>
            <a:r>
              <a:rPr lang="es-MX" sz="2400" i="1" dirty="0" err="1"/>
              <a:t>papers</a:t>
            </a:r>
            <a:r>
              <a:rPr lang="es-MX" sz="2400" i="1" dirty="0"/>
              <a:t>, MIT, </a:t>
            </a:r>
            <a:r>
              <a:rPr lang="es-MX" sz="2400" i="1" dirty="0" err="1"/>
              <a:t>o'Reilly</a:t>
            </a:r>
            <a:r>
              <a:rPr lang="es-MX" sz="2400" i="1" dirty="0"/>
              <a:t>, </a:t>
            </a:r>
            <a:r>
              <a:rPr lang="es-MX" sz="2400" i="1" dirty="0" err="1"/>
              <a:t>papers</a:t>
            </a:r>
            <a:r>
              <a:rPr lang="es-MX" sz="2400" i="1" dirty="0"/>
              <a:t>.  </a:t>
            </a:r>
          </a:p>
          <a:p>
            <a:endParaRPr lang="es-MX" sz="24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i="1" dirty="0"/>
              <a:t>Júntense con personas.  (compañeros, comunidades). </a:t>
            </a:r>
          </a:p>
          <a:p>
            <a:endParaRPr lang="es-MX" sz="24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i="1" dirty="0"/>
              <a:t>Conózcanse, y sepan como ustedes aprenden mejor.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4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i="1" dirty="0"/>
              <a:t>Construyan cosas que les importen.</a:t>
            </a:r>
          </a:p>
          <a:p>
            <a:endParaRPr lang="es-MX" sz="3200" i="1" dirty="0"/>
          </a:p>
        </p:txBody>
      </p:sp>
    </p:spTree>
    <p:extLst>
      <p:ext uri="{BB962C8B-B14F-4D97-AF65-F5344CB8AC3E}">
        <p14:creationId xmlns:p14="http://schemas.microsoft.com/office/powerpoint/2010/main" val="2509128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B3180-84B7-26B5-5A88-FFEF0033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5605"/>
            <a:ext cx="10515600" cy="1325563"/>
          </a:xfrm>
        </p:spPr>
        <p:txBody>
          <a:bodyPr>
            <a:normAutofit/>
          </a:bodyPr>
          <a:lstStyle/>
          <a:p>
            <a:r>
              <a:rPr lang="es-MX" b="1" i="1" dirty="0"/>
              <a:t>Libro: </a:t>
            </a:r>
            <a:r>
              <a:rPr lang="es-CL" dirty="0"/>
              <a:t>AI </a:t>
            </a:r>
            <a:r>
              <a:rPr lang="es-CL" dirty="0" err="1"/>
              <a:t>Engineering</a:t>
            </a:r>
            <a:r>
              <a:rPr lang="es-CL" dirty="0"/>
              <a:t>, Chip Huyen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676F2B-6DD3-A164-D283-546B928FA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62" y="1648777"/>
            <a:ext cx="357187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85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3C0D-66A0-294D-B256-94B30E9A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E9ECA-818D-EA5F-A58D-A3200DE3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16" y="0"/>
            <a:ext cx="10515600" cy="1325563"/>
          </a:xfrm>
        </p:spPr>
        <p:txBody>
          <a:bodyPr>
            <a:normAutofit/>
          </a:bodyPr>
          <a:lstStyle/>
          <a:p>
            <a:r>
              <a:rPr lang="es-MX" b="1" i="1" dirty="0"/>
              <a:t>Repositorio de datos: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69ADF0-FED8-B336-F66B-0F8B59A17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48" y="1095316"/>
            <a:ext cx="10717619" cy="5080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F50F069-1FA2-C195-12F5-5DC4BAB7EF58}"/>
              </a:ext>
            </a:extLst>
          </p:cNvPr>
          <p:cNvSpPr txBox="1"/>
          <p:nvPr/>
        </p:nvSpPr>
        <p:spPr>
          <a:xfrm>
            <a:off x="1474381" y="6302907"/>
            <a:ext cx="10717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https://github.com/Foco22/INGENIERIA-DE-SOLUCIONES-CON-INTELIGENCIA-ARTIFICIAL_002D_OLS</a:t>
            </a:r>
          </a:p>
        </p:txBody>
      </p:sp>
    </p:spTree>
    <p:extLst>
      <p:ext uri="{BB962C8B-B14F-4D97-AF65-F5344CB8AC3E}">
        <p14:creationId xmlns:p14="http://schemas.microsoft.com/office/powerpoint/2010/main" val="2669245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F4FD-C8EA-A4DE-37D1-18EEACFF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D26FCF68-F8B0-ED6F-0698-64D3A9FE5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20769FE9-970F-A9FF-E5F3-9D740C540943}"/>
              </a:ext>
            </a:extLst>
          </p:cNvPr>
          <p:cNvSpPr txBox="1">
            <a:spLocks/>
          </p:cNvSpPr>
          <p:nvPr/>
        </p:nvSpPr>
        <p:spPr>
          <a:xfrm>
            <a:off x="776523" y="615878"/>
            <a:ext cx="101950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i="1" dirty="0"/>
              <a:t> </a:t>
            </a:r>
            <a:endParaRPr lang="es-CL" i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2122A3-937E-1311-66FD-FA8CAFA159D8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68E8759-312F-4F8A-1372-F3846C66D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894"/>
            <a:ext cx="10515600" cy="1325563"/>
          </a:xfrm>
        </p:spPr>
        <p:txBody>
          <a:bodyPr/>
          <a:lstStyle/>
          <a:p>
            <a:r>
              <a:rPr lang="es-MX" b="1" i="1" dirty="0" err="1"/>
              <a:t>Lab</a:t>
            </a:r>
            <a:r>
              <a:rPr lang="es-MX" b="1" i="1" dirty="0"/>
              <a:t> N°1.1: </a:t>
            </a:r>
            <a:r>
              <a:rPr lang="es-MX" i="1" dirty="0" err="1"/>
              <a:t>Groq</a:t>
            </a:r>
            <a:r>
              <a:rPr lang="es-MX" i="1" dirty="0"/>
              <a:t> como proveedor de </a:t>
            </a:r>
            <a:r>
              <a:rPr lang="es-MX" i="1" dirty="0" err="1"/>
              <a:t>LLMs</a:t>
            </a:r>
            <a:r>
              <a:rPr lang="es-MX" b="1" i="1" dirty="0"/>
              <a:t> </a:t>
            </a:r>
            <a:endParaRPr lang="es-CL" dirty="0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24F32A1B-6CD8-21DC-2A7D-E3FF22D8AC76}"/>
              </a:ext>
            </a:extLst>
          </p:cNvPr>
          <p:cNvSpPr txBox="1">
            <a:spLocks/>
          </p:cNvSpPr>
          <p:nvPr/>
        </p:nvSpPr>
        <p:spPr>
          <a:xfrm>
            <a:off x="776522" y="946868"/>
            <a:ext cx="9443720" cy="4629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i="1" dirty="0"/>
              <a:t>En este laboratorio practico, se utilizará los modelos de </a:t>
            </a:r>
            <a:r>
              <a:rPr lang="es-MX" sz="2400" i="1" dirty="0" err="1"/>
              <a:t>Groq</a:t>
            </a:r>
            <a:r>
              <a:rPr lang="es-MX" sz="2400" i="1" dirty="0"/>
              <a:t>, que es una empresa que optimiza la inferencia de modelos de lenguaje </a:t>
            </a:r>
            <a:r>
              <a:rPr lang="es-MX" sz="2400" i="1" dirty="0" err="1"/>
              <a:t>opensource</a:t>
            </a:r>
            <a:r>
              <a:rPr lang="es-MX" sz="2400" i="1" dirty="0"/>
              <a:t>. Las instrucciones son las siguientes:</a:t>
            </a:r>
          </a:p>
          <a:p>
            <a:endParaRPr lang="es-MX" sz="2400" i="1" dirty="0"/>
          </a:p>
          <a:p>
            <a:r>
              <a:rPr lang="es-MX" sz="2400" i="1" dirty="0"/>
              <a:t>1- Acceder a esta pagina: https://groq.com/.</a:t>
            </a:r>
          </a:p>
          <a:p>
            <a:r>
              <a:rPr lang="es-MX" sz="2400" i="1" dirty="0"/>
              <a:t>2- Crear una cuenta con Google </a:t>
            </a:r>
            <a:r>
              <a:rPr lang="es-MX" sz="2400" i="1" dirty="0" err="1"/>
              <a:t>login</a:t>
            </a:r>
            <a:r>
              <a:rPr lang="es-MX" sz="2400" i="1" dirty="0"/>
              <a:t>.</a:t>
            </a:r>
          </a:p>
          <a:p>
            <a:r>
              <a:rPr lang="es-MX" sz="2400" i="1" dirty="0"/>
              <a:t>3- Acceder a la sección “API </a:t>
            </a:r>
            <a:r>
              <a:rPr lang="es-MX" sz="2400" i="1" dirty="0" err="1"/>
              <a:t>Keys</a:t>
            </a:r>
            <a:r>
              <a:rPr lang="es-MX" sz="2400" i="1" dirty="0"/>
              <a:t>”.</a:t>
            </a:r>
          </a:p>
          <a:p>
            <a:r>
              <a:rPr lang="es-MX" sz="2400" i="1" dirty="0"/>
              <a:t>4- Apretar el botón “</a:t>
            </a:r>
            <a:r>
              <a:rPr lang="es-MX" sz="2400" i="1" dirty="0" err="1"/>
              <a:t>Create</a:t>
            </a:r>
            <a:r>
              <a:rPr lang="es-MX" sz="2400" i="1" dirty="0"/>
              <a:t> API Key”.</a:t>
            </a:r>
          </a:p>
          <a:p>
            <a:r>
              <a:rPr lang="es-MX" sz="2400" i="1" dirty="0"/>
              <a:t>5- Crear la API KEY, y guárdala para almacenarla en el notebook.</a:t>
            </a:r>
          </a:p>
        </p:txBody>
      </p:sp>
    </p:spTree>
    <p:extLst>
      <p:ext uri="{BB962C8B-B14F-4D97-AF65-F5344CB8AC3E}">
        <p14:creationId xmlns:p14="http://schemas.microsoft.com/office/powerpoint/2010/main" val="2504417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2995</TotalTime>
  <Words>1456</Words>
  <Application>Microsoft Office PowerPoint</Application>
  <PresentationFormat>Panorámica</PresentationFormat>
  <Paragraphs>192</Paragraphs>
  <Slides>28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Lora</vt:lpstr>
      <vt:lpstr>Roboto</vt:lpstr>
      <vt:lpstr>Tema de Office</vt:lpstr>
      <vt:lpstr>Ingeniería de soluciones con AI</vt:lpstr>
      <vt:lpstr>¿Quién soy?</vt:lpstr>
      <vt:lpstr>En tecnología, lo permanente es el constante cambio. </vt:lpstr>
      <vt:lpstr>Temario del semestre</vt:lpstr>
      <vt:lpstr>Evaluación del Semestre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Transformers: Attention Is All You Need</vt:lpstr>
      <vt:lpstr>Transformers: Attention Is All You Need</vt:lpstr>
      <vt:lpstr>Two Layers: Encoder &amp; Decoder </vt:lpstr>
      <vt:lpstr>Pipeline: ¿Cómo realmente los LLMs trabajan?</vt:lpstr>
      <vt:lpstr>Tokens: De Palabras a IDs. </vt:lpstr>
      <vt:lpstr>Embeddings: La representación del lenguaje en forma de números.</vt:lpstr>
      <vt:lpstr>Token Embedding: ¿Cómo crearlo? </vt:lpstr>
      <vt:lpstr>Attention: The clave para los LLMs.</vt:lpstr>
      <vt:lpstr>Attention: ¿Cómo se calcula?</vt:lpstr>
      <vt:lpstr>Embeddings: Una representación de los datos.</vt:lpstr>
      <vt:lpstr>Presentación de PowerPoint</vt:lpstr>
      <vt:lpstr>Presentación de PowerPoint</vt:lpstr>
      <vt:lpstr>Presentación de PowerPoint</vt:lpstr>
      <vt:lpstr>¿Dónde aprender?:  Mucho ruido </vt:lpstr>
      <vt:lpstr>Libro: AI Engineering, Chip Huyen</vt:lpstr>
      <vt:lpstr>Repositorio de datos:</vt:lpstr>
      <vt:lpstr>Lab N°1.1: Groq como proveedor de LLMs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19</cp:revision>
  <dcterms:created xsi:type="dcterms:W3CDTF">2026-03-06T13:35:57Z</dcterms:created>
  <dcterms:modified xsi:type="dcterms:W3CDTF">2026-08-03T13:09:54Z</dcterms:modified>
</cp:coreProperties>
</file>